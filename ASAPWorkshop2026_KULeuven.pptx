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94" r:id="rId5"/>
  </p:sldMasterIdLst>
  <p:notesMasterIdLst>
    <p:notesMasterId r:id="rId32"/>
  </p:notesMasterIdLst>
  <p:handoutMasterIdLst>
    <p:handoutMasterId r:id="rId33"/>
  </p:handoutMasterIdLst>
  <p:sldIdLst>
    <p:sldId id="261" r:id="rId6"/>
    <p:sldId id="349" r:id="rId7"/>
    <p:sldId id="881" r:id="rId8"/>
    <p:sldId id="342" r:id="rId9"/>
    <p:sldId id="343" r:id="rId10"/>
    <p:sldId id="344" r:id="rId11"/>
    <p:sldId id="346" r:id="rId12"/>
    <p:sldId id="885" r:id="rId13"/>
    <p:sldId id="256" r:id="rId14"/>
    <p:sldId id="886" r:id="rId15"/>
    <p:sldId id="341" r:id="rId16"/>
    <p:sldId id="823" r:id="rId17"/>
    <p:sldId id="879" r:id="rId18"/>
    <p:sldId id="354" r:id="rId19"/>
    <p:sldId id="350" r:id="rId20"/>
    <p:sldId id="293" r:id="rId21"/>
    <p:sldId id="878" r:id="rId22"/>
    <p:sldId id="882" r:id="rId23"/>
    <p:sldId id="883" r:id="rId24"/>
    <p:sldId id="340" r:id="rId25"/>
    <p:sldId id="353" r:id="rId26"/>
    <p:sldId id="348" r:id="rId27"/>
    <p:sldId id="347" r:id="rId28"/>
    <p:sldId id="887" r:id="rId29"/>
    <p:sldId id="884" r:id="rId30"/>
    <p:sldId id="880" r:id="rId3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59F571-D037-4DE4-BCE0-DEA1F0F41BC3}">
          <p14:sldIdLst>
            <p14:sldId id="261"/>
            <p14:sldId id="349"/>
            <p14:sldId id="881"/>
            <p14:sldId id="342"/>
            <p14:sldId id="343"/>
            <p14:sldId id="344"/>
            <p14:sldId id="346"/>
            <p14:sldId id="885"/>
            <p14:sldId id="256"/>
            <p14:sldId id="886"/>
            <p14:sldId id="341"/>
            <p14:sldId id="823"/>
            <p14:sldId id="879"/>
            <p14:sldId id="354"/>
            <p14:sldId id="350"/>
            <p14:sldId id="293"/>
            <p14:sldId id="878"/>
            <p14:sldId id="882"/>
            <p14:sldId id="883"/>
            <p14:sldId id="340"/>
            <p14:sldId id="353"/>
            <p14:sldId id="348"/>
            <p14:sldId id="347"/>
            <p14:sldId id="887"/>
            <p14:sldId id="884"/>
            <p14:sldId id="88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8DB0"/>
    <a:srgbClr val="FAFAFA"/>
    <a:srgbClr val="470635"/>
    <a:srgbClr val="CCE5CC"/>
    <a:srgbClr val="DCE7F0"/>
    <a:srgbClr val="2F4D5D"/>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26" autoAdjust="0"/>
    <p:restoredTop sz="94652"/>
  </p:normalViewPr>
  <p:slideViewPr>
    <p:cSldViewPr snapToGrid="0" snapToObjects="1">
      <p:cViewPr varScale="1">
        <p:scale>
          <a:sx n="125" d="100"/>
          <a:sy n="125" d="100"/>
        </p:scale>
        <p:origin x="616" y="160"/>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58" d="100"/>
          <a:sy n="158" d="100"/>
        </p:scale>
        <p:origin x="424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91CCF-F6FD-734B-854A-5BC033593B1E}" type="datetimeFigureOut">
              <a:rPr lang="nl-NL" smtClean="0"/>
              <a:t>11-06-2026</a:t>
            </a:fld>
            <a:endParaRPr lang="nl-NL"/>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66214-DB21-4647-B5DA-0D17CA592867}" type="datetimeFigureOut">
              <a:rPr lang="nl-NL" smtClean="0"/>
              <a:t>11-06-2026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flow: start from linear regression/classification and ask 'what if the relationship is not linear?' Old answer: hand-craft features phi(x). Kernel answer: skip phi entirely and specify similarity directly. Emphasize the two readings of a kernel: (1) computational — a cheap shortcut to an inner product in a huge feature space (kernel trick, SVM lineage); (2) probabilistic — a covariance function encoding prior beliefs about smoothness and scale (GP lineage). The same object, two communities. Mercer/PSD condition: needed so the Gram matrix is a valid covariance / so the feature space exists. Quick check students can do: a kernel matrix with a negative eigenvalue is not a kernel. Closure properties (sum, product, scaling) are what make kernel DESIGN possible — connect directly to the ConstantKernel * Matern + WhiteKernel construction from the previous lecture: amplitude times correlation plus noise. Good homework hook: show that the polynomial kernel with d=2 corresponds to an explicit phi containing all pairwise products of coordinates, then note the RBF case where phi is infinite-dimensional.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the audience: the costs are dual. GPR spends its compute at inference time (O(n^3) in the number of training points), while neural networks spend it at training time. Likewise the inductive bias: a GP's prior is CHOSEN explicitly via the kernel, while an NN's bias is LEARNED through weights and architecture. Rules of thumb: below ~10k points and ~20 input dimensions with a need for error bars, GPR is usually the right default — this is exactly the surrogate-modeling regime of notebook 04 (expensive arrival-time evaluations, Bayesian optimization needs calibrated posteriors). Above that scale, or with raw images/text/graphs, NNs dominate because they learn the representation instead of relying on a hand-picked distance. If asked about the middle ground: sparse/inducing-point GPs stretch GPR to ~10^5-10^6 points; deep kernel learning and 'NN backbone + GP head' combine learned features with calibrated uncertainty; Bayesian NNs and deep ensembles approximate uncertainty on the NN side but are less calibrated than a GP posterior.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solidFill>
                  <a:srgbClr val="FF0000"/>
                </a:solidFill>
              </a:rPr>
              <a:t>First I would like to outline the need </a:t>
            </a:r>
            <a:r>
              <a:rPr lang="en-US" b="1" dirty="0"/>
              <a:t>for integrated Space Weather model framework</a:t>
            </a:r>
            <a:r>
              <a:rPr lang="en-US" b="1" i="1" dirty="0"/>
              <a:t>s that will be covered tomorrow by Christine Verbeke, so please don’t skip that talk. </a:t>
            </a:r>
            <a:r>
              <a:rPr lang="en-US" b="1" dirty="0"/>
              <a:t>SW needs to be predicted </a:t>
            </a:r>
            <a:r>
              <a:rPr lang="en-US" dirty="0"/>
              <a:t>so that mitigation is possible</a:t>
            </a:r>
          </a:p>
          <a:p>
            <a:r>
              <a:rPr lang="en-US" b="1" dirty="0"/>
              <a:t>Physics based models are needed </a:t>
            </a:r>
            <a:r>
              <a:rPr lang="en-US" dirty="0"/>
              <a:t>as </a:t>
            </a:r>
            <a:r>
              <a:rPr lang="en-US" i="1" dirty="0"/>
              <a:t>empirical &amp; semi-empirical models do not always work satisfactorily. </a:t>
            </a:r>
            <a:r>
              <a:rPr lang="en-US" dirty="0"/>
              <a:t>Simple </a:t>
            </a:r>
            <a:r>
              <a:rPr lang="en-US" b="1" dirty="0"/>
              <a:t>(G)UI needed for easy of use </a:t>
            </a:r>
            <a:r>
              <a:rPr lang="en-US" dirty="0"/>
              <a:t>of (often very complicated) simulation models. Here you see collection of models that we can provide in VSWMC, such as solar corona models, inner heliosphere models, solar energetic particles and magnetospheric models. </a:t>
            </a:r>
          </a:p>
          <a:p>
            <a:endParaRPr lang="en-US" dirty="0"/>
          </a:p>
        </p:txBody>
      </p:sp>
      <p:sp>
        <p:nvSpPr>
          <p:cNvPr id="4" name="Slide Number Placeholder 3"/>
          <p:cNvSpPr>
            <a:spLocks noGrp="1"/>
          </p:cNvSpPr>
          <p:nvPr>
            <p:ph type="sldNum" sz="quarter" idx="10"/>
          </p:nvPr>
        </p:nvSpPr>
        <p:spPr/>
        <p:txBody>
          <a:bodyPr/>
          <a:lstStyle/>
          <a:p>
            <a:fld id="{8954E32A-327F-AF4B-8E1F-209FBF93D26D}" type="slidenum">
              <a:rPr lang="nl-NL" smtClean="0"/>
              <a:t>12</a:t>
            </a:fld>
            <a:endParaRPr lang="nl-NL"/>
          </a:p>
        </p:txBody>
      </p:sp>
    </p:spTree>
    <p:extLst>
      <p:ext uri="{BB962C8B-B14F-4D97-AF65-F5344CB8AC3E}">
        <p14:creationId xmlns:p14="http://schemas.microsoft.com/office/powerpoint/2010/main" val="40599694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hthoek 6"/>
          <p:cNvSpPr/>
          <p:nvPr userDrawn="1"/>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10" name="Rechthoek 9"/>
          <p:cNvSpPr/>
          <p:nvPr userDrawn="1"/>
        </p:nvSpPr>
        <p:spPr>
          <a:xfrm>
            <a:off x="0" y="648000"/>
            <a:ext cx="12193200" cy="621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userDrawn="1"/>
        </p:nvSpPr>
        <p:spPr>
          <a:xfrm>
            <a:off x="0" y="647997"/>
            <a:ext cx="12193200" cy="47448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sp>
        <p:nvSpPr>
          <p:cNvPr id="2" name="Titel 1"/>
          <p:cNvSpPr>
            <a:spLocks noGrp="1"/>
          </p:cNvSpPr>
          <p:nvPr>
            <p:ph type="ctrTitle"/>
          </p:nvPr>
        </p:nvSpPr>
        <p:spPr>
          <a:xfrm>
            <a:off x="575998" y="1080000"/>
            <a:ext cx="11203625" cy="2966071"/>
          </a:xfrm>
        </p:spPr>
        <p:txBody>
          <a:bodyPr anchor="ctr" anchorCtr="0">
            <a:normAutofit/>
          </a:bodyPr>
          <a:lstStyle>
            <a:lvl1pPr algn="ctr">
              <a:defRPr sz="4400" b="1" baseline="0">
                <a:solidFill>
                  <a:schemeClr val="bg1"/>
                </a:solidFill>
              </a:defRPr>
            </a:lvl1pPr>
          </a:lstStyle>
          <a:p>
            <a:r>
              <a:rPr lang="en-US" dirty="0"/>
              <a:t>Click to edit Master title style</a:t>
            </a:r>
            <a:endParaRPr lang="nl-NL" dirty="0"/>
          </a:p>
        </p:txBody>
      </p:sp>
      <p:sp>
        <p:nvSpPr>
          <p:cNvPr id="3" name="Ondertitel 2"/>
          <p:cNvSpPr>
            <a:spLocks noGrp="1"/>
          </p:cNvSpPr>
          <p:nvPr>
            <p:ph type="subTitle" idx="1"/>
          </p:nvPr>
        </p:nvSpPr>
        <p:spPr>
          <a:xfrm>
            <a:off x="575998" y="5542213"/>
            <a:ext cx="6096524" cy="730188"/>
          </a:xfrm>
        </p:spPr>
        <p:txBody>
          <a:bodyPr lIns="0" tIns="0" rIns="0" bIns="0"/>
          <a:lstStyle>
            <a:lvl1pPr marL="0" indent="0" algn="l">
              <a:buNone/>
              <a:defRPr sz="2400" baseline="0">
                <a:solidFill>
                  <a:schemeClr val="bg2">
                    <a:lumMod val="1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nl-NL" dirty="0"/>
          </a:p>
        </p:txBody>
      </p:sp>
    </p:spTree>
    <p:extLst>
      <p:ext uri="{BB962C8B-B14F-4D97-AF65-F5344CB8AC3E}">
        <p14:creationId xmlns:p14="http://schemas.microsoft.com/office/powerpoint/2010/main" val="1128617704"/>
      </p:ext>
    </p:extLst>
  </p:cSld>
  <p:clrMapOvr>
    <a:masterClrMapping/>
  </p:clrMapOvr>
  <p:extLst>
    <p:ext uri="{DCECCB84-F9BA-43D5-87BE-67443E8EF086}">
      <p15:sldGuideLst xmlns:p15="http://schemas.microsoft.com/office/powerpoint/2012/main">
        <p15:guide id="1" orient="horz" pos="1026">
          <p15:clr>
            <a:srgbClr val="FBAE40"/>
          </p15:clr>
        </p15:guide>
        <p15:guide id="2" pos="4203">
          <p15:clr>
            <a:srgbClr val="FBAE40"/>
          </p15:clr>
        </p15:guide>
        <p15:guide id="3" orient="horz" pos="397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4" name="Tijdelijke aanduiding voor datum 3"/>
          <p:cNvSpPr>
            <a:spLocks noGrp="1"/>
          </p:cNvSpPr>
          <p:nvPr>
            <p:ph type="dt" sz="half" idx="10"/>
          </p:nvPr>
        </p:nvSpPr>
        <p:spPr/>
        <p:txBody>
          <a:bodyPr/>
          <a:lstStyle>
            <a:lvl1pPr>
              <a:defRPr>
                <a:latin typeface="+mn-lt"/>
              </a:defRPr>
            </a:lvl1pPr>
          </a:lstStyle>
          <a:p>
            <a:r>
              <a:rPr lang="nl-BE"/>
              <a:t> </a:t>
            </a:r>
            <a:fld id="{49D96EBB-60E3-4A08-B300-4382A885DF94}" type="datetime1">
              <a:rPr lang="nl-BE" sz="1100" smtClean="0"/>
              <a:t>11/06/2026</a:t>
            </a:fld>
            <a:endParaRPr lang="nl-NL" sz="1100" dirty="0"/>
          </a:p>
        </p:txBody>
      </p:sp>
      <p:sp>
        <p:nvSpPr>
          <p:cNvPr id="5" name="Tijdelijke aanduiding voor voettekst 4"/>
          <p:cNvSpPr>
            <a:spLocks noGrp="1"/>
          </p:cNvSpPr>
          <p:nvPr>
            <p:ph type="ftr" sz="quarter" idx="11"/>
          </p:nvPr>
        </p:nvSpPr>
        <p:spPr>
          <a:xfrm>
            <a:off x="5940612" y="6412012"/>
            <a:ext cx="5086188" cy="445987"/>
          </a:xfrm>
        </p:spPr>
        <p:txBody>
          <a:bodyPr/>
          <a:lstStyle>
            <a:lvl1pPr>
              <a:defRPr sz="1100">
                <a:latin typeface="+mn-lt"/>
              </a:defRPr>
            </a:lvl1pPr>
          </a:lstStyle>
          <a:p>
            <a:r>
              <a:rPr lang="en-GB"/>
              <a:t>CmPA Seminars Series</a:t>
            </a:r>
            <a:endParaRPr lang="nl-NL" dirty="0"/>
          </a:p>
        </p:txBody>
      </p:sp>
      <p:sp>
        <p:nvSpPr>
          <p:cNvPr id="6" name="Tijdelijke aanduiding voor dianummer 5"/>
          <p:cNvSpPr>
            <a:spLocks noGrp="1"/>
          </p:cNvSpPr>
          <p:nvPr>
            <p:ph type="sldNum" sz="quarter" idx="12"/>
          </p:nvPr>
        </p:nvSpPr>
        <p:spPr/>
        <p:txBody>
          <a:bodyPr/>
          <a:lstStyle>
            <a:lvl1pPr>
              <a:defRPr sz="1100">
                <a:latin typeface="+mn-lt"/>
              </a:defRPr>
            </a:lvl1pPr>
          </a:lstStyle>
          <a:p>
            <a:fld id="{0A297500-7527-634B-90F4-69D0994C32B4}" type="slidenum">
              <a:rPr lang="nl-NL" smtClean="0"/>
              <a:pPr/>
              <a:t>‹#›</a:t>
            </a:fld>
            <a:endParaRPr lang="nl-NL" dirty="0"/>
          </a:p>
        </p:txBody>
      </p:sp>
      <p:sp>
        <p:nvSpPr>
          <p:cNvPr id="7" name="Title 6"/>
          <p:cNvSpPr>
            <a:spLocks noGrp="1"/>
          </p:cNvSpPr>
          <p:nvPr>
            <p:ph type="title"/>
          </p:nvPr>
        </p:nvSpPr>
        <p:spPr/>
        <p:txBody>
          <a:bodyPr/>
          <a:lstStyle>
            <a:lvl1pPr>
              <a:defRPr b="1"/>
            </a:lvl1pPr>
          </a:lstStyle>
          <a:p>
            <a:r>
              <a:rPr lang="en-US" dirty="0"/>
              <a:t>Click to edit Master title style</a:t>
            </a:r>
            <a:endParaRPr lang="nl-NL" dirty="0"/>
          </a:p>
        </p:txBody>
      </p:sp>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hthoek 6"/>
          <p:cNvSpPr/>
          <p:nvPr userDrawn="1"/>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5999" y="1800000"/>
            <a:ext cx="6096524" cy="2386800"/>
          </a:xfrm>
        </p:spPr>
        <p:txBody>
          <a:bodyPr anchor="b">
            <a:normAutofit/>
          </a:bodyPr>
          <a:lstStyle>
            <a:lvl1pPr>
              <a:defRPr sz="4400" b="1" baseline="0">
                <a:solidFill>
                  <a:schemeClr val="tx2"/>
                </a:solidFill>
              </a:defRPr>
            </a:lvl1pPr>
          </a:lstStyle>
          <a:p>
            <a:r>
              <a:rPr lang="en-US" dirty="0"/>
              <a:t>Click to edit Master title style</a:t>
            </a:r>
            <a:endParaRPr lang="nl-NL" dirty="0"/>
          </a:p>
        </p:txBody>
      </p:sp>
      <p:sp>
        <p:nvSpPr>
          <p:cNvPr id="3" name="Tijdelijke aanduiding voor tekst 2"/>
          <p:cNvSpPr>
            <a:spLocks noGrp="1"/>
          </p:cNvSpPr>
          <p:nvPr>
            <p:ph type="body" idx="1"/>
          </p:nvPr>
        </p:nvSpPr>
        <p:spPr>
          <a:xfrm>
            <a:off x="575999" y="4359600"/>
            <a:ext cx="6096264" cy="1501200"/>
          </a:xfrm>
        </p:spPr>
        <p:txBody>
          <a:bodyPr lIns="0" tIns="0" rIns="0" bIns="0">
            <a:normAutofit/>
          </a:bodyPr>
          <a:lstStyle>
            <a:lvl1pPr marL="0" indent="0">
              <a:buNone/>
              <a:defRPr sz="2200" baseline="0">
                <a:solidFill>
                  <a:schemeClr val="bg2">
                    <a:lumMod val="1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Tijdelijke aanduiding voor datum 3"/>
          <p:cNvSpPr>
            <a:spLocks noGrp="1"/>
          </p:cNvSpPr>
          <p:nvPr>
            <p:ph type="dt" sz="half" idx="10"/>
          </p:nvPr>
        </p:nvSpPr>
        <p:spPr/>
        <p:txBody>
          <a:bodyPr/>
          <a:lstStyle>
            <a:lvl1pPr>
              <a:defRPr sz="1100">
                <a:latin typeface="+mj-lt"/>
              </a:defRPr>
            </a:lvl1pPr>
          </a:lstStyle>
          <a:p>
            <a:fld id="{95887A6C-FA72-4357-8AE7-21D88DA406CC}" type="datetime1">
              <a:rPr lang="nl-BE" smtClean="0"/>
              <a:t>11/06/2026</a:t>
            </a:fld>
            <a:endParaRPr lang="nl-NL" dirty="0"/>
          </a:p>
        </p:txBody>
      </p:sp>
      <p:sp>
        <p:nvSpPr>
          <p:cNvPr id="5" name="Tijdelijke aanduiding voor voettekst 4"/>
          <p:cNvSpPr>
            <a:spLocks noGrp="1"/>
          </p:cNvSpPr>
          <p:nvPr>
            <p:ph type="ftr" sz="quarter" idx="11"/>
          </p:nvPr>
        </p:nvSpPr>
        <p:spPr/>
        <p:txBody>
          <a:bodyPr/>
          <a:lstStyle>
            <a:lvl1pPr>
              <a:defRPr sz="1100">
                <a:latin typeface="+mn-lt"/>
              </a:defRPr>
            </a:lvl1pPr>
          </a:lstStyle>
          <a:p>
            <a:r>
              <a:rPr lang="en-GB"/>
              <a:t>CmPA Seminars Series</a:t>
            </a:r>
            <a:endParaRPr lang="nl-NL" dirty="0"/>
          </a:p>
        </p:txBody>
      </p:sp>
      <p:sp>
        <p:nvSpPr>
          <p:cNvPr id="6" name="Tijdelijke aanduiding voor dianummer 5"/>
          <p:cNvSpPr>
            <a:spLocks noGrp="1"/>
          </p:cNvSpPr>
          <p:nvPr>
            <p:ph type="sldNum" sz="quarter" idx="12"/>
          </p:nvPr>
        </p:nvSpPr>
        <p:spPr/>
        <p:txBody>
          <a:bodyPr/>
          <a:lstStyle>
            <a:lvl1pPr>
              <a:defRPr sz="1100">
                <a:latin typeface="+mj-lt"/>
              </a:defRPr>
            </a:lvl1pPr>
          </a:lstStyle>
          <a:p>
            <a:fld id="{0A297500-7527-634B-90F4-69D0994C32B4}" type="slidenum">
              <a:rPr lang="nl-NL" smtClean="0"/>
              <a:pPr/>
              <a:t>‹#›</a:t>
            </a:fld>
            <a:endParaRPr lang="nl-NL" dirty="0"/>
          </a:p>
        </p:txBody>
      </p:sp>
      <p:sp>
        <p:nvSpPr>
          <p:cNvPr id="8" name="Picture Placeholder 4"/>
          <p:cNvSpPr>
            <a:spLocks noGrp="1"/>
          </p:cNvSpPr>
          <p:nvPr>
            <p:ph type="pic" sz="quarter" idx="13"/>
          </p:nvPr>
        </p:nvSpPr>
        <p:spPr>
          <a:xfrm>
            <a:off x="7248525" y="584201"/>
            <a:ext cx="4368673" cy="2376000"/>
          </a:xfrm>
        </p:spPr>
        <p:txBody>
          <a:bodyPr/>
          <a:lstStyle/>
          <a:p>
            <a:r>
              <a:rPr lang="en-US"/>
              <a:t>Click icon to add picture</a:t>
            </a:r>
            <a:endParaRPr lang="nl-NL"/>
          </a:p>
        </p:txBody>
      </p:sp>
      <p:sp>
        <p:nvSpPr>
          <p:cNvPr id="9" name="Picture Placeholder 4"/>
          <p:cNvSpPr>
            <a:spLocks noGrp="1"/>
          </p:cNvSpPr>
          <p:nvPr>
            <p:ph type="pic" sz="quarter" idx="14"/>
          </p:nvPr>
        </p:nvSpPr>
        <p:spPr>
          <a:xfrm>
            <a:off x="7248262" y="3248513"/>
            <a:ext cx="4368673" cy="2376000"/>
          </a:xfrm>
        </p:spPr>
        <p:txBody>
          <a:bodyPr/>
          <a:lstStyle/>
          <a:p>
            <a:r>
              <a:rPr lang="en-US"/>
              <a:t>Click icon to add picture</a:t>
            </a:r>
            <a:endParaRPr lang="nl-NL"/>
          </a:p>
        </p:txBody>
      </p:sp>
    </p:spTree>
    <p:extLst>
      <p:ext uri="{BB962C8B-B14F-4D97-AF65-F5344CB8AC3E}">
        <p14:creationId xmlns:p14="http://schemas.microsoft.com/office/powerpoint/2010/main" val="952148524"/>
      </p:ext>
    </p:extLst>
  </p:cSld>
  <p:clrMapOvr>
    <a:masterClrMapping/>
  </p:clrMapOvr>
  <p:extLst>
    <p:ext uri="{DCECCB84-F9BA-43D5-87BE-67443E8EF086}">
      <p15:sldGuideLst xmlns:p15="http://schemas.microsoft.com/office/powerpoint/2012/main">
        <p15:guide id="1" orient="horz" pos="3543">
          <p15:clr>
            <a:srgbClr val="FBAE40"/>
          </p15:clr>
        </p15:guide>
        <p15:guide id="2" pos="420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jdelijke aanduiding voor datum 4"/>
          <p:cNvSpPr>
            <a:spLocks noGrp="1"/>
          </p:cNvSpPr>
          <p:nvPr>
            <p:ph type="dt" sz="half" idx="10"/>
          </p:nvPr>
        </p:nvSpPr>
        <p:spPr/>
        <p:txBody>
          <a:bodyPr/>
          <a:lstStyle>
            <a:lvl1pPr>
              <a:defRPr sz="1100">
                <a:latin typeface="+mj-lt"/>
              </a:defRPr>
            </a:lvl1pPr>
          </a:lstStyle>
          <a:p>
            <a:fld id="{97F0FAD7-32FE-45CB-89B1-69F42B9A8CF8}" type="datetime1">
              <a:rPr lang="nl-BE" smtClean="0"/>
              <a:t>11/06/2026</a:t>
            </a:fld>
            <a:endParaRPr lang="nl-NL" dirty="0"/>
          </a:p>
        </p:txBody>
      </p:sp>
      <p:sp>
        <p:nvSpPr>
          <p:cNvPr id="6" name="Tijdelijke aanduiding voor voettekst 5"/>
          <p:cNvSpPr>
            <a:spLocks noGrp="1"/>
          </p:cNvSpPr>
          <p:nvPr>
            <p:ph type="ftr" sz="quarter" idx="11"/>
          </p:nvPr>
        </p:nvSpPr>
        <p:spPr/>
        <p:txBody>
          <a:bodyPr/>
          <a:lstStyle>
            <a:lvl1pPr>
              <a:defRPr sz="1100">
                <a:latin typeface="+mj-lt"/>
              </a:defRPr>
            </a:lvl1pPr>
          </a:lstStyle>
          <a:p>
            <a:r>
              <a:rPr lang="en-GB"/>
              <a:t>CmPA Seminars Series</a:t>
            </a:r>
            <a:endParaRPr lang="nl-NL" dirty="0"/>
          </a:p>
        </p:txBody>
      </p:sp>
      <p:sp>
        <p:nvSpPr>
          <p:cNvPr id="7" name="Tijdelijke aanduiding voor dianummer 6"/>
          <p:cNvSpPr>
            <a:spLocks noGrp="1"/>
          </p:cNvSpPr>
          <p:nvPr>
            <p:ph type="sldNum" sz="quarter" idx="12"/>
          </p:nvPr>
        </p:nvSpPr>
        <p:spPr/>
        <p:txBody>
          <a:bodyPr/>
          <a:lstStyle>
            <a:lvl1pPr>
              <a:defRPr sz="1100">
                <a:latin typeface="+mj-lt"/>
              </a:defRPr>
            </a:lvl1pPr>
          </a:lstStyle>
          <a:p>
            <a:fld id="{0A297500-7527-634B-90F4-69D0994C32B4}" type="slidenum">
              <a:rPr lang="nl-NL" smtClean="0"/>
              <a:pPr/>
              <a:t>‹#›</a:t>
            </a:fld>
            <a:endParaRPr lang="nl-NL" dirty="0"/>
          </a:p>
        </p:txBody>
      </p:sp>
      <p:sp>
        <p:nvSpPr>
          <p:cNvPr id="9" name="Tijdelijke aanduiding voor tekst 2"/>
          <p:cNvSpPr>
            <a:spLocks noGrp="1"/>
          </p:cNvSpPr>
          <p:nvPr>
            <p:ph idx="1"/>
          </p:nvPr>
        </p:nvSpPr>
        <p:spPr>
          <a:xfrm>
            <a:off x="576000" y="973567"/>
            <a:ext cx="5400000" cy="514643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12" name="Content Placeholder 11"/>
          <p:cNvSpPr>
            <a:spLocks noGrp="1"/>
          </p:cNvSpPr>
          <p:nvPr>
            <p:ph sz="quarter" idx="13"/>
          </p:nvPr>
        </p:nvSpPr>
        <p:spPr>
          <a:xfrm>
            <a:off x="6217200" y="973567"/>
            <a:ext cx="5400000" cy="51464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el 1"/>
          <p:cNvSpPr>
            <a:spLocks noGrp="1"/>
          </p:cNvSpPr>
          <p:nvPr>
            <p:ph type="title"/>
          </p:nvPr>
        </p:nvSpPr>
        <p:spPr/>
        <p:txBody>
          <a:bodyPr/>
          <a:lstStyle>
            <a:lvl1pPr>
              <a:defRPr b="1"/>
            </a:lvl1pPr>
          </a:lstStyle>
          <a:p>
            <a:r>
              <a:rPr lang="en-US" dirty="0"/>
              <a:t>Click to edit Master title style</a:t>
            </a:r>
            <a:endParaRPr lang="nl-BE" dirty="0"/>
          </a:p>
        </p:txBody>
      </p:sp>
    </p:spTree>
    <p:extLst>
      <p:ext uri="{BB962C8B-B14F-4D97-AF65-F5344CB8AC3E}">
        <p14:creationId xmlns:p14="http://schemas.microsoft.com/office/powerpoint/2010/main" val="1859589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75999" y="927000"/>
            <a:ext cx="5421575" cy="54000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Tijdelijke aanduiding voor inhoud 3"/>
          <p:cNvSpPr>
            <a:spLocks noGrp="1"/>
          </p:cNvSpPr>
          <p:nvPr>
            <p:ph sz="half" idx="2"/>
          </p:nvPr>
        </p:nvSpPr>
        <p:spPr>
          <a:xfrm>
            <a:off x="576000" y="1538344"/>
            <a:ext cx="5421575" cy="45755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5" name="Tijdelijke aanduiding voor tekst 4"/>
          <p:cNvSpPr>
            <a:spLocks noGrp="1"/>
          </p:cNvSpPr>
          <p:nvPr>
            <p:ph type="body" sz="quarter" idx="3"/>
          </p:nvPr>
        </p:nvSpPr>
        <p:spPr>
          <a:xfrm>
            <a:off x="6172200" y="931701"/>
            <a:ext cx="5445000" cy="54000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Tijdelijke aanduiding voor inhoud 5"/>
          <p:cNvSpPr>
            <a:spLocks noGrp="1"/>
          </p:cNvSpPr>
          <p:nvPr>
            <p:ph sz="quarter" idx="4"/>
          </p:nvPr>
        </p:nvSpPr>
        <p:spPr>
          <a:xfrm>
            <a:off x="6172200" y="1538343"/>
            <a:ext cx="5445000" cy="45755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7" name="Tijdelijke aanduiding voor datum 6"/>
          <p:cNvSpPr>
            <a:spLocks noGrp="1"/>
          </p:cNvSpPr>
          <p:nvPr>
            <p:ph type="dt" sz="half" idx="10"/>
          </p:nvPr>
        </p:nvSpPr>
        <p:spPr/>
        <p:txBody>
          <a:bodyPr/>
          <a:lstStyle/>
          <a:p>
            <a:fld id="{84A7835E-B141-412A-9528-45C11941860D}" type="datetime1">
              <a:rPr lang="nl-BE" smtClean="0"/>
              <a:t>11/06/2026</a:t>
            </a:fld>
            <a:endParaRPr lang="nl-NL" dirty="0"/>
          </a:p>
        </p:txBody>
      </p:sp>
      <p:sp>
        <p:nvSpPr>
          <p:cNvPr id="8" name="Tijdelijke aanduiding voor voettekst 7"/>
          <p:cNvSpPr>
            <a:spLocks noGrp="1"/>
          </p:cNvSpPr>
          <p:nvPr>
            <p:ph type="ftr" sz="quarter" idx="11"/>
          </p:nvPr>
        </p:nvSpPr>
        <p:spPr/>
        <p:txBody>
          <a:bodyPr/>
          <a:lstStyle>
            <a:lvl1pPr>
              <a:defRPr sz="1100">
                <a:latin typeface="+mn-lt"/>
              </a:defRPr>
            </a:lvl1pPr>
          </a:lstStyle>
          <a:p>
            <a:r>
              <a:rPr lang="en-GB"/>
              <a:t>CmPA Seminars Series</a:t>
            </a:r>
            <a:endParaRPr lang="nl-NL" dirty="0"/>
          </a:p>
        </p:txBody>
      </p:sp>
      <p:sp>
        <p:nvSpPr>
          <p:cNvPr id="9" name="Tijdelijke aanduiding voor dianummer 8"/>
          <p:cNvSpPr>
            <a:spLocks noGrp="1"/>
          </p:cNvSpPr>
          <p:nvPr>
            <p:ph type="sldNum" sz="quarter" idx="12"/>
          </p:nvPr>
        </p:nvSpPr>
        <p:spPr/>
        <p:txBody>
          <a:bodyPr/>
          <a:lstStyle>
            <a:lvl1pPr>
              <a:defRPr sz="1100">
                <a:latin typeface="+mn-lt"/>
              </a:defRPr>
            </a:lvl1pPr>
          </a:lstStyle>
          <a:p>
            <a:fld id="{0A297500-7527-634B-90F4-69D0994C32B4}" type="slidenum">
              <a:rPr lang="nl-NL" smtClean="0"/>
              <a:pPr/>
              <a:t>‹#›</a:t>
            </a:fld>
            <a:endParaRPr lang="nl-NL" dirty="0"/>
          </a:p>
        </p:txBody>
      </p:sp>
      <p:sp>
        <p:nvSpPr>
          <p:cNvPr id="2" name="Titel 1"/>
          <p:cNvSpPr>
            <a:spLocks noGrp="1"/>
          </p:cNvSpPr>
          <p:nvPr>
            <p:ph type="title"/>
          </p:nvPr>
        </p:nvSpPr>
        <p:spPr/>
        <p:txBody>
          <a:bodyPr/>
          <a:lstStyle/>
          <a:p>
            <a:r>
              <a:rPr lang="en-US" dirty="0"/>
              <a:t>Click to edit Master title style</a:t>
            </a:r>
            <a:endParaRPr lang="nl-BE" dirty="0"/>
          </a:p>
        </p:txBody>
      </p:sp>
    </p:spTree>
    <p:extLst>
      <p:ext uri="{BB962C8B-B14F-4D97-AF65-F5344CB8AC3E}">
        <p14:creationId xmlns:p14="http://schemas.microsoft.com/office/powerpoint/2010/main" val="1784001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lvl1pPr>
              <a:defRPr sz="1100">
                <a:latin typeface="+mj-lt"/>
              </a:defRPr>
            </a:lvl1pPr>
          </a:lstStyle>
          <a:p>
            <a:fld id="{451109AC-920A-4858-8147-5E87B3DF13B9}" type="datetime1">
              <a:rPr lang="nl-BE" smtClean="0"/>
              <a:t>11/06/2026</a:t>
            </a:fld>
            <a:endParaRPr lang="nl-NL" dirty="0"/>
          </a:p>
        </p:txBody>
      </p:sp>
      <p:sp>
        <p:nvSpPr>
          <p:cNvPr id="4" name="Tijdelijke aanduiding voor voettekst 3"/>
          <p:cNvSpPr>
            <a:spLocks noGrp="1"/>
          </p:cNvSpPr>
          <p:nvPr>
            <p:ph type="ftr" sz="quarter" idx="11"/>
          </p:nvPr>
        </p:nvSpPr>
        <p:spPr/>
        <p:txBody>
          <a:bodyPr/>
          <a:lstStyle>
            <a:lvl1pPr>
              <a:defRPr sz="1100">
                <a:latin typeface="+mn-lt"/>
              </a:defRPr>
            </a:lvl1pPr>
          </a:lstStyle>
          <a:p>
            <a:r>
              <a:rPr lang="en-GB"/>
              <a:t>CmPA Seminars Series</a:t>
            </a:r>
            <a:endParaRPr lang="nl-NL" dirty="0"/>
          </a:p>
        </p:txBody>
      </p:sp>
      <p:sp>
        <p:nvSpPr>
          <p:cNvPr id="5" name="Tijdelijke aanduiding voor dianummer 4"/>
          <p:cNvSpPr>
            <a:spLocks noGrp="1"/>
          </p:cNvSpPr>
          <p:nvPr>
            <p:ph type="sldNum" sz="quarter" idx="12"/>
          </p:nvPr>
        </p:nvSpPr>
        <p:spPr/>
        <p:txBody>
          <a:bodyPr/>
          <a:lstStyle>
            <a:lvl1pPr>
              <a:defRPr sz="1100">
                <a:latin typeface="+mn-lt"/>
              </a:defRPr>
            </a:lvl1pPr>
          </a:lstStyle>
          <a:p>
            <a:fld id="{0A297500-7527-634B-90F4-69D0994C32B4}" type="slidenum">
              <a:rPr lang="nl-NL" smtClean="0"/>
              <a:pPr/>
              <a:t>‹#›</a:t>
            </a:fld>
            <a:endParaRPr lang="nl-NL" dirty="0"/>
          </a:p>
        </p:txBody>
      </p:sp>
      <p:sp>
        <p:nvSpPr>
          <p:cNvPr id="6" name="Title 5"/>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546631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lvl1pPr>
              <a:defRPr sz="1100">
                <a:latin typeface="+mj-lt"/>
              </a:defRPr>
            </a:lvl1pPr>
          </a:lstStyle>
          <a:p>
            <a:fld id="{FC58DB72-6500-475E-8183-671EC976357E}" type="datetime1">
              <a:rPr lang="nl-BE" smtClean="0"/>
              <a:t>11/06/2026</a:t>
            </a:fld>
            <a:endParaRPr lang="nl-NL" dirty="0"/>
          </a:p>
        </p:txBody>
      </p:sp>
      <p:sp>
        <p:nvSpPr>
          <p:cNvPr id="3" name="Tijdelijke aanduiding voor voettekst 2"/>
          <p:cNvSpPr>
            <a:spLocks noGrp="1"/>
          </p:cNvSpPr>
          <p:nvPr>
            <p:ph type="ftr" sz="quarter" idx="11"/>
          </p:nvPr>
        </p:nvSpPr>
        <p:spPr/>
        <p:txBody>
          <a:bodyPr/>
          <a:lstStyle>
            <a:lvl1pPr>
              <a:defRPr sz="1100">
                <a:latin typeface="+mj-lt"/>
              </a:defRPr>
            </a:lvl1pPr>
          </a:lstStyle>
          <a:p>
            <a:r>
              <a:rPr lang="en-GB"/>
              <a:t>CmPA Seminars Series</a:t>
            </a:r>
            <a:endParaRPr lang="nl-NL" dirty="0"/>
          </a:p>
        </p:txBody>
      </p:sp>
      <p:sp>
        <p:nvSpPr>
          <p:cNvPr id="4" name="Tijdelijke aanduiding voor dianummer 3"/>
          <p:cNvSpPr>
            <a:spLocks noGrp="1"/>
          </p:cNvSpPr>
          <p:nvPr>
            <p:ph type="sldNum" sz="quarter" idx="12"/>
          </p:nvPr>
        </p:nvSpPr>
        <p:spPr/>
        <p:txBody>
          <a:bodyPr/>
          <a:lstStyle>
            <a:lvl1pPr>
              <a:defRPr sz="1100">
                <a:latin typeface="+mj-lt"/>
              </a:defRPr>
            </a:lvl1pPr>
          </a:lstStyle>
          <a:p>
            <a:fld id="{0A297500-7527-634B-90F4-69D0994C32B4}" type="slidenum">
              <a:rPr lang="nl-NL" smtClean="0"/>
              <a:pPr/>
              <a:t>‹#›</a:t>
            </a:fld>
            <a:endParaRPr lang="nl-NL" dirty="0"/>
          </a:p>
        </p:txBody>
      </p:sp>
    </p:spTree>
    <p:extLst>
      <p:ext uri="{BB962C8B-B14F-4D97-AF65-F5344CB8AC3E}">
        <p14:creationId xmlns:p14="http://schemas.microsoft.com/office/powerpoint/2010/main" val="307772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_Finish">
    <p:spTree>
      <p:nvGrpSpPr>
        <p:cNvPr id="1" name=""/>
        <p:cNvGrpSpPr/>
        <p:nvPr/>
      </p:nvGrpSpPr>
      <p:grpSpPr>
        <a:xfrm>
          <a:off x="0" y="0"/>
          <a:ext cx="0" cy="0"/>
          <a:chOff x="0" y="0"/>
          <a:chExt cx="0" cy="0"/>
        </a:xfrm>
      </p:grpSpPr>
      <p:sp>
        <p:nvSpPr>
          <p:cNvPr id="9" name="Rechthoek 8"/>
          <p:cNvSpPr/>
          <p:nvPr userDrawn="1"/>
        </p:nvSpPr>
        <p:spPr>
          <a:xfrm>
            <a:off x="0" y="0"/>
            <a:ext cx="12193200" cy="64384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9120" y="510988"/>
            <a:ext cx="11039793" cy="5184424"/>
          </a:xfrm>
        </p:spPr>
        <p:txBody>
          <a:bodyPr anchor="ctr" anchorCtr="0">
            <a:noAutofit/>
          </a:bodyPr>
          <a:lstStyle>
            <a:lvl1pPr algn="ctr">
              <a:defRPr sz="6000" baseline="0">
                <a:solidFill>
                  <a:schemeClr val="bg1"/>
                </a:solidFill>
              </a:defRPr>
            </a:lvl1pPr>
          </a:lstStyle>
          <a:p>
            <a:r>
              <a:rPr lang="en-US" dirty="0"/>
              <a:t>Click to edit Master title style</a:t>
            </a:r>
            <a:endParaRPr lang="nl-N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733823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609600" y="1354667"/>
            <a:ext cx="10972800" cy="4897967"/>
          </a:xfrm>
        </p:spPr>
        <p:txBody>
          <a:bodyPr>
            <a:normAutofit/>
          </a:bodyPr>
          <a:lstStyle>
            <a:lvl1pPr>
              <a:defRPr sz="2667"/>
            </a:lvl1pPr>
            <a:lvl2pPr>
              <a:defRPr sz="2400"/>
            </a:lvl2pPr>
            <a:lvl3pPr>
              <a:defRPr sz="2133"/>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030741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909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hthoek 6"/>
          <p:cNvSpPr/>
          <p:nvPr/>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p:nvSpPr>
        <p:spPr>
          <a:xfrm>
            <a:off x="0" y="647998"/>
            <a:ext cx="12193200" cy="6210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791" y="1350253"/>
            <a:ext cx="4648209" cy="5507747"/>
          </a:xfrm>
          <a:prstGeom prst="rect">
            <a:avLst/>
          </a:prstGeom>
        </p:spPr>
      </p:pic>
      <p:sp>
        <p:nvSpPr>
          <p:cNvPr id="12" name="Ondertitel 2"/>
          <p:cNvSpPr>
            <a:spLocks noGrp="1"/>
          </p:cNvSpPr>
          <p:nvPr>
            <p:ph type="subTitle" idx="1"/>
          </p:nvPr>
        </p:nvSpPr>
        <p:spPr>
          <a:xfrm>
            <a:off x="576003" y="4359604"/>
            <a:ext cx="8333999" cy="1655999"/>
          </a:xfrm>
        </p:spPr>
        <p:txBody>
          <a:bodyPr lIns="0" tIns="0" rIns="0" bIns="0"/>
          <a:lstStyle>
            <a:lvl1pPr marL="0" indent="0" algn="l">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nl-NL"/>
              <a:t>Klik om de ondertitelstijl van het model te bewerken</a:t>
            </a:r>
            <a:endParaRPr lang="nl-NL" dirty="0"/>
          </a:p>
        </p:txBody>
      </p:sp>
      <p:sp>
        <p:nvSpPr>
          <p:cNvPr id="3" name="Title 2"/>
          <p:cNvSpPr>
            <a:spLocks noGrp="1"/>
          </p:cNvSpPr>
          <p:nvPr>
            <p:ph type="title"/>
          </p:nvPr>
        </p:nvSpPr>
        <p:spPr>
          <a:xfrm>
            <a:off x="576000" y="1800000"/>
            <a:ext cx="8334000" cy="2386800"/>
          </a:xfrm>
        </p:spPr>
        <p:txBody>
          <a:bodyPr>
            <a:normAutofit/>
          </a:bodyPr>
          <a:lstStyle>
            <a:lvl1pPr>
              <a:defRPr sz="4000">
                <a:solidFill>
                  <a:schemeClr val="bg1"/>
                </a:solidFill>
              </a:defRPr>
            </a:lvl1pPr>
          </a:lstStyle>
          <a:p>
            <a:r>
              <a:rPr lang="nl-NL" dirty="0"/>
              <a:t>Klik om de stijl te bewerken</a:t>
            </a:r>
          </a:p>
        </p:txBody>
      </p:sp>
    </p:spTree>
    <p:extLst>
      <p:ext uri="{BB962C8B-B14F-4D97-AF65-F5344CB8AC3E}">
        <p14:creationId xmlns:p14="http://schemas.microsoft.com/office/powerpoint/2010/main" val="3320380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hthoek 6"/>
          <p:cNvSpPr/>
          <p:nvPr/>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4" name="Tijdelijke aanduiding voor datum 3"/>
          <p:cNvSpPr>
            <a:spLocks noGrp="1"/>
          </p:cNvSpPr>
          <p:nvPr>
            <p:ph type="dt" sz="half" idx="10"/>
          </p:nvPr>
        </p:nvSpPr>
        <p:spPr/>
        <p:txBody>
          <a:bodyPr/>
          <a:lstStyle/>
          <a:p>
            <a:fld id="{6C5E8B36-1B46-4C8E-988E-26010729AE90}" type="datetime1">
              <a:rPr lang="nl-BE" smtClean="0"/>
              <a:t>11/06/2026</a:t>
            </a:fld>
            <a:endParaRPr lang="nl-NL"/>
          </a:p>
        </p:txBody>
      </p:sp>
      <p:sp>
        <p:nvSpPr>
          <p:cNvPr id="5" name="Tijdelijke aanduiding voor voettekst 4"/>
          <p:cNvSpPr>
            <a:spLocks noGrp="1"/>
          </p:cNvSpPr>
          <p:nvPr>
            <p:ph type="ftr" sz="quarter" idx="11"/>
          </p:nvPr>
        </p:nvSpPr>
        <p:spPr/>
        <p:txBody>
          <a:bodyPr/>
          <a:lstStyle/>
          <a:p>
            <a:r>
              <a:rPr lang="en-GB"/>
              <a:t>CmPA Seminars Series</a:t>
            </a:r>
            <a:endParaRPr lang="nl-NL"/>
          </a:p>
        </p:txBody>
      </p:sp>
      <p:sp>
        <p:nvSpPr>
          <p:cNvPr id="6" name="Tijdelijke aanduiding voor dianummer 5"/>
          <p:cNvSpPr>
            <a:spLocks noGrp="1"/>
          </p:cNvSpPr>
          <p:nvPr>
            <p:ph type="sldNum" sz="quarter" idx="12"/>
          </p:nvPr>
        </p:nvSpPr>
        <p:spPr/>
        <p:txBody>
          <a:bodyPr/>
          <a:lstStyle/>
          <a:p>
            <a:fld id="{CF179DAE-D0A6-40C3-B8BC-6A97C268D03A}" type="slidenum">
              <a:rPr lang="nl-NL" smtClean="0"/>
              <a:t>‹#›</a:t>
            </a:fld>
            <a:endParaRPr lang="nl-NL"/>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91" y="675126"/>
            <a:ext cx="4648209" cy="5507747"/>
          </a:xfrm>
          <a:prstGeom prst="rect">
            <a:avLst/>
          </a:prstGeom>
        </p:spPr>
      </p:pic>
      <p:sp>
        <p:nvSpPr>
          <p:cNvPr id="9" name="Titel 1"/>
          <p:cNvSpPr>
            <a:spLocks noGrp="1"/>
          </p:cNvSpPr>
          <p:nvPr>
            <p:ph type="title"/>
          </p:nvPr>
        </p:nvSpPr>
        <p:spPr>
          <a:xfrm>
            <a:off x="576003" y="1800000"/>
            <a:ext cx="8333999" cy="2386800"/>
          </a:xfrm>
        </p:spPr>
        <p:txBody>
          <a:bodyPr anchor="b">
            <a:normAutofit/>
          </a:bodyPr>
          <a:lstStyle>
            <a:lvl1pPr>
              <a:defRPr sz="4000" baseline="0">
                <a:solidFill>
                  <a:srgbClr val="1D8DB0"/>
                </a:solidFill>
              </a:defRPr>
            </a:lvl1pPr>
          </a:lstStyle>
          <a:p>
            <a:r>
              <a:rPr lang="nl-NL"/>
              <a:t>Klik om de stijl te bewerken</a:t>
            </a:r>
            <a:endParaRPr lang="nl-NL" dirty="0"/>
          </a:p>
        </p:txBody>
      </p:sp>
      <p:sp>
        <p:nvSpPr>
          <p:cNvPr id="10" name="Tijdelijke aanduiding voor tekst 2"/>
          <p:cNvSpPr>
            <a:spLocks noGrp="1"/>
          </p:cNvSpPr>
          <p:nvPr>
            <p:ph type="body" idx="1"/>
          </p:nvPr>
        </p:nvSpPr>
        <p:spPr>
          <a:xfrm>
            <a:off x="576003" y="4359600"/>
            <a:ext cx="8333999" cy="1501200"/>
          </a:xfrm>
        </p:spPr>
        <p:txBody>
          <a:bodyPr lIns="0" tIns="0" rIns="0" bIns="0"/>
          <a:lstStyle>
            <a:lvl1pPr marL="0" indent="0">
              <a:buNone/>
              <a:defRPr sz="2400" baseline="0">
                <a:solidFill>
                  <a:schemeClr val="bg2">
                    <a:lumMod val="10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l-NL" dirty="0"/>
              <a:t>Tekststijl van het model bewerken</a:t>
            </a:r>
          </a:p>
        </p:txBody>
      </p:sp>
    </p:spTree>
    <p:extLst>
      <p:ext uri="{BB962C8B-B14F-4D97-AF65-F5344CB8AC3E}">
        <p14:creationId xmlns:p14="http://schemas.microsoft.com/office/powerpoint/2010/main" val="3322770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Header_Finish">
    <p:spTree>
      <p:nvGrpSpPr>
        <p:cNvPr id="1" name=""/>
        <p:cNvGrpSpPr/>
        <p:nvPr/>
      </p:nvGrpSpPr>
      <p:grpSpPr>
        <a:xfrm>
          <a:off x="0" y="0"/>
          <a:ext cx="0" cy="0"/>
          <a:chOff x="0" y="0"/>
          <a:chExt cx="0" cy="0"/>
        </a:xfrm>
      </p:grpSpPr>
      <p:sp>
        <p:nvSpPr>
          <p:cNvPr id="9" name="Rechthoek 8"/>
          <p:cNvSpPr/>
          <p:nvPr userDrawn="1"/>
        </p:nvSpPr>
        <p:spPr>
          <a:xfrm>
            <a:off x="0" y="0"/>
            <a:ext cx="12193200" cy="64384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9120" y="510988"/>
            <a:ext cx="11039793" cy="5184424"/>
          </a:xfrm>
        </p:spPr>
        <p:txBody>
          <a:bodyPr anchor="ctr" anchorCtr="0">
            <a:noAutofit/>
          </a:bodyPr>
          <a:lstStyle>
            <a:lvl1pPr algn="ctr">
              <a:defRPr sz="6000" baseline="0">
                <a:solidFill>
                  <a:schemeClr val="bg1"/>
                </a:solidFill>
              </a:defRPr>
            </a:lvl1pPr>
          </a:lstStyle>
          <a:p>
            <a:r>
              <a:rPr lang="en-US" dirty="0"/>
              <a:t>Click to edit Master title style</a:t>
            </a:r>
            <a:endParaRPr lang="nl-NL" dirty="0"/>
          </a:p>
        </p:txBody>
      </p:sp>
    </p:spTree>
    <p:extLst>
      <p:ext uri="{BB962C8B-B14F-4D97-AF65-F5344CB8AC3E}">
        <p14:creationId xmlns:p14="http://schemas.microsoft.com/office/powerpoint/2010/main" val="2685906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userDrawn="1"/>
        </p:nvSpPr>
        <p:spPr>
          <a:xfrm>
            <a:off x="0" y="6412012"/>
            <a:ext cx="12192000" cy="4439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105247" y="6441786"/>
            <a:ext cx="1008305" cy="360000"/>
          </a:xfrm>
          <a:prstGeom prst="rect">
            <a:avLst/>
          </a:prstGeom>
        </p:spPr>
      </p:pic>
      <p:sp>
        <p:nvSpPr>
          <p:cNvPr id="2" name="Tijdelijke aanduiding voor titel 1"/>
          <p:cNvSpPr>
            <a:spLocks noGrp="1"/>
          </p:cNvSpPr>
          <p:nvPr>
            <p:ph type="title"/>
          </p:nvPr>
        </p:nvSpPr>
        <p:spPr>
          <a:xfrm>
            <a:off x="576000" y="207037"/>
            <a:ext cx="11041200" cy="530963"/>
          </a:xfrm>
          <a:prstGeom prst="rect">
            <a:avLst/>
          </a:prstGeom>
        </p:spPr>
        <p:txBody>
          <a:bodyPr vert="horz" lIns="0" tIns="0" rIns="0" bIns="0" rtlCol="0" anchor="ctr"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978949"/>
            <a:ext cx="11041200" cy="5141051"/>
          </a:xfrm>
          <a:prstGeom prst="rect">
            <a:avLst/>
          </a:prstGeom>
        </p:spPr>
        <p:txBody>
          <a:bodyPr vert="horz" lIns="91440" tIns="45720" rIns="91440" bIns="4572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39999" y="6412011"/>
            <a:ext cx="894409" cy="443486"/>
          </a:xfrm>
          <a:prstGeom prst="rect">
            <a:avLst/>
          </a:prstGeom>
        </p:spPr>
        <p:txBody>
          <a:bodyPr vert="horz" lIns="0" tIns="0" rIns="0" bIns="0" rtlCol="0" anchor="ctr"/>
          <a:lstStyle>
            <a:lvl1pPr algn="l">
              <a:defRPr sz="1100" baseline="0">
                <a:solidFill>
                  <a:schemeClr val="bg1"/>
                </a:solidFill>
                <a:latin typeface="+mj-lt"/>
              </a:defRPr>
            </a:lvl1pPr>
          </a:lstStyle>
          <a:p>
            <a:fld id="{718725E2-C2D3-42D2-8023-419BE2FA43D4}" type="datetime1">
              <a:rPr lang="nl-BE" smtClean="0"/>
              <a:t>11/06/2026</a:t>
            </a:fld>
            <a:endParaRPr lang="nl-NL" dirty="0"/>
          </a:p>
        </p:txBody>
      </p:sp>
      <p:sp>
        <p:nvSpPr>
          <p:cNvPr id="5" name="Tijdelijke aanduiding voor voettekst 4"/>
          <p:cNvSpPr>
            <a:spLocks noGrp="1"/>
          </p:cNvSpPr>
          <p:nvPr>
            <p:ph type="ftr" sz="quarter" idx="3"/>
          </p:nvPr>
        </p:nvSpPr>
        <p:spPr>
          <a:xfrm>
            <a:off x="6033600" y="6412013"/>
            <a:ext cx="4993200" cy="443487"/>
          </a:xfrm>
          <a:prstGeom prst="rect">
            <a:avLst/>
          </a:prstGeom>
        </p:spPr>
        <p:txBody>
          <a:bodyPr vert="horz" lIns="0" tIns="0" rIns="180000" bIns="0" rtlCol="0" anchor="ctr"/>
          <a:lstStyle>
            <a:lvl1pPr algn="r">
              <a:defRPr sz="1100" baseline="0">
                <a:solidFill>
                  <a:schemeClr val="bg1"/>
                </a:solidFill>
                <a:latin typeface="+mj-lt"/>
              </a:defRPr>
            </a:lvl1pPr>
          </a:lstStyle>
          <a:p>
            <a:r>
              <a:rPr lang="en-GB"/>
              <a:t>CmPA Seminars Series</a:t>
            </a:r>
            <a:endParaRPr lang="nl-NL" dirty="0"/>
          </a:p>
        </p:txBody>
      </p:sp>
      <p:sp>
        <p:nvSpPr>
          <p:cNvPr id="6" name="Tijdelijke aanduiding voor dianummer 5"/>
          <p:cNvSpPr>
            <a:spLocks noGrp="1"/>
          </p:cNvSpPr>
          <p:nvPr>
            <p:ph type="sldNum" sz="quarter" idx="4"/>
          </p:nvPr>
        </p:nvSpPr>
        <p:spPr>
          <a:xfrm>
            <a:off x="576000" y="6412013"/>
            <a:ext cx="648000" cy="483639"/>
          </a:xfrm>
          <a:prstGeom prst="rect">
            <a:avLst/>
          </a:prstGeom>
        </p:spPr>
        <p:txBody>
          <a:bodyPr vert="horz" lIns="0" tIns="0" rIns="0" bIns="0" rtlCol="0" anchor="ctr"/>
          <a:lstStyle>
            <a:lvl1pPr algn="l">
              <a:defRPr sz="1100" baseline="0">
                <a:solidFill>
                  <a:schemeClr val="bg1"/>
                </a:solidFill>
                <a:latin typeface="+mj-lt"/>
              </a:defRPr>
            </a:lvl1pPr>
          </a:lstStyle>
          <a:p>
            <a:fld id="{0A297500-7527-634B-90F4-69D0994C32B4}" type="slidenum">
              <a:rPr lang="nl-NL" smtClean="0"/>
              <a:pPr/>
              <a:t>‹#›</a:t>
            </a:fld>
            <a:endParaRPr lang="nl-NL" dirty="0"/>
          </a:p>
        </p:txBody>
      </p:sp>
      <p:cxnSp>
        <p:nvCxnSpPr>
          <p:cNvPr id="10" name="Straight Connector 9">
            <a:extLst>
              <a:ext uri="{FF2B5EF4-FFF2-40B4-BE49-F238E27FC236}">
                <a16:creationId xmlns:a16="http://schemas.microsoft.com/office/drawing/2014/main" id="{8F3E064B-0E64-6B82-50E4-F5307D3FA4B3}"/>
              </a:ext>
            </a:extLst>
          </p:cNvPr>
          <p:cNvCxnSpPr>
            <a:cxnSpLocks/>
          </p:cNvCxnSpPr>
          <p:nvPr userDrawn="1"/>
        </p:nvCxnSpPr>
        <p:spPr>
          <a:xfrm>
            <a:off x="576000" y="764894"/>
            <a:ext cx="11041200" cy="0"/>
          </a:xfrm>
          <a:prstGeom prst="line">
            <a:avLst/>
          </a:prstGeom>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1" r:id="rId8"/>
    <p:sldLayoutId id="2147483698" r:id="rId9"/>
    <p:sldLayoutId id="2147483699" r:id="rId10"/>
    <p:sldLayoutId id="2147483700" r:id="rId11"/>
  </p:sldLayoutIdLst>
  <p:hf hdr="0" dt="0"/>
  <p:txStyles>
    <p:titleStyle>
      <a:lvl1pPr algn="ctr" defTabSz="914400" rtl="0" eaLnBrk="1" latinLnBrk="0" hangingPunct="1">
        <a:lnSpc>
          <a:spcPct val="100000"/>
        </a:lnSpc>
        <a:spcBef>
          <a:spcPct val="0"/>
        </a:spcBef>
        <a:buNone/>
        <a:defRPr sz="3500" b="1" kern="1200" baseline="0">
          <a:solidFill>
            <a:schemeClr val="tx2"/>
          </a:solidFill>
          <a:latin typeface="+mj-lt"/>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bg2">
              <a:lumMod val="10000"/>
            </a:schemeClr>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00000"/>
        </a:lnSpc>
        <a:spcBef>
          <a:spcPts val="500"/>
        </a:spcBef>
        <a:buFont typeface="Arial"/>
        <a:buChar char="•"/>
        <a:defRPr sz="2400" kern="1200" baseline="0">
          <a:solidFill>
            <a:schemeClr val="bg2">
              <a:lumMod val="10000"/>
            </a:schemeClr>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00000"/>
        </a:lnSpc>
        <a:spcBef>
          <a:spcPts val="500"/>
        </a:spcBef>
        <a:buFont typeface="Arial"/>
        <a:buChar char="•"/>
        <a:defRPr sz="2000" kern="1200" baseline="0">
          <a:solidFill>
            <a:schemeClr val="bg2">
              <a:lumMod val="10000"/>
            </a:schemeClr>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42" userDrawn="1">
          <p15:clr>
            <a:srgbClr val="F26B43"/>
          </p15:clr>
        </p15:guide>
        <p15:guide id="2" pos="7319" userDrawn="1">
          <p15:clr>
            <a:srgbClr val="F26B43"/>
          </p15:clr>
        </p15:guide>
        <p15:guide id="3" orient="horz" pos="3857" userDrawn="1">
          <p15:clr>
            <a:srgbClr val="F26B43"/>
          </p15:clr>
        </p15:guide>
        <p15:guide id="4" pos="36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16000"/>
            <a:ext cx="11041200" cy="601581"/>
          </a:xfrm>
          <a:prstGeom prst="rect">
            <a:avLst/>
          </a:prstGeom>
        </p:spPr>
        <p:txBody>
          <a:bodyPr vert="horz" lIns="0" tIns="0" rIns="0" bIns="0" rtlCol="0" anchor="ctr"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000465"/>
            <a:ext cx="11041200" cy="5119535"/>
          </a:xfrm>
          <a:prstGeom prst="rect">
            <a:avLst/>
          </a:prstGeom>
        </p:spPr>
        <p:txBody>
          <a:bodyPr vert="horz" lIns="91440" tIns="45720" rIns="91440" bIns="4572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6B2AF39-9C6D-4C2D-8C31-D89D448816ED}" type="datetime1">
              <a:rPr lang="nl-BE" smtClean="0"/>
              <a:t>11/06/2026</a:t>
            </a:fld>
            <a:endParaRPr lang="nl-NL" dirty="0"/>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r>
              <a:rPr lang="en-GB"/>
              <a:t>CmPA Seminars Series</a:t>
            </a:r>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cxnSp>
        <p:nvCxnSpPr>
          <p:cNvPr id="9" name="Straight Connector 8">
            <a:extLst>
              <a:ext uri="{FF2B5EF4-FFF2-40B4-BE49-F238E27FC236}">
                <a16:creationId xmlns:a16="http://schemas.microsoft.com/office/drawing/2014/main" id="{5850C211-09A6-C246-1422-B7D36361EACA}"/>
              </a:ext>
            </a:extLst>
          </p:cNvPr>
          <p:cNvCxnSpPr>
            <a:cxnSpLocks/>
          </p:cNvCxnSpPr>
          <p:nvPr userDrawn="1"/>
        </p:nvCxnSpPr>
        <p:spPr>
          <a:xfrm>
            <a:off x="576000" y="817581"/>
            <a:ext cx="11041200" cy="0"/>
          </a:xfrm>
          <a:prstGeom prst="line">
            <a:avLst/>
          </a:prstGeom>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25232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Lst>
  <p:hf hdr="0" dt="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bg2">
              <a:lumMod val="10000"/>
            </a:schemeClr>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bg2">
              <a:lumMod val="10000"/>
            </a:schemeClr>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bg2">
              <a:lumMod val="10000"/>
            </a:schemeClr>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7.gif"/><Relationship Id="rId7" Type="http://schemas.openxmlformats.org/officeDocument/2006/relationships/hyperlink" Target="https://en.wikipedia.org/wiki/Marginal_likelihood" TargetMode="Externa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hyperlink" Target="https://en.wikipedia.org/wiki/Prior_probability" TargetMode="External"/><Relationship Id="rId11" Type="http://schemas.openxmlformats.org/officeDocument/2006/relationships/image" Target="../media/image5.png"/><Relationship Id="rId5" Type="http://schemas.openxmlformats.org/officeDocument/2006/relationships/hyperlink" Target="https://en.wikipedia.org/wiki/Likelihood_function" TargetMode="External"/><Relationship Id="rId10" Type="http://schemas.openxmlformats.org/officeDocument/2006/relationships/image" Target="../media/image10.jpeg"/><Relationship Id="rId4" Type="http://schemas.openxmlformats.org/officeDocument/2006/relationships/hyperlink" Target="https://en.wikipedia.org/wiki/Posterior_probability" TargetMode="External"/><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hyperlink" Target="http://www.nasa.gov/"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51/swsc/2018020" TargetMode="External"/><Relationship Id="rId2" Type="http://schemas.openxmlformats.org/officeDocument/2006/relationships/image" Target="../media/image37.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doi.org/10.1029/2018SW001861" TargetMode="Externa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georgemilosh.github.io/projects/conecast/" TargetMode="Externa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55.jpeg"/><Relationship Id="rId7" Type="http://schemas.openxmlformats.org/officeDocument/2006/relationships/image" Target="../media/image59.pn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jpeg"/><Relationship Id="rId4" Type="http://schemas.openxmlformats.org/officeDocument/2006/relationships/image" Target="../media/image56.jpeg"/></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62.png"/></Relationships>
</file>

<file path=ppt/slides/_rels/slide2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051/swsc/2018020" TargetMode="External"/><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74.png"/><Relationship Id="rId4" Type="http://schemas.openxmlformats.org/officeDocument/2006/relationships/image" Target="../media/image73.png"/></Relationships>
</file>

<file path=ppt/slides/_rels/slide2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78.png"/><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ndertitel 8">
            <a:extLst>
              <a:ext uri="{FF2B5EF4-FFF2-40B4-BE49-F238E27FC236}">
                <a16:creationId xmlns:a16="http://schemas.microsoft.com/office/drawing/2014/main" id="{04E2ECAB-A796-2FBD-03EA-D78C2CBD5A49}"/>
              </a:ext>
            </a:extLst>
          </p:cNvPr>
          <p:cNvSpPr txBox="1">
            <a:spLocks/>
          </p:cNvSpPr>
          <p:nvPr/>
        </p:nvSpPr>
        <p:spPr>
          <a:xfrm>
            <a:off x="346365" y="5493136"/>
            <a:ext cx="9679378" cy="67627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a:buNone/>
              <a:defRPr sz="2400" kern="1200" baseline="0">
                <a:solidFill>
                  <a:schemeClr val="bg2">
                    <a:lumMod val="10000"/>
                  </a:schemeClr>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100000"/>
              </a:lnSpc>
              <a:spcBef>
                <a:spcPts val="500"/>
              </a:spcBef>
              <a:buFont typeface="Arial"/>
              <a:buNone/>
              <a:defRPr sz="2000" kern="1200" baseline="0">
                <a:solidFill>
                  <a:schemeClr val="bg2">
                    <a:lumMod val="10000"/>
                  </a:schemeClr>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100000"/>
              </a:lnSpc>
              <a:spcBef>
                <a:spcPts val="500"/>
              </a:spcBef>
              <a:buFont typeface="Arial"/>
              <a:buNone/>
              <a:defRPr sz="1800" kern="1200" baseline="0">
                <a:solidFill>
                  <a:schemeClr val="bg2">
                    <a:lumMod val="10000"/>
                  </a:schemeClr>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100000"/>
              </a:lnSpc>
              <a:spcBef>
                <a:spcPts val="500"/>
              </a:spcBef>
              <a:buFont typeface="Arial"/>
              <a:buNone/>
              <a:defRPr sz="1600" kern="1200" baseline="0">
                <a:solidFill>
                  <a:schemeClr val="bg2">
                    <a:lumMod val="10000"/>
                  </a:schemeClr>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100000"/>
              </a:lnSpc>
              <a:spcBef>
                <a:spcPts val="500"/>
              </a:spcBef>
              <a:buFont typeface="Arial"/>
              <a:buNone/>
              <a:defRPr sz="1600" kern="1200" baseline="0">
                <a:solidFill>
                  <a:schemeClr val="bg2">
                    <a:lumMod val="10000"/>
                  </a:schemeClr>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nl-NL" sz="1700" dirty="0" err="1"/>
              <a:t>Ekaterina</a:t>
            </a:r>
            <a:r>
              <a:rPr lang="nl-NL" sz="1700" dirty="0"/>
              <a:t> </a:t>
            </a:r>
            <a:r>
              <a:rPr lang="nl-NL" sz="1700" dirty="0" err="1"/>
              <a:t>Dineva</a:t>
            </a:r>
            <a:r>
              <a:rPr lang="nl-NL" sz="1700" dirty="0"/>
              <a:t>, George </a:t>
            </a:r>
            <a:r>
              <a:rPr lang="nl-NL" sz="1700" dirty="0" err="1"/>
              <a:t>Miloshevich</a:t>
            </a:r>
            <a:r>
              <a:rPr lang="nl-NL" sz="1700" dirty="0"/>
              <a:t>, Panagiotis Gonidakis</a:t>
            </a:r>
            <a:endParaRPr lang="nl-NL" sz="1700" baseline="30000" dirty="0"/>
          </a:p>
          <a:p>
            <a:r>
              <a:rPr lang="en-US" sz="1400" dirty="0" err="1"/>
              <a:t>CmPA</a:t>
            </a:r>
            <a:r>
              <a:rPr lang="en-US" sz="1400" dirty="0"/>
              <a:t>, KU Leuven</a:t>
            </a:r>
            <a:endParaRPr lang="nl-NL" sz="2800" dirty="0"/>
          </a:p>
        </p:txBody>
      </p:sp>
      <p:sp>
        <p:nvSpPr>
          <p:cNvPr id="4" name="Title 3">
            <a:extLst>
              <a:ext uri="{FF2B5EF4-FFF2-40B4-BE49-F238E27FC236}">
                <a16:creationId xmlns:a16="http://schemas.microsoft.com/office/drawing/2014/main" id="{8258E1D0-D921-990F-1340-908BEB474A21}"/>
              </a:ext>
            </a:extLst>
          </p:cNvPr>
          <p:cNvSpPr>
            <a:spLocks noGrp="1"/>
          </p:cNvSpPr>
          <p:nvPr>
            <p:ph type="ctrTitle"/>
          </p:nvPr>
        </p:nvSpPr>
        <p:spPr>
          <a:xfrm>
            <a:off x="494187" y="1843162"/>
            <a:ext cx="11203625" cy="1096804"/>
          </a:xfrm>
        </p:spPr>
        <p:txBody>
          <a:bodyPr/>
          <a:lstStyle/>
          <a:p>
            <a:r>
              <a:rPr lang="en-US" dirty="0"/>
              <a:t>Machine Learning for </a:t>
            </a:r>
            <a:r>
              <a:rPr lang="en-US" dirty="0" err="1"/>
              <a:t>Heliophysics</a:t>
            </a:r>
            <a:endParaRPr lang="LID4096" dirty="0"/>
          </a:p>
        </p:txBody>
      </p:sp>
      <p:sp>
        <p:nvSpPr>
          <p:cNvPr id="13" name="TextBox 12">
            <a:extLst>
              <a:ext uri="{FF2B5EF4-FFF2-40B4-BE49-F238E27FC236}">
                <a16:creationId xmlns:a16="http://schemas.microsoft.com/office/drawing/2014/main" id="{7D7E2B11-8171-9C38-C018-0904576A9096}"/>
              </a:ext>
            </a:extLst>
          </p:cNvPr>
          <p:cNvSpPr txBox="1"/>
          <p:nvPr/>
        </p:nvSpPr>
        <p:spPr>
          <a:xfrm>
            <a:off x="1490482" y="3237059"/>
            <a:ext cx="9884433" cy="1600438"/>
          </a:xfrm>
          <a:prstGeom prst="rect">
            <a:avLst/>
          </a:prstGeom>
          <a:noFill/>
        </p:spPr>
        <p:txBody>
          <a:bodyPr wrap="square" rtlCol="0">
            <a:spAutoFit/>
          </a:bodyPr>
          <a:lstStyle/>
          <a:p>
            <a:r>
              <a:rPr lang="en-US" sz="1400" dirty="0">
                <a:solidFill>
                  <a:schemeClr val="bg1"/>
                </a:solidFill>
              </a:rPr>
              <a:t>09:00–10:00 Solar &amp; </a:t>
            </a:r>
            <a:r>
              <a:rPr lang="en-US" sz="1400" dirty="0" err="1">
                <a:solidFill>
                  <a:schemeClr val="bg1"/>
                </a:solidFill>
              </a:rPr>
              <a:t>heliospheric</a:t>
            </a:r>
            <a:r>
              <a:rPr lang="en-US" sz="1400" dirty="0">
                <a:solidFill>
                  <a:schemeClr val="bg1"/>
                </a:solidFill>
              </a:rPr>
              <a:t> physics: activity cycles, solar wind, CMEs </a:t>
            </a:r>
          </a:p>
          <a:p>
            <a:endParaRPr lang="en-US" sz="1400" dirty="0">
              <a:solidFill>
                <a:schemeClr val="bg1"/>
              </a:solidFill>
            </a:endParaRPr>
          </a:p>
          <a:p>
            <a:r>
              <a:rPr lang="en-US" sz="1400" dirty="0">
                <a:solidFill>
                  <a:schemeClr val="bg1"/>
                </a:solidFill>
              </a:rPr>
              <a:t>10:00–11:00 SOHO, SDO, Solar Orbiter, OMNI datasets  </a:t>
            </a:r>
          </a:p>
          <a:p>
            <a:endParaRPr lang="en-US" sz="1400" dirty="0">
              <a:solidFill>
                <a:schemeClr val="bg1"/>
              </a:solidFill>
            </a:endParaRPr>
          </a:p>
          <a:p>
            <a:r>
              <a:rPr lang="en-US" sz="1400" dirty="0">
                <a:solidFill>
                  <a:schemeClr val="bg1"/>
                </a:solidFill>
              </a:rPr>
              <a:t>11:15–12:30 ML methods: solar image classification, CME forecasting, solar wind prediction </a:t>
            </a:r>
          </a:p>
          <a:p>
            <a:endParaRPr lang="en-US" sz="1400" dirty="0">
              <a:solidFill>
                <a:schemeClr val="bg1"/>
              </a:solidFill>
            </a:endParaRPr>
          </a:p>
          <a:p>
            <a:r>
              <a:rPr lang="en-US" sz="1400" dirty="0">
                <a:solidFill>
                  <a:schemeClr val="bg1"/>
                </a:solidFill>
              </a:rPr>
              <a:t>13:30–17:00 Hands‑on: Solar image segmentation, predictive modeling, project time</a:t>
            </a:r>
            <a:endParaRPr lang="LID4096" sz="1400" dirty="0">
              <a:solidFill>
                <a:schemeClr val="bg1"/>
              </a:solidFill>
            </a:endParaRPr>
          </a:p>
        </p:txBody>
      </p:sp>
      <p:pic>
        <p:nvPicPr>
          <p:cNvPr id="15" name="Picture 14">
            <a:extLst>
              <a:ext uri="{FF2B5EF4-FFF2-40B4-BE49-F238E27FC236}">
                <a16:creationId xmlns:a16="http://schemas.microsoft.com/office/drawing/2014/main" id="{249E0708-E401-2666-D451-E510982AB043}"/>
              </a:ext>
            </a:extLst>
          </p:cNvPr>
          <p:cNvPicPr>
            <a:picLocks noChangeAspect="1"/>
          </p:cNvPicPr>
          <p:nvPr/>
        </p:nvPicPr>
        <p:blipFill>
          <a:blip r:embed="rId2"/>
          <a:stretch>
            <a:fillRect/>
          </a:stretch>
        </p:blipFill>
        <p:spPr>
          <a:xfrm>
            <a:off x="2554941" y="342817"/>
            <a:ext cx="1945342" cy="737002"/>
          </a:xfrm>
          <a:prstGeom prst="rect">
            <a:avLst/>
          </a:prstGeom>
        </p:spPr>
      </p:pic>
    </p:spTree>
    <p:extLst>
      <p:ext uri="{BB962C8B-B14F-4D97-AF65-F5344CB8AC3E}">
        <p14:creationId xmlns:p14="http://schemas.microsoft.com/office/powerpoint/2010/main" val="36282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27F32-1A18-8140-9F36-C1CE0429E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D6937-E4C1-35E5-E905-6BD7A9A9BEA9}"/>
              </a:ext>
            </a:extLst>
          </p:cNvPr>
          <p:cNvSpPr>
            <a:spLocks noGrp="1"/>
          </p:cNvSpPr>
          <p:nvPr>
            <p:ph type="title"/>
          </p:nvPr>
        </p:nvSpPr>
        <p:spPr/>
        <p:txBody>
          <a:bodyPr/>
          <a:lstStyle/>
          <a:p>
            <a:r>
              <a:rPr lang="en-US" sz="4000" dirty="0"/>
              <a:t>Gaussian Process Regression</a:t>
            </a:r>
            <a:endParaRPr lang="LID4096" sz="4000" dirty="0"/>
          </a:p>
        </p:txBody>
      </p:sp>
      <p:pic>
        <p:nvPicPr>
          <p:cNvPr id="3" name="Picture 2">
            <a:extLst>
              <a:ext uri="{FF2B5EF4-FFF2-40B4-BE49-F238E27FC236}">
                <a16:creationId xmlns:a16="http://schemas.microsoft.com/office/drawing/2014/main" id="{B13E41B7-F7D9-AD3B-A2B2-B64E0F7A09EC}"/>
              </a:ext>
            </a:extLst>
          </p:cNvPr>
          <p:cNvPicPr>
            <a:picLocks noChangeAspect="1"/>
          </p:cNvPicPr>
          <p:nvPr/>
        </p:nvPicPr>
        <p:blipFill>
          <a:blip r:embed="rId2"/>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3407217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3EDC4-C962-505A-4663-73622C72478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6EFFE6-C600-D602-6BD8-2FF81047891E}"/>
              </a:ext>
            </a:extLst>
          </p:cNvPr>
          <p:cNvSpPr>
            <a:spLocks noGrp="1"/>
          </p:cNvSpPr>
          <p:nvPr>
            <p:ph type="sldNum" sz="quarter" idx="12"/>
          </p:nvPr>
        </p:nvSpPr>
        <p:spPr/>
        <p:txBody>
          <a:bodyPr/>
          <a:lstStyle/>
          <a:p>
            <a:fld id="{0A297500-7527-634B-90F4-69D0994C32B4}" type="slidenum">
              <a:rPr lang="nl-NL" smtClean="0"/>
              <a:pPr/>
              <a:t>3</a:t>
            </a:fld>
            <a:endParaRPr lang="nl-NL" dirty="0"/>
          </a:p>
        </p:txBody>
      </p:sp>
      <p:sp>
        <p:nvSpPr>
          <p:cNvPr id="5" name="Title 4">
            <a:extLst>
              <a:ext uri="{FF2B5EF4-FFF2-40B4-BE49-F238E27FC236}">
                <a16:creationId xmlns:a16="http://schemas.microsoft.com/office/drawing/2014/main" id="{0036EE06-FB09-9CA6-FAA9-82DB07BD1D37}"/>
              </a:ext>
            </a:extLst>
          </p:cNvPr>
          <p:cNvSpPr>
            <a:spLocks noGrp="1"/>
          </p:cNvSpPr>
          <p:nvPr>
            <p:ph type="title"/>
          </p:nvPr>
        </p:nvSpPr>
        <p:spPr/>
        <p:txBody>
          <a:bodyPr>
            <a:normAutofit fontScale="90000"/>
          </a:bodyPr>
          <a:lstStyle/>
          <a:p>
            <a:r>
              <a:rPr lang="en-US" dirty="0"/>
              <a:t>Occam’s razor: Frequentist vs Bayesian statistics</a:t>
            </a:r>
          </a:p>
        </p:txBody>
      </p:sp>
      <p:sp>
        <p:nvSpPr>
          <p:cNvPr id="7" name="TextBox 6">
            <a:extLst>
              <a:ext uri="{FF2B5EF4-FFF2-40B4-BE49-F238E27FC236}">
                <a16:creationId xmlns:a16="http://schemas.microsoft.com/office/drawing/2014/main" id="{188B8337-C5BF-F741-790A-8776A0E991EC}"/>
              </a:ext>
            </a:extLst>
          </p:cNvPr>
          <p:cNvSpPr txBox="1"/>
          <p:nvPr/>
        </p:nvSpPr>
        <p:spPr>
          <a:xfrm>
            <a:off x="738560" y="6497074"/>
            <a:ext cx="11155680" cy="307777"/>
          </a:xfrm>
          <a:prstGeom prst="rect">
            <a:avLst/>
          </a:prstGeom>
          <a:noFill/>
        </p:spPr>
        <p:txBody>
          <a:bodyPr wrap="square">
            <a:spAutoFit/>
          </a:bodyPr>
          <a:lstStyle/>
          <a:p>
            <a:pPr>
              <a:buNone/>
            </a:pPr>
            <a:r>
              <a:rPr lang="en-US" sz="1400" dirty="0" err="1">
                <a:solidFill>
                  <a:schemeClr val="bg1"/>
                </a:solidFill>
                <a:effectLst/>
                <a:latin typeface="Helvetica" pitchFamily="2" charset="0"/>
              </a:rPr>
              <a:t>C.E.Rasmussen</a:t>
            </a:r>
            <a:r>
              <a:rPr lang="en-US" sz="1400" dirty="0">
                <a:solidFill>
                  <a:schemeClr val="bg1"/>
                </a:solidFill>
                <a:effectLst/>
                <a:latin typeface="Helvetica" pitchFamily="2" charset="0"/>
              </a:rPr>
              <a:t> </a:t>
            </a:r>
            <a:r>
              <a:rPr lang="en-US" sz="1400" dirty="0" err="1">
                <a:solidFill>
                  <a:schemeClr val="bg1"/>
                </a:solidFill>
                <a:effectLst/>
                <a:latin typeface="Helvetica" pitchFamily="2" charset="0"/>
              </a:rPr>
              <a:t>C.K.I.Williams</a:t>
            </a:r>
            <a:r>
              <a:rPr lang="en-US" sz="1400" dirty="0">
                <a:solidFill>
                  <a:schemeClr val="bg1"/>
                </a:solidFill>
                <a:effectLst/>
                <a:latin typeface="Helvetica" pitchFamily="2" charset="0"/>
              </a:rPr>
              <a:t>, </a:t>
            </a:r>
            <a:r>
              <a:rPr lang="en-US" sz="1400" i="1" dirty="0">
                <a:solidFill>
                  <a:schemeClr val="bg1"/>
                </a:solidFill>
                <a:effectLst/>
                <a:latin typeface="Helvetica" pitchFamily="2" charset="0"/>
              </a:rPr>
              <a:t>Gaussian Processes for Machine Learning</a:t>
            </a:r>
            <a:r>
              <a:rPr lang="en-US" sz="1400" dirty="0">
                <a:solidFill>
                  <a:schemeClr val="bg1"/>
                </a:solidFill>
                <a:effectLst/>
                <a:latin typeface="Helvetica" pitchFamily="2" charset="0"/>
              </a:rPr>
              <a:t>, the MIT Press,2006, </a:t>
            </a:r>
            <a:r>
              <a:rPr lang="en-US" sz="1400" dirty="0" err="1">
                <a:solidFill>
                  <a:schemeClr val="bg1"/>
                </a:solidFill>
                <a:effectLst/>
                <a:latin typeface="Helvetica" pitchFamily="2" charset="0"/>
              </a:rPr>
              <a:t>www.GaussianProcess.org</a:t>
            </a:r>
            <a:r>
              <a:rPr lang="en-US" sz="1400" dirty="0">
                <a:solidFill>
                  <a:schemeClr val="bg1"/>
                </a:solidFill>
                <a:effectLst/>
                <a:latin typeface="Helvetica" pitchFamily="2" charset="0"/>
              </a:rPr>
              <a:t>/</a:t>
            </a:r>
            <a:r>
              <a:rPr lang="en-US" sz="1400" dirty="0" err="1">
                <a:solidFill>
                  <a:schemeClr val="bg1"/>
                </a:solidFill>
                <a:effectLst/>
                <a:latin typeface="Helvetica" pitchFamily="2" charset="0"/>
              </a:rPr>
              <a:t>gpml</a:t>
            </a:r>
            <a:endParaRPr lang="en-US" sz="1400" dirty="0">
              <a:solidFill>
                <a:schemeClr val="bg1"/>
              </a:solidFill>
              <a:effectLst/>
              <a:latin typeface="Helvetica" pitchFamily="2" charset="0"/>
            </a:endParaRPr>
          </a:p>
        </p:txBody>
      </p:sp>
      <p:sp>
        <p:nvSpPr>
          <p:cNvPr id="13" name="TextBox 12">
            <a:extLst>
              <a:ext uri="{FF2B5EF4-FFF2-40B4-BE49-F238E27FC236}">
                <a16:creationId xmlns:a16="http://schemas.microsoft.com/office/drawing/2014/main" id="{67FA170D-4257-87EF-6E76-2812B666F08A}"/>
              </a:ext>
            </a:extLst>
          </p:cNvPr>
          <p:cNvSpPr txBox="1"/>
          <p:nvPr/>
        </p:nvSpPr>
        <p:spPr>
          <a:xfrm>
            <a:off x="454080" y="3615963"/>
            <a:ext cx="2732454" cy="584775"/>
          </a:xfrm>
          <a:prstGeom prst="rect">
            <a:avLst/>
          </a:prstGeom>
          <a:noFill/>
        </p:spPr>
        <p:txBody>
          <a:bodyPr wrap="square">
            <a:spAutoFit/>
          </a:bodyPr>
          <a:lstStyle/>
          <a:p>
            <a:r>
              <a:rPr lang="en-US" sz="1600" b="0" i="0" dirty="0">
                <a:solidFill>
                  <a:srgbClr val="202122"/>
                </a:solidFill>
                <a:effectLst/>
                <a:latin typeface="Arial" panose="020B0604020202020204" pitchFamily="34" charset="0"/>
              </a:rPr>
              <a:t>Occam's razor is attributed to</a:t>
            </a:r>
            <a:r>
              <a:rPr lang="en-US" sz="1600" dirty="0">
                <a:solidFill>
                  <a:srgbClr val="202122"/>
                </a:solidFill>
                <a:latin typeface="Arial" panose="020B0604020202020204" pitchFamily="34" charset="0"/>
              </a:rPr>
              <a:t> William Occam</a:t>
            </a:r>
          </a:p>
        </p:txBody>
      </p:sp>
      <p:pic>
        <p:nvPicPr>
          <p:cNvPr id="14" name="Picture 13">
            <a:extLst>
              <a:ext uri="{FF2B5EF4-FFF2-40B4-BE49-F238E27FC236}">
                <a16:creationId xmlns:a16="http://schemas.microsoft.com/office/drawing/2014/main" id="{914244E9-53CD-90CA-3D8C-406471C2321F}"/>
              </a:ext>
            </a:extLst>
          </p:cNvPr>
          <p:cNvPicPr>
            <a:picLocks noChangeAspect="1"/>
          </p:cNvPicPr>
          <p:nvPr/>
        </p:nvPicPr>
        <p:blipFill>
          <a:blip r:embed="rId2"/>
          <a:stretch>
            <a:fillRect/>
          </a:stretch>
        </p:blipFill>
        <p:spPr>
          <a:xfrm>
            <a:off x="4115900" y="1134906"/>
            <a:ext cx="3994827" cy="1190615"/>
          </a:xfrm>
          <a:prstGeom prst="rect">
            <a:avLst/>
          </a:prstGeom>
        </p:spPr>
      </p:pic>
      <p:pic>
        <p:nvPicPr>
          <p:cNvPr id="15" name="Picture 14">
            <a:extLst>
              <a:ext uri="{FF2B5EF4-FFF2-40B4-BE49-F238E27FC236}">
                <a16:creationId xmlns:a16="http://schemas.microsoft.com/office/drawing/2014/main" id="{00CA9FE2-1D02-DDCC-C9C1-E060B9105733}"/>
              </a:ext>
            </a:extLst>
          </p:cNvPr>
          <p:cNvPicPr>
            <a:picLocks noChangeAspect="1"/>
          </p:cNvPicPr>
          <p:nvPr/>
        </p:nvPicPr>
        <p:blipFill>
          <a:blip r:embed="rId3"/>
          <a:stretch>
            <a:fillRect/>
          </a:stretch>
        </p:blipFill>
        <p:spPr>
          <a:xfrm>
            <a:off x="9768490" y="1554363"/>
            <a:ext cx="1604743" cy="1720285"/>
          </a:xfrm>
          <a:prstGeom prst="rect">
            <a:avLst/>
          </a:prstGeom>
        </p:spPr>
      </p:pic>
      <p:sp>
        <p:nvSpPr>
          <p:cNvPr id="17" name="TextBox 16">
            <a:extLst>
              <a:ext uri="{FF2B5EF4-FFF2-40B4-BE49-F238E27FC236}">
                <a16:creationId xmlns:a16="http://schemas.microsoft.com/office/drawing/2014/main" id="{A8A43DEB-1851-FC7F-C232-FCF2641BFC71}"/>
              </a:ext>
            </a:extLst>
          </p:cNvPr>
          <p:cNvSpPr txBox="1"/>
          <p:nvPr/>
        </p:nvSpPr>
        <p:spPr>
          <a:xfrm>
            <a:off x="10007861" y="3309964"/>
            <a:ext cx="1730059"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Bayes</a:t>
            </a:r>
            <a:endParaRPr lang="en-US" dirty="0"/>
          </a:p>
        </p:txBody>
      </p:sp>
      <p:sp>
        <p:nvSpPr>
          <p:cNvPr id="20" name="TextBox 19">
            <a:extLst>
              <a:ext uri="{FF2B5EF4-FFF2-40B4-BE49-F238E27FC236}">
                <a16:creationId xmlns:a16="http://schemas.microsoft.com/office/drawing/2014/main" id="{391250E7-C7E1-228F-8741-74ACA81BAE62}"/>
              </a:ext>
            </a:extLst>
          </p:cNvPr>
          <p:cNvSpPr txBox="1"/>
          <p:nvPr/>
        </p:nvSpPr>
        <p:spPr>
          <a:xfrm>
            <a:off x="4115900" y="2410582"/>
            <a:ext cx="6096000" cy="369332"/>
          </a:xfrm>
          <a:prstGeom prst="rect">
            <a:avLst/>
          </a:prstGeom>
          <a:noFill/>
        </p:spPr>
        <p:txBody>
          <a:bodyPr wrap="square">
            <a:spAutoFit/>
          </a:bodyPr>
          <a:lstStyle/>
          <a:p>
            <a:r>
              <a:rPr lang="en-US" b="0" i="0" u="none" strike="noStrike" dirty="0">
                <a:solidFill>
                  <a:srgbClr val="3366CC"/>
                </a:solidFill>
                <a:effectLst/>
                <a:latin typeface="Arial" panose="020B0604020202020204" pitchFamily="34" charset="0"/>
                <a:hlinkClick r:id="rId4" tooltip="Posterior probability"/>
              </a:rPr>
              <a:t>Posterior</a:t>
            </a:r>
            <a:r>
              <a:rPr lang="en-US" b="0" i="0" dirty="0">
                <a:solidFill>
                  <a:srgbClr val="202122"/>
                </a:solidFill>
                <a:effectLst/>
                <a:latin typeface="Arial" panose="020B0604020202020204" pitchFamily="34" charset="0"/>
              </a:rPr>
              <a:t> = </a:t>
            </a:r>
            <a:r>
              <a:rPr lang="en-US" b="0" i="0" u="none" strike="noStrike" dirty="0">
                <a:solidFill>
                  <a:srgbClr val="3366CC"/>
                </a:solidFill>
                <a:effectLst/>
                <a:latin typeface="Arial" panose="020B0604020202020204" pitchFamily="34" charset="0"/>
                <a:hlinkClick r:id="rId5" tooltip="Likelihood function"/>
              </a:rPr>
              <a:t>Likelihood</a:t>
            </a:r>
            <a:r>
              <a:rPr lang="en-US" b="0" i="0" dirty="0">
                <a:solidFill>
                  <a:srgbClr val="202122"/>
                </a:solidFill>
                <a:effectLst/>
                <a:latin typeface="Arial" panose="020B0604020202020204" pitchFamily="34" charset="0"/>
              </a:rPr>
              <a:t> × </a:t>
            </a:r>
            <a:r>
              <a:rPr lang="en-US" b="0" i="0" u="none" strike="noStrike" dirty="0">
                <a:solidFill>
                  <a:srgbClr val="3366CC"/>
                </a:solidFill>
                <a:effectLst/>
                <a:latin typeface="Arial" panose="020B0604020202020204" pitchFamily="34" charset="0"/>
                <a:hlinkClick r:id="rId6" tooltip="Prior probability"/>
              </a:rPr>
              <a:t>Prior</a:t>
            </a:r>
            <a:r>
              <a:rPr lang="en-US" b="0" i="0" dirty="0">
                <a:solidFill>
                  <a:srgbClr val="202122"/>
                </a:solidFill>
                <a:effectLst/>
                <a:latin typeface="Arial" panose="020B0604020202020204" pitchFamily="34" charset="0"/>
              </a:rPr>
              <a:t> ÷ </a:t>
            </a:r>
            <a:r>
              <a:rPr lang="en-US" b="0" i="0" u="none" strike="noStrike" dirty="0">
                <a:solidFill>
                  <a:srgbClr val="3366CC"/>
                </a:solidFill>
                <a:effectLst/>
                <a:latin typeface="Arial" panose="020B0604020202020204" pitchFamily="34" charset="0"/>
                <a:hlinkClick r:id="rId7" tooltip="Marginal likelihood"/>
              </a:rPr>
              <a:t>Evidence</a:t>
            </a:r>
            <a:endParaRPr lang="en-US" dirty="0"/>
          </a:p>
        </p:txBody>
      </p:sp>
      <p:pic>
        <p:nvPicPr>
          <p:cNvPr id="21" name="Picture 20">
            <a:extLst>
              <a:ext uri="{FF2B5EF4-FFF2-40B4-BE49-F238E27FC236}">
                <a16:creationId xmlns:a16="http://schemas.microsoft.com/office/drawing/2014/main" id="{DF91D9E2-ED55-0A49-1DEF-283E77C7E4AA}"/>
              </a:ext>
            </a:extLst>
          </p:cNvPr>
          <p:cNvPicPr>
            <a:picLocks noChangeAspect="1"/>
          </p:cNvPicPr>
          <p:nvPr/>
        </p:nvPicPr>
        <p:blipFill>
          <a:blip r:embed="rId8"/>
          <a:stretch>
            <a:fillRect/>
          </a:stretch>
        </p:blipFill>
        <p:spPr>
          <a:xfrm>
            <a:off x="569714" y="1260784"/>
            <a:ext cx="2402048" cy="2229100"/>
          </a:xfrm>
          <a:prstGeom prst="rect">
            <a:avLst/>
          </a:prstGeom>
        </p:spPr>
      </p:pic>
      <p:pic>
        <p:nvPicPr>
          <p:cNvPr id="22" name="Picture 21">
            <a:extLst>
              <a:ext uri="{FF2B5EF4-FFF2-40B4-BE49-F238E27FC236}">
                <a16:creationId xmlns:a16="http://schemas.microsoft.com/office/drawing/2014/main" id="{F0CA0322-6C29-9221-FA08-0FEDE376B081}"/>
              </a:ext>
            </a:extLst>
          </p:cNvPr>
          <p:cNvPicPr>
            <a:picLocks noChangeAspect="1"/>
          </p:cNvPicPr>
          <p:nvPr/>
        </p:nvPicPr>
        <p:blipFill>
          <a:blip r:embed="rId9"/>
          <a:stretch>
            <a:fillRect/>
          </a:stretch>
        </p:blipFill>
        <p:spPr>
          <a:xfrm>
            <a:off x="239308" y="4573888"/>
            <a:ext cx="2732454" cy="1005543"/>
          </a:xfrm>
          <a:prstGeom prst="rect">
            <a:avLst/>
          </a:prstGeom>
        </p:spPr>
      </p:pic>
      <p:pic>
        <p:nvPicPr>
          <p:cNvPr id="23" name="Picture 22" descr="Occam's Razor and Machine Learning">
            <a:extLst>
              <a:ext uri="{FF2B5EF4-FFF2-40B4-BE49-F238E27FC236}">
                <a16:creationId xmlns:a16="http://schemas.microsoft.com/office/drawing/2014/main" id="{A8F2A6E6-5D3F-6213-28CD-5552F5FA8212}"/>
              </a:ext>
            </a:extLst>
          </p:cNvPr>
          <p:cNvPicPr>
            <a:picLocks noChangeAspect="1"/>
          </p:cNvPicPr>
          <p:nvPr/>
        </p:nvPicPr>
        <p:blipFill>
          <a:blip r:embed="rId10"/>
          <a:srcRect l="15704" r="16909"/>
          <a:stretch>
            <a:fillRect/>
          </a:stretch>
        </p:blipFill>
        <p:spPr>
          <a:xfrm>
            <a:off x="4266812" y="2867272"/>
            <a:ext cx="4206628" cy="3502874"/>
          </a:xfrm>
          <a:prstGeom prst="rect">
            <a:avLst/>
          </a:prstGeom>
        </p:spPr>
      </p:pic>
      <p:pic>
        <p:nvPicPr>
          <p:cNvPr id="2" name="Picture 1">
            <a:extLst>
              <a:ext uri="{FF2B5EF4-FFF2-40B4-BE49-F238E27FC236}">
                <a16:creationId xmlns:a16="http://schemas.microsoft.com/office/drawing/2014/main" id="{9D46DAEC-FCE3-0BE4-5A8A-0D8A16222F7D}"/>
              </a:ext>
            </a:extLst>
          </p:cNvPr>
          <p:cNvPicPr>
            <a:picLocks noChangeAspect="1"/>
          </p:cNvPicPr>
          <p:nvPr/>
        </p:nvPicPr>
        <p:blipFill>
          <a:blip r:embed="rId11"/>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766602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725BD4-3C30-9B1C-4F50-D1404A0AAEA2}"/>
              </a:ext>
            </a:extLst>
          </p:cNvPr>
          <p:cNvSpPr>
            <a:spLocks noGrp="1"/>
          </p:cNvSpPr>
          <p:nvPr>
            <p:ph idx="1"/>
          </p:nvPr>
        </p:nvSpPr>
        <p:spPr>
          <a:xfrm>
            <a:off x="88320" y="4283956"/>
            <a:ext cx="4727520" cy="1317211"/>
          </a:xfrm>
        </p:spPr>
        <p:txBody>
          <a:bodyPr/>
          <a:lstStyle/>
          <a:p>
            <a:r>
              <a:rPr lang="en-US" dirty="0"/>
              <a:t>Bayes Theorem</a:t>
            </a:r>
          </a:p>
        </p:txBody>
      </p:sp>
      <p:sp>
        <p:nvSpPr>
          <p:cNvPr id="4" name="Slide Number Placeholder 3">
            <a:extLst>
              <a:ext uri="{FF2B5EF4-FFF2-40B4-BE49-F238E27FC236}">
                <a16:creationId xmlns:a16="http://schemas.microsoft.com/office/drawing/2014/main" id="{1B589908-99C6-40D5-6270-329EA8661E92}"/>
              </a:ext>
            </a:extLst>
          </p:cNvPr>
          <p:cNvSpPr>
            <a:spLocks noGrp="1"/>
          </p:cNvSpPr>
          <p:nvPr>
            <p:ph type="sldNum" sz="quarter" idx="12"/>
          </p:nvPr>
        </p:nvSpPr>
        <p:spPr/>
        <p:txBody>
          <a:bodyPr/>
          <a:lstStyle/>
          <a:p>
            <a:fld id="{0A297500-7527-634B-90F4-69D0994C32B4}" type="slidenum">
              <a:rPr lang="nl-NL" smtClean="0"/>
              <a:pPr/>
              <a:t>4</a:t>
            </a:fld>
            <a:endParaRPr lang="nl-NL" dirty="0"/>
          </a:p>
        </p:txBody>
      </p:sp>
      <p:sp>
        <p:nvSpPr>
          <p:cNvPr id="5" name="Title 4">
            <a:extLst>
              <a:ext uri="{FF2B5EF4-FFF2-40B4-BE49-F238E27FC236}">
                <a16:creationId xmlns:a16="http://schemas.microsoft.com/office/drawing/2014/main" id="{5B8F0766-F00E-9BD7-B207-19B796118B63}"/>
              </a:ext>
            </a:extLst>
          </p:cNvPr>
          <p:cNvSpPr>
            <a:spLocks noGrp="1"/>
          </p:cNvSpPr>
          <p:nvPr>
            <p:ph type="title"/>
          </p:nvPr>
        </p:nvSpPr>
        <p:spPr/>
        <p:txBody>
          <a:bodyPr>
            <a:normAutofit fontScale="90000"/>
          </a:bodyPr>
          <a:lstStyle/>
          <a:p>
            <a:r>
              <a:rPr lang="en-US" dirty="0"/>
              <a:t>Gaussian Process regression for Machine Learning</a:t>
            </a:r>
          </a:p>
        </p:txBody>
      </p:sp>
      <p:sp>
        <p:nvSpPr>
          <p:cNvPr id="7" name="TextBox 6">
            <a:extLst>
              <a:ext uri="{FF2B5EF4-FFF2-40B4-BE49-F238E27FC236}">
                <a16:creationId xmlns:a16="http://schemas.microsoft.com/office/drawing/2014/main" id="{79B70636-01C3-CFC5-E3ED-E625CEB641B3}"/>
              </a:ext>
            </a:extLst>
          </p:cNvPr>
          <p:cNvSpPr txBox="1"/>
          <p:nvPr/>
        </p:nvSpPr>
        <p:spPr>
          <a:xfrm>
            <a:off x="738560" y="6497074"/>
            <a:ext cx="11155680" cy="307777"/>
          </a:xfrm>
          <a:prstGeom prst="rect">
            <a:avLst/>
          </a:prstGeom>
          <a:noFill/>
        </p:spPr>
        <p:txBody>
          <a:bodyPr wrap="square">
            <a:spAutoFit/>
          </a:bodyPr>
          <a:lstStyle/>
          <a:p>
            <a:pPr>
              <a:buNone/>
            </a:pPr>
            <a:r>
              <a:rPr lang="en-US" sz="1400" dirty="0" err="1">
                <a:solidFill>
                  <a:schemeClr val="bg1"/>
                </a:solidFill>
                <a:effectLst/>
                <a:latin typeface="Helvetica" pitchFamily="2" charset="0"/>
              </a:rPr>
              <a:t>C.E.Rasmussen</a:t>
            </a:r>
            <a:r>
              <a:rPr lang="en-US" sz="1400" dirty="0">
                <a:solidFill>
                  <a:schemeClr val="bg1"/>
                </a:solidFill>
                <a:effectLst/>
                <a:latin typeface="Helvetica" pitchFamily="2" charset="0"/>
              </a:rPr>
              <a:t> </a:t>
            </a:r>
            <a:r>
              <a:rPr lang="en-US" sz="1400" dirty="0" err="1">
                <a:solidFill>
                  <a:schemeClr val="bg1"/>
                </a:solidFill>
                <a:effectLst/>
                <a:latin typeface="Helvetica" pitchFamily="2" charset="0"/>
              </a:rPr>
              <a:t>C.K.I.Williams</a:t>
            </a:r>
            <a:r>
              <a:rPr lang="en-US" sz="1400" dirty="0">
                <a:solidFill>
                  <a:schemeClr val="bg1"/>
                </a:solidFill>
                <a:effectLst/>
                <a:latin typeface="Helvetica" pitchFamily="2" charset="0"/>
              </a:rPr>
              <a:t>, </a:t>
            </a:r>
            <a:r>
              <a:rPr lang="en-US" sz="1400" i="1" dirty="0">
                <a:solidFill>
                  <a:schemeClr val="bg1"/>
                </a:solidFill>
                <a:effectLst/>
                <a:latin typeface="Helvetica" pitchFamily="2" charset="0"/>
              </a:rPr>
              <a:t>Gaussian Processes for Machine Learning</a:t>
            </a:r>
            <a:r>
              <a:rPr lang="en-US" sz="1400" dirty="0">
                <a:solidFill>
                  <a:schemeClr val="bg1"/>
                </a:solidFill>
                <a:effectLst/>
                <a:latin typeface="Helvetica" pitchFamily="2" charset="0"/>
              </a:rPr>
              <a:t>, the MIT Press,2006, </a:t>
            </a:r>
            <a:r>
              <a:rPr lang="en-US" sz="1400" dirty="0" err="1">
                <a:solidFill>
                  <a:schemeClr val="bg1"/>
                </a:solidFill>
                <a:effectLst/>
                <a:latin typeface="Helvetica" pitchFamily="2" charset="0"/>
              </a:rPr>
              <a:t>www.GaussianProcess.org</a:t>
            </a:r>
            <a:r>
              <a:rPr lang="en-US" sz="1400" dirty="0">
                <a:solidFill>
                  <a:schemeClr val="bg1"/>
                </a:solidFill>
                <a:effectLst/>
                <a:latin typeface="Helvetica" pitchFamily="2" charset="0"/>
              </a:rPr>
              <a:t>/</a:t>
            </a:r>
            <a:r>
              <a:rPr lang="en-US" sz="1400" dirty="0" err="1">
                <a:solidFill>
                  <a:schemeClr val="bg1"/>
                </a:solidFill>
                <a:effectLst/>
                <a:latin typeface="Helvetica" pitchFamily="2" charset="0"/>
              </a:rPr>
              <a:t>gpml</a:t>
            </a:r>
            <a:endParaRPr lang="en-US" sz="1400" dirty="0">
              <a:solidFill>
                <a:schemeClr val="bg1"/>
              </a:solidFill>
              <a:effectLst/>
              <a:latin typeface="Helvetica" pitchFamily="2" charset="0"/>
            </a:endParaRPr>
          </a:p>
        </p:txBody>
      </p:sp>
      <p:pic>
        <p:nvPicPr>
          <p:cNvPr id="9" name="Picture 8">
            <a:extLst>
              <a:ext uri="{FF2B5EF4-FFF2-40B4-BE49-F238E27FC236}">
                <a16:creationId xmlns:a16="http://schemas.microsoft.com/office/drawing/2014/main" id="{05C072D3-11DF-E99D-4324-0B6C2FAC72C0}"/>
              </a:ext>
            </a:extLst>
          </p:cNvPr>
          <p:cNvPicPr>
            <a:picLocks noChangeAspect="1"/>
          </p:cNvPicPr>
          <p:nvPr/>
        </p:nvPicPr>
        <p:blipFill>
          <a:blip r:embed="rId2"/>
          <a:srcRect t="9402"/>
          <a:stretch>
            <a:fillRect/>
          </a:stretch>
        </p:blipFill>
        <p:spPr>
          <a:xfrm>
            <a:off x="900000" y="4657387"/>
            <a:ext cx="10051202" cy="1022850"/>
          </a:xfrm>
          <a:prstGeom prst="rect">
            <a:avLst/>
          </a:prstGeom>
        </p:spPr>
      </p:pic>
      <p:pic>
        <p:nvPicPr>
          <p:cNvPr id="10" name="Picture 9">
            <a:extLst>
              <a:ext uri="{FF2B5EF4-FFF2-40B4-BE49-F238E27FC236}">
                <a16:creationId xmlns:a16="http://schemas.microsoft.com/office/drawing/2014/main" id="{6128AED9-944A-30E5-C491-1BA9EC7264E6}"/>
              </a:ext>
            </a:extLst>
          </p:cNvPr>
          <p:cNvPicPr>
            <a:picLocks noChangeAspect="1"/>
          </p:cNvPicPr>
          <p:nvPr/>
        </p:nvPicPr>
        <p:blipFill>
          <a:blip r:embed="rId3"/>
          <a:stretch>
            <a:fillRect/>
          </a:stretch>
        </p:blipFill>
        <p:spPr>
          <a:xfrm>
            <a:off x="8348400" y="3455916"/>
            <a:ext cx="2448560" cy="712872"/>
          </a:xfrm>
          <a:prstGeom prst="rect">
            <a:avLst/>
          </a:prstGeom>
        </p:spPr>
      </p:pic>
      <p:cxnSp>
        <p:nvCxnSpPr>
          <p:cNvPr id="12" name="Straight Arrow Connector 11">
            <a:extLst>
              <a:ext uri="{FF2B5EF4-FFF2-40B4-BE49-F238E27FC236}">
                <a16:creationId xmlns:a16="http://schemas.microsoft.com/office/drawing/2014/main" id="{AC9A8395-FC43-7AC0-C718-F73134267F97}"/>
              </a:ext>
            </a:extLst>
          </p:cNvPr>
          <p:cNvCxnSpPr>
            <a:cxnSpLocks/>
          </p:cNvCxnSpPr>
          <p:nvPr/>
        </p:nvCxnSpPr>
        <p:spPr>
          <a:xfrm>
            <a:off x="8971005" y="4065373"/>
            <a:ext cx="1334530" cy="59201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 name="Picture 17">
            <a:extLst>
              <a:ext uri="{FF2B5EF4-FFF2-40B4-BE49-F238E27FC236}">
                <a16:creationId xmlns:a16="http://schemas.microsoft.com/office/drawing/2014/main" id="{F032FE79-CC73-9F31-AF51-4F4C99307DF7}"/>
              </a:ext>
            </a:extLst>
          </p:cNvPr>
          <p:cNvPicPr>
            <a:picLocks noChangeAspect="1"/>
          </p:cNvPicPr>
          <p:nvPr/>
        </p:nvPicPr>
        <p:blipFill>
          <a:blip r:embed="rId4"/>
          <a:stretch>
            <a:fillRect/>
          </a:stretch>
        </p:blipFill>
        <p:spPr>
          <a:xfrm>
            <a:off x="738560" y="823061"/>
            <a:ext cx="7842983" cy="3451355"/>
          </a:xfrm>
          <a:prstGeom prst="rect">
            <a:avLst/>
          </a:prstGeom>
        </p:spPr>
      </p:pic>
      <p:pic>
        <p:nvPicPr>
          <p:cNvPr id="3" name="Picture 2">
            <a:extLst>
              <a:ext uri="{FF2B5EF4-FFF2-40B4-BE49-F238E27FC236}">
                <a16:creationId xmlns:a16="http://schemas.microsoft.com/office/drawing/2014/main" id="{81278CCA-D314-0864-610C-2C9A2A632781}"/>
              </a:ext>
            </a:extLst>
          </p:cNvPr>
          <p:cNvPicPr>
            <a:picLocks noChangeAspect="1"/>
          </p:cNvPicPr>
          <p:nvPr/>
        </p:nvPicPr>
        <p:blipFill>
          <a:blip r:embed="rId5"/>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406532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3602B-D1AF-C9DC-550A-9A4DDC8057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7BF520-1A06-B95C-477B-2A275F08E011}"/>
              </a:ext>
            </a:extLst>
          </p:cNvPr>
          <p:cNvSpPr>
            <a:spLocks noGrp="1"/>
          </p:cNvSpPr>
          <p:nvPr>
            <p:ph type="sldNum" sz="quarter" idx="12"/>
          </p:nvPr>
        </p:nvSpPr>
        <p:spPr/>
        <p:txBody>
          <a:bodyPr/>
          <a:lstStyle/>
          <a:p>
            <a:fld id="{0A297500-7527-634B-90F4-69D0994C32B4}" type="slidenum">
              <a:rPr lang="nl-NL" smtClean="0"/>
              <a:pPr/>
              <a:t>5</a:t>
            </a:fld>
            <a:endParaRPr lang="nl-NL" dirty="0"/>
          </a:p>
        </p:txBody>
      </p:sp>
      <p:sp>
        <p:nvSpPr>
          <p:cNvPr id="5" name="Title 4">
            <a:extLst>
              <a:ext uri="{FF2B5EF4-FFF2-40B4-BE49-F238E27FC236}">
                <a16:creationId xmlns:a16="http://schemas.microsoft.com/office/drawing/2014/main" id="{A3B17EB8-CDD3-CFD4-F876-DF8F1CEEE90C}"/>
              </a:ext>
            </a:extLst>
          </p:cNvPr>
          <p:cNvSpPr>
            <a:spLocks noGrp="1"/>
          </p:cNvSpPr>
          <p:nvPr>
            <p:ph type="title"/>
          </p:nvPr>
        </p:nvSpPr>
        <p:spPr/>
        <p:txBody>
          <a:bodyPr>
            <a:normAutofit fontScale="90000"/>
          </a:bodyPr>
          <a:lstStyle/>
          <a:p>
            <a:r>
              <a:rPr lang="en-US" dirty="0"/>
              <a:t>Standard Linear model with Gaussian probability</a:t>
            </a:r>
          </a:p>
        </p:txBody>
      </p:sp>
      <p:sp>
        <p:nvSpPr>
          <p:cNvPr id="7" name="TextBox 6">
            <a:extLst>
              <a:ext uri="{FF2B5EF4-FFF2-40B4-BE49-F238E27FC236}">
                <a16:creationId xmlns:a16="http://schemas.microsoft.com/office/drawing/2014/main" id="{930CDB5B-7EF7-37B9-2330-15A1831AF41A}"/>
              </a:ext>
            </a:extLst>
          </p:cNvPr>
          <p:cNvSpPr txBox="1"/>
          <p:nvPr/>
        </p:nvSpPr>
        <p:spPr>
          <a:xfrm>
            <a:off x="738560" y="6497074"/>
            <a:ext cx="11155680" cy="307777"/>
          </a:xfrm>
          <a:prstGeom prst="rect">
            <a:avLst/>
          </a:prstGeom>
          <a:noFill/>
        </p:spPr>
        <p:txBody>
          <a:bodyPr wrap="square">
            <a:spAutoFit/>
          </a:bodyPr>
          <a:lstStyle/>
          <a:p>
            <a:pPr>
              <a:buNone/>
            </a:pPr>
            <a:r>
              <a:rPr lang="en-US" sz="1400" dirty="0" err="1">
                <a:solidFill>
                  <a:schemeClr val="bg1"/>
                </a:solidFill>
                <a:effectLst/>
                <a:latin typeface="Helvetica" pitchFamily="2" charset="0"/>
              </a:rPr>
              <a:t>C.E.Rasmussen</a:t>
            </a:r>
            <a:r>
              <a:rPr lang="en-US" sz="1400" dirty="0">
                <a:solidFill>
                  <a:schemeClr val="bg1"/>
                </a:solidFill>
                <a:effectLst/>
                <a:latin typeface="Helvetica" pitchFamily="2" charset="0"/>
              </a:rPr>
              <a:t> </a:t>
            </a:r>
            <a:r>
              <a:rPr lang="en-US" sz="1400" dirty="0" err="1">
                <a:solidFill>
                  <a:schemeClr val="bg1"/>
                </a:solidFill>
                <a:effectLst/>
                <a:latin typeface="Helvetica" pitchFamily="2" charset="0"/>
              </a:rPr>
              <a:t>C.K.I.Williams</a:t>
            </a:r>
            <a:r>
              <a:rPr lang="en-US" sz="1400" dirty="0">
                <a:solidFill>
                  <a:schemeClr val="bg1"/>
                </a:solidFill>
                <a:effectLst/>
                <a:latin typeface="Helvetica" pitchFamily="2" charset="0"/>
              </a:rPr>
              <a:t>, </a:t>
            </a:r>
            <a:r>
              <a:rPr lang="en-US" sz="1400" i="1" dirty="0">
                <a:solidFill>
                  <a:schemeClr val="bg1"/>
                </a:solidFill>
                <a:effectLst/>
                <a:latin typeface="Helvetica" pitchFamily="2" charset="0"/>
              </a:rPr>
              <a:t>Gaussian Processes for Machine Learning</a:t>
            </a:r>
            <a:r>
              <a:rPr lang="en-US" sz="1400" dirty="0">
                <a:solidFill>
                  <a:schemeClr val="bg1"/>
                </a:solidFill>
                <a:effectLst/>
                <a:latin typeface="Helvetica" pitchFamily="2" charset="0"/>
              </a:rPr>
              <a:t>, the MIT Press,2006, </a:t>
            </a:r>
            <a:r>
              <a:rPr lang="en-US" sz="1400" dirty="0" err="1">
                <a:solidFill>
                  <a:schemeClr val="bg1"/>
                </a:solidFill>
                <a:effectLst/>
                <a:latin typeface="Helvetica" pitchFamily="2" charset="0"/>
              </a:rPr>
              <a:t>www.GaussianProcess.org</a:t>
            </a:r>
            <a:r>
              <a:rPr lang="en-US" sz="1400" dirty="0">
                <a:solidFill>
                  <a:schemeClr val="bg1"/>
                </a:solidFill>
                <a:effectLst/>
                <a:latin typeface="Helvetica" pitchFamily="2" charset="0"/>
              </a:rPr>
              <a:t>/</a:t>
            </a:r>
            <a:r>
              <a:rPr lang="en-US" sz="1400" dirty="0" err="1">
                <a:solidFill>
                  <a:schemeClr val="bg1"/>
                </a:solidFill>
                <a:effectLst/>
                <a:latin typeface="Helvetica" pitchFamily="2" charset="0"/>
              </a:rPr>
              <a:t>gpml</a:t>
            </a:r>
            <a:endParaRPr lang="en-US" sz="1400" dirty="0">
              <a:solidFill>
                <a:schemeClr val="bg1"/>
              </a:solidFill>
              <a:effectLst/>
              <a:latin typeface="Helvetica" pitchFamily="2" charset="0"/>
            </a:endParaRPr>
          </a:p>
        </p:txBody>
      </p:sp>
      <p:pic>
        <p:nvPicPr>
          <p:cNvPr id="3" name="Picture 2">
            <a:extLst>
              <a:ext uri="{FF2B5EF4-FFF2-40B4-BE49-F238E27FC236}">
                <a16:creationId xmlns:a16="http://schemas.microsoft.com/office/drawing/2014/main" id="{24AF1C84-EFC5-7D4B-AD2C-75E062D1C892}"/>
              </a:ext>
            </a:extLst>
          </p:cNvPr>
          <p:cNvPicPr>
            <a:picLocks noChangeAspect="1"/>
          </p:cNvPicPr>
          <p:nvPr/>
        </p:nvPicPr>
        <p:blipFill>
          <a:blip r:embed="rId2"/>
          <a:stretch>
            <a:fillRect/>
          </a:stretch>
        </p:blipFill>
        <p:spPr>
          <a:xfrm>
            <a:off x="442999" y="987467"/>
            <a:ext cx="5873401" cy="814807"/>
          </a:xfrm>
          <a:prstGeom prst="rect">
            <a:avLst/>
          </a:prstGeom>
        </p:spPr>
      </p:pic>
      <p:pic>
        <p:nvPicPr>
          <p:cNvPr id="6" name="Picture 5">
            <a:extLst>
              <a:ext uri="{FF2B5EF4-FFF2-40B4-BE49-F238E27FC236}">
                <a16:creationId xmlns:a16="http://schemas.microsoft.com/office/drawing/2014/main" id="{F6776417-B7F5-0384-15E6-B7F0602E37BE}"/>
              </a:ext>
            </a:extLst>
          </p:cNvPr>
          <p:cNvPicPr>
            <a:picLocks noChangeAspect="1"/>
          </p:cNvPicPr>
          <p:nvPr/>
        </p:nvPicPr>
        <p:blipFill>
          <a:blip r:embed="rId3"/>
          <a:stretch>
            <a:fillRect/>
          </a:stretch>
        </p:blipFill>
        <p:spPr>
          <a:xfrm>
            <a:off x="8019535" y="1005203"/>
            <a:ext cx="2448560" cy="676576"/>
          </a:xfrm>
          <a:prstGeom prst="rect">
            <a:avLst/>
          </a:prstGeom>
        </p:spPr>
      </p:pic>
      <p:pic>
        <p:nvPicPr>
          <p:cNvPr id="9" name="Picture 8">
            <a:extLst>
              <a:ext uri="{FF2B5EF4-FFF2-40B4-BE49-F238E27FC236}">
                <a16:creationId xmlns:a16="http://schemas.microsoft.com/office/drawing/2014/main" id="{91BACC71-9BC5-C125-F8B3-9E875B4BA9CC}"/>
              </a:ext>
            </a:extLst>
          </p:cNvPr>
          <p:cNvPicPr>
            <a:picLocks noChangeAspect="1"/>
          </p:cNvPicPr>
          <p:nvPr/>
        </p:nvPicPr>
        <p:blipFill>
          <a:blip r:embed="rId4"/>
          <a:stretch>
            <a:fillRect/>
          </a:stretch>
        </p:blipFill>
        <p:spPr>
          <a:xfrm>
            <a:off x="1028700" y="2051611"/>
            <a:ext cx="9565640" cy="2061690"/>
          </a:xfrm>
          <a:prstGeom prst="rect">
            <a:avLst/>
          </a:prstGeom>
        </p:spPr>
      </p:pic>
      <p:sp>
        <p:nvSpPr>
          <p:cNvPr id="16" name="Content Placeholder 1">
            <a:extLst>
              <a:ext uri="{FF2B5EF4-FFF2-40B4-BE49-F238E27FC236}">
                <a16:creationId xmlns:a16="http://schemas.microsoft.com/office/drawing/2014/main" id="{13F19350-02F2-3CE1-39A0-1FFA1CA7F2F1}"/>
              </a:ext>
            </a:extLst>
          </p:cNvPr>
          <p:cNvSpPr>
            <a:spLocks noGrp="1"/>
          </p:cNvSpPr>
          <p:nvPr>
            <p:ph idx="1"/>
          </p:nvPr>
        </p:nvSpPr>
        <p:spPr>
          <a:xfrm>
            <a:off x="88320" y="4283956"/>
            <a:ext cx="4727520" cy="1317211"/>
          </a:xfrm>
        </p:spPr>
        <p:txBody>
          <a:bodyPr/>
          <a:lstStyle/>
          <a:p>
            <a:r>
              <a:rPr lang="en-US" dirty="0"/>
              <a:t>Bayes Theorem:</a:t>
            </a:r>
          </a:p>
        </p:txBody>
      </p:sp>
      <p:pic>
        <p:nvPicPr>
          <p:cNvPr id="17" name="Picture 16">
            <a:extLst>
              <a:ext uri="{FF2B5EF4-FFF2-40B4-BE49-F238E27FC236}">
                <a16:creationId xmlns:a16="http://schemas.microsoft.com/office/drawing/2014/main" id="{116FE328-4D18-7B38-101C-3CD38A96FA1F}"/>
              </a:ext>
            </a:extLst>
          </p:cNvPr>
          <p:cNvPicPr>
            <a:picLocks noChangeAspect="1"/>
          </p:cNvPicPr>
          <p:nvPr/>
        </p:nvPicPr>
        <p:blipFill>
          <a:blip r:embed="rId5"/>
          <a:srcRect t="9402"/>
          <a:stretch>
            <a:fillRect/>
          </a:stretch>
        </p:blipFill>
        <p:spPr>
          <a:xfrm>
            <a:off x="900000" y="4657387"/>
            <a:ext cx="10051202" cy="1022850"/>
          </a:xfrm>
          <a:prstGeom prst="rect">
            <a:avLst/>
          </a:prstGeom>
        </p:spPr>
      </p:pic>
      <p:grpSp>
        <p:nvGrpSpPr>
          <p:cNvPr id="8" name="Group 7">
            <a:extLst>
              <a:ext uri="{FF2B5EF4-FFF2-40B4-BE49-F238E27FC236}">
                <a16:creationId xmlns:a16="http://schemas.microsoft.com/office/drawing/2014/main" id="{42DEC6B4-7917-5D15-325D-6362EBCA1BB9}"/>
              </a:ext>
            </a:extLst>
          </p:cNvPr>
          <p:cNvGrpSpPr/>
          <p:nvPr/>
        </p:nvGrpSpPr>
        <p:grpSpPr>
          <a:xfrm>
            <a:off x="4358312" y="4841649"/>
            <a:ext cx="5273212" cy="1502000"/>
            <a:chOff x="4358312" y="4841649"/>
            <a:chExt cx="5273212" cy="1502000"/>
          </a:xfrm>
        </p:grpSpPr>
        <p:pic>
          <p:nvPicPr>
            <p:cNvPr id="18" name="Picture 17">
              <a:extLst>
                <a:ext uri="{FF2B5EF4-FFF2-40B4-BE49-F238E27FC236}">
                  <a16:creationId xmlns:a16="http://schemas.microsoft.com/office/drawing/2014/main" id="{339DD8BE-28DE-0542-8DD7-8CC2D8C0AF0B}"/>
                </a:ext>
              </a:extLst>
            </p:cNvPr>
            <p:cNvPicPr>
              <a:picLocks noChangeAspect="1"/>
            </p:cNvPicPr>
            <p:nvPr/>
          </p:nvPicPr>
          <p:blipFill>
            <a:blip r:embed="rId6"/>
            <a:srcRect t="12700" b="7947"/>
            <a:stretch>
              <a:fillRect/>
            </a:stretch>
          </p:blipFill>
          <p:spPr>
            <a:xfrm>
              <a:off x="4621530" y="5601166"/>
              <a:ext cx="4624070" cy="742483"/>
            </a:xfrm>
            <a:prstGeom prst="rect">
              <a:avLst/>
            </a:prstGeom>
          </p:spPr>
        </p:pic>
        <p:sp>
          <p:nvSpPr>
            <p:cNvPr id="19" name="Arc 18">
              <a:extLst>
                <a:ext uri="{FF2B5EF4-FFF2-40B4-BE49-F238E27FC236}">
                  <a16:creationId xmlns:a16="http://schemas.microsoft.com/office/drawing/2014/main" id="{4E0C462C-CBA6-58DB-1129-27B53ED848D5}"/>
                </a:ext>
              </a:extLst>
            </p:cNvPr>
            <p:cNvSpPr/>
            <p:nvPr/>
          </p:nvSpPr>
          <p:spPr>
            <a:xfrm rot="4542832" flipV="1">
              <a:off x="4362465" y="4858333"/>
              <a:ext cx="1138196" cy="1146501"/>
            </a:xfrm>
            <a:prstGeom prst="arc">
              <a:avLst>
                <a:gd name="adj1" fmla="val 15883636"/>
                <a:gd name="adj2" fmla="val 20357196"/>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0" name="Arc 19">
              <a:extLst>
                <a:ext uri="{FF2B5EF4-FFF2-40B4-BE49-F238E27FC236}">
                  <a16:creationId xmlns:a16="http://schemas.microsoft.com/office/drawing/2014/main" id="{A0BCB988-3685-BC15-BD0D-68922535EEE1}"/>
                </a:ext>
              </a:extLst>
            </p:cNvPr>
            <p:cNvSpPr/>
            <p:nvPr/>
          </p:nvSpPr>
          <p:spPr>
            <a:xfrm flipV="1">
              <a:off x="8493328" y="4841649"/>
              <a:ext cx="1138196" cy="1146501"/>
            </a:xfrm>
            <a:prstGeom prst="arc">
              <a:avLst>
                <a:gd name="adj1" fmla="val 15883636"/>
                <a:gd name="adj2" fmla="val 20357196"/>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grpSp>
      <p:cxnSp>
        <p:nvCxnSpPr>
          <p:cNvPr id="22" name="Straight Arrow Connector 21">
            <a:extLst>
              <a:ext uri="{FF2B5EF4-FFF2-40B4-BE49-F238E27FC236}">
                <a16:creationId xmlns:a16="http://schemas.microsoft.com/office/drawing/2014/main" id="{D135F6BC-3266-E926-FF44-203FF9D35D7B}"/>
              </a:ext>
            </a:extLst>
          </p:cNvPr>
          <p:cNvCxnSpPr>
            <a:cxnSpLocks/>
          </p:cNvCxnSpPr>
          <p:nvPr/>
        </p:nvCxnSpPr>
        <p:spPr>
          <a:xfrm flipH="1">
            <a:off x="6546610" y="1507524"/>
            <a:ext cx="1472925" cy="0"/>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 name="Picture 1">
            <a:extLst>
              <a:ext uri="{FF2B5EF4-FFF2-40B4-BE49-F238E27FC236}">
                <a16:creationId xmlns:a16="http://schemas.microsoft.com/office/drawing/2014/main" id="{86CFB1CC-4096-CDC6-F6C0-DA33DE07EE88}"/>
              </a:ext>
            </a:extLst>
          </p:cNvPr>
          <p:cNvPicPr>
            <a:picLocks noChangeAspect="1"/>
          </p:cNvPicPr>
          <p:nvPr/>
        </p:nvPicPr>
        <p:blipFill>
          <a:blip r:embed="rId7"/>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296606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14B11-A2BB-5835-4312-C027E64CC6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631194-EEE3-A8C6-3984-1E5D57E032D1}"/>
              </a:ext>
            </a:extLst>
          </p:cNvPr>
          <p:cNvSpPr>
            <a:spLocks noGrp="1"/>
          </p:cNvSpPr>
          <p:nvPr>
            <p:ph type="sldNum" sz="quarter" idx="12"/>
          </p:nvPr>
        </p:nvSpPr>
        <p:spPr/>
        <p:txBody>
          <a:bodyPr/>
          <a:lstStyle/>
          <a:p>
            <a:fld id="{0A297500-7527-634B-90F4-69D0994C32B4}" type="slidenum">
              <a:rPr lang="nl-NL" smtClean="0"/>
              <a:pPr/>
              <a:t>6</a:t>
            </a:fld>
            <a:endParaRPr lang="nl-NL" dirty="0"/>
          </a:p>
        </p:txBody>
      </p:sp>
      <p:sp>
        <p:nvSpPr>
          <p:cNvPr id="5" name="Title 4">
            <a:extLst>
              <a:ext uri="{FF2B5EF4-FFF2-40B4-BE49-F238E27FC236}">
                <a16:creationId xmlns:a16="http://schemas.microsoft.com/office/drawing/2014/main" id="{40BD09CD-8448-C8C7-AD70-4393BE144D96}"/>
              </a:ext>
            </a:extLst>
          </p:cNvPr>
          <p:cNvSpPr>
            <a:spLocks noGrp="1"/>
          </p:cNvSpPr>
          <p:nvPr>
            <p:ph type="title"/>
          </p:nvPr>
        </p:nvSpPr>
        <p:spPr/>
        <p:txBody>
          <a:bodyPr>
            <a:normAutofit fontScale="90000"/>
          </a:bodyPr>
          <a:lstStyle/>
          <a:p>
            <a:r>
              <a:rPr lang="en-US" dirty="0"/>
              <a:t>maximum a posteriori (MAP) estimate</a:t>
            </a:r>
          </a:p>
        </p:txBody>
      </p:sp>
      <p:sp>
        <p:nvSpPr>
          <p:cNvPr id="7" name="TextBox 6">
            <a:extLst>
              <a:ext uri="{FF2B5EF4-FFF2-40B4-BE49-F238E27FC236}">
                <a16:creationId xmlns:a16="http://schemas.microsoft.com/office/drawing/2014/main" id="{620F45CB-5D1D-4FF1-4FFB-701E35335F2A}"/>
              </a:ext>
            </a:extLst>
          </p:cNvPr>
          <p:cNvSpPr txBox="1"/>
          <p:nvPr/>
        </p:nvSpPr>
        <p:spPr>
          <a:xfrm>
            <a:off x="738560" y="6497074"/>
            <a:ext cx="11155680" cy="307777"/>
          </a:xfrm>
          <a:prstGeom prst="rect">
            <a:avLst/>
          </a:prstGeom>
          <a:noFill/>
        </p:spPr>
        <p:txBody>
          <a:bodyPr wrap="square">
            <a:spAutoFit/>
          </a:bodyPr>
          <a:lstStyle/>
          <a:p>
            <a:pPr>
              <a:buNone/>
            </a:pPr>
            <a:r>
              <a:rPr lang="en-US" sz="1400" dirty="0" err="1">
                <a:solidFill>
                  <a:schemeClr val="bg1"/>
                </a:solidFill>
                <a:effectLst/>
                <a:latin typeface="Helvetica" pitchFamily="2" charset="0"/>
              </a:rPr>
              <a:t>C.E.Rasmussen</a:t>
            </a:r>
            <a:r>
              <a:rPr lang="en-US" sz="1400" dirty="0">
                <a:solidFill>
                  <a:schemeClr val="bg1"/>
                </a:solidFill>
                <a:effectLst/>
                <a:latin typeface="Helvetica" pitchFamily="2" charset="0"/>
              </a:rPr>
              <a:t> </a:t>
            </a:r>
            <a:r>
              <a:rPr lang="en-US" sz="1400" dirty="0" err="1">
                <a:solidFill>
                  <a:schemeClr val="bg1"/>
                </a:solidFill>
                <a:effectLst/>
                <a:latin typeface="Helvetica" pitchFamily="2" charset="0"/>
              </a:rPr>
              <a:t>C.K.I.Williams</a:t>
            </a:r>
            <a:r>
              <a:rPr lang="en-US" sz="1400" dirty="0">
                <a:solidFill>
                  <a:schemeClr val="bg1"/>
                </a:solidFill>
                <a:effectLst/>
                <a:latin typeface="Helvetica" pitchFamily="2" charset="0"/>
              </a:rPr>
              <a:t>, </a:t>
            </a:r>
            <a:r>
              <a:rPr lang="en-US" sz="1400" i="1" dirty="0">
                <a:solidFill>
                  <a:schemeClr val="bg1"/>
                </a:solidFill>
                <a:effectLst/>
                <a:latin typeface="Helvetica" pitchFamily="2" charset="0"/>
              </a:rPr>
              <a:t>Gaussian Processes for Machine Learning</a:t>
            </a:r>
            <a:r>
              <a:rPr lang="en-US" sz="1400" dirty="0">
                <a:solidFill>
                  <a:schemeClr val="bg1"/>
                </a:solidFill>
                <a:effectLst/>
                <a:latin typeface="Helvetica" pitchFamily="2" charset="0"/>
              </a:rPr>
              <a:t>, the MIT Press,2006, </a:t>
            </a:r>
            <a:r>
              <a:rPr lang="en-US" sz="1400" dirty="0" err="1">
                <a:solidFill>
                  <a:schemeClr val="bg1"/>
                </a:solidFill>
                <a:effectLst/>
                <a:latin typeface="Helvetica" pitchFamily="2" charset="0"/>
              </a:rPr>
              <a:t>www.GaussianProcess.org</a:t>
            </a:r>
            <a:r>
              <a:rPr lang="en-US" sz="1400" dirty="0">
                <a:solidFill>
                  <a:schemeClr val="bg1"/>
                </a:solidFill>
                <a:effectLst/>
                <a:latin typeface="Helvetica" pitchFamily="2" charset="0"/>
              </a:rPr>
              <a:t>/</a:t>
            </a:r>
            <a:r>
              <a:rPr lang="en-US" sz="1400" dirty="0" err="1">
                <a:solidFill>
                  <a:schemeClr val="bg1"/>
                </a:solidFill>
                <a:effectLst/>
                <a:latin typeface="Helvetica" pitchFamily="2" charset="0"/>
              </a:rPr>
              <a:t>gpml</a:t>
            </a:r>
            <a:endParaRPr lang="en-US" sz="1400" dirty="0">
              <a:solidFill>
                <a:schemeClr val="bg1"/>
              </a:solidFill>
              <a:effectLst/>
              <a:latin typeface="Helvetica" pitchFamily="2" charset="0"/>
            </a:endParaRPr>
          </a:p>
        </p:txBody>
      </p:sp>
      <p:pic>
        <p:nvPicPr>
          <p:cNvPr id="12" name="Picture 11">
            <a:extLst>
              <a:ext uri="{FF2B5EF4-FFF2-40B4-BE49-F238E27FC236}">
                <a16:creationId xmlns:a16="http://schemas.microsoft.com/office/drawing/2014/main" id="{DEDACEFF-BE6A-014F-22B3-A9D551162FDE}"/>
              </a:ext>
            </a:extLst>
          </p:cNvPr>
          <p:cNvPicPr>
            <a:picLocks noChangeAspect="1"/>
          </p:cNvPicPr>
          <p:nvPr/>
        </p:nvPicPr>
        <p:blipFill>
          <a:blip r:embed="rId2"/>
          <a:stretch>
            <a:fillRect/>
          </a:stretch>
        </p:blipFill>
        <p:spPr>
          <a:xfrm>
            <a:off x="491420" y="1065021"/>
            <a:ext cx="11402820" cy="1916713"/>
          </a:xfrm>
          <a:prstGeom prst="rect">
            <a:avLst/>
          </a:prstGeom>
        </p:spPr>
      </p:pic>
      <p:pic>
        <p:nvPicPr>
          <p:cNvPr id="13" name="Picture 12">
            <a:extLst>
              <a:ext uri="{FF2B5EF4-FFF2-40B4-BE49-F238E27FC236}">
                <a16:creationId xmlns:a16="http://schemas.microsoft.com/office/drawing/2014/main" id="{FBE9EE37-701C-56C9-C241-98EB37685AA0}"/>
              </a:ext>
            </a:extLst>
          </p:cNvPr>
          <p:cNvPicPr>
            <a:picLocks noChangeAspect="1"/>
          </p:cNvPicPr>
          <p:nvPr/>
        </p:nvPicPr>
        <p:blipFill>
          <a:blip r:embed="rId3"/>
          <a:srcRect b="7277"/>
          <a:stretch>
            <a:fillRect/>
          </a:stretch>
        </p:blipFill>
        <p:spPr>
          <a:xfrm>
            <a:off x="465759" y="3478604"/>
            <a:ext cx="6004205" cy="795326"/>
          </a:xfrm>
          <a:prstGeom prst="rect">
            <a:avLst/>
          </a:prstGeom>
        </p:spPr>
      </p:pic>
      <p:pic>
        <p:nvPicPr>
          <p:cNvPr id="14" name="Picture 13">
            <a:extLst>
              <a:ext uri="{FF2B5EF4-FFF2-40B4-BE49-F238E27FC236}">
                <a16:creationId xmlns:a16="http://schemas.microsoft.com/office/drawing/2014/main" id="{84010505-FF2F-5883-B05C-6911EFA51EDD}"/>
              </a:ext>
            </a:extLst>
          </p:cNvPr>
          <p:cNvPicPr>
            <a:picLocks noChangeAspect="1"/>
          </p:cNvPicPr>
          <p:nvPr/>
        </p:nvPicPr>
        <p:blipFill>
          <a:blip r:embed="rId4"/>
          <a:stretch>
            <a:fillRect/>
          </a:stretch>
        </p:blipFill>
        <p:spPr>
          <a:xfrm>
            <a:off x="356719" y="5077657"/>
            <a:ext cx="6222286" cy="1135948"/>
          </a:xfrm>
          <a:prstGeom prst="rect">
            <a:avLst/>
          </a:prstGeom>
        </p:spPr>
      </p:pic>
      <p:pic>
        <p:nvPicPr>
          <p:cNvPr id="15" name="Picture 14">
            <a:extLst>
              <a:ext uri="{FF2B5EF4-FFF2-40B4-BE49-F238E27FC236}">
                <a16:creationId xmlns:a16="http://schemas.microsoft.com/office/drawing/2014/main" id="{F2C8117A-7737-7EC3-8698-62FB0253428D}"/>
              </a:ext>
            </a:extLst>
          </p:cNvPr>
          <p:cNvPicPr>
            <a:picLocks noChangeAspect="1"/>
          </p:cNvPicPr>
          <p:nvPr/>
        </p:nvPicPr>
        <p:blipFill>
          <a:blip r:embed="rId5"/>
          <a:stretch>
            <a:fillRect/>
          </a:stretch>
        </p:blipFill>
        <p:spPr>
          <a:xfrm>
            <a:off x="7306463" y="3429000"/>
            <a:ext cx="3654305" cy="767404"/>
          </a:xfrm>
          <a:prstGeom prst="rect">
            <a:avLst/>
          </a:prstGeom>
        </p:spPr>
      </p:pic>
      <p:sp>
        <p:nvSpPr>
          <p:cNvPr id="17" name="Arc 16">
            <a:extLst>
              <a:ext uri="{FF2B5EF4-FFF2-40B4-BE49-F238E27FC236}">
                <a16:creationId xmlns:a16="http://schemas.microsoft.com/office/drawing/2014/main" id="{0EF90EDE-638F-801C-A1F0-D81D4FB159A0}"/>
              </a:ext>
            </a:extLst>
          </p:cNvPr>
          <p:cNvSpPr/>
          <p:nvPr/>
        </p:nvSpPr>
        <p:spPr>
          <a:xfrm rot="7722256">
            <a:off x="1845301" y="2795528"/>
            <a:ext cx="866426" cy="3252415"/>
          </a:xfrm>
          <a:prstGeom prst="arc">
            <a:avLst>
              <a:gd name="adj1" fmla="val 16688199"/>
              <a:gd name="adj2" fmla="val 3855817"/>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6DD0DCE6-BDBC-FE9C-8C9C-B7948E0B22D0}"/>
              </a:ext>
            </a:extLst>
          </p:cNvPr>
          <p:cNvSpPr/>
          <p:nvPr/>
        </p:nvSpPr>
        <p:spPr>
          <a:xfrm rot="14751111" flipV="1">
            <a:off x="6116431" y="4285436"/>
            <a:ext cx="2603569" cy="1518545"/>
          </a:xfrm>
          <a:prstGeom prst="arc">
            <a:avLst>
              <a:gd name="adj1" fmla="val 14592450"/>
              <a:gd name="adj2" fmla="val 18916983"/>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9" name="Content Placeholder 1">
            <a:extLst>
              <a:ext uri="{FF2B5EF4-FFF2-40B4-BE49-F238E27FC236}">
                <a16:creationId xmlns:a16="http://schemas.microsoft.com/office/drawing/2014/main" id="{35378246-F49C-41E2-4C45-A695210B4764}"/>
              </a:ext>
            </a:extLst>
          </p:cNvPr>
          <p:cNvSpPr txBox="1">
            <a:spLocks/>
          </p:cNvSpPr>
          <p:nvPr/>
        </p:nvSpPr>
        <p:spPr>
          <a:xfrm>
            <a:off x="7937671" y="5118071"/>
            <a:ext cx="4727520" cy="131721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a:buChar char="•"/>
              <a:defRPr sz="2400" kern="1200" baseline="0">
                <a:solidFill>
                  <a:schemeClr val="bg2">
                    <a:lumMod val="10000"/>
                  </a:schemeClr>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00000"/>
              </a:lnSpc>
              <a:spcBef>
                <a:spcPts val="500"/>
              </a:spcBef>
              <a:buFont typeface="Arial"/>
              <a:buChar char="•"/>
              <a:defRPr sz="2400" kern="1200" baseline="0">
                <a:solidFill>
                  <a:schemeClr val="bg2">
                    <a:lumMod val="10000"/>
                  </a:schemeClr>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00000"/>
              </a:lnSpc>
              <a:spcBef>
                <a:spcPts val="500"/>
              </a:spcBef>
              <a:buFont typeface="Arial"/>
              <a:buChar char="•"/>
              <a:defRPr sz="2000" kern="1200" baseline="0">
                <a:solidFill>
                  <a:schemeClr val="bg2">
                    <a:lumMod val="10000"/>
                  </a:schemeClr>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t>Covariance matrix</a:t>
            </a:r>
          </a:p>
        </p:txBody>
      </p:sp>
      <p:sp>
        <p:nvSpPr>
          <p:cNvPr id="22" name="Rectangle 21">
            <a:extLst>
              <a:ext uri="{FF2B5EF4-FFF2-40B4-BE49-F238E27FC236}">
                <a16:creationId xmlns:a16="http://schemas.microsoft.com/office/drawing/2014/main" id="{2BCA4C8C-B6C2-979C-2CE7-2E32A25E1290}"/>
              </a:ext>
            </a:extLst>
          </p:cNvPr>
          <p:cNvSpPr/>
          <p:nvPr/>
        </p:nvSpPr>
        <p:spPr>
          <a:xfrm>
            <a:off x="9956842" y="2217548"/>
            <a:ext cx="1660358" cy="70006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2F9934B1-B0C7-C712-F233-69D320E0D921}"/>
              </a:ext>
            </a:extLst>
          </p:cNvPr>
          <p:cNvSpPr txBox="1"/>
          <p:nvPr/>
        </p:nvSpPr>
        <p:spPr>
          <a:xfrm>
            <a:off x="9762900" y="2257174"/>
            <a:ext cx="2717402" cy="461665"/>
          </a:xfrm>
          <a:prstGeom prst="rect">
            <a:avLst/>
          </a:prstGeom>
          <a:noFill/>
        </p:spPr>
        <p:txBody>
          <a:bodyPr wrap="square">
            <a:spAutoFit/>
          </a:bodyPr>
          <a:lstStyle/>
          <a:p>
            <a:pPr>
              <a:buNone/>
            </a:pPr>
            <a:r>
              <a:rPr lang="en-US" sz="2400" dirty="0">
                <a:solidFill>
                  <a:srgbClr val="000000"/>
                </a:solidFill>
                <a:effectLst/>
                <a:latin typeface="Helvetica" pitchFamily="2" charset="0"/>
              </a:rPr>
              <a:t>ridge regression</a:t>
            </a:r>
          </a:p>
        </p:txBody>
      </p:sp>
      <p:cxnSp>
        <p:nvCxnSpPr>
          <p:cNvPr id="23" name="Straight Arrow Connector 22">
            <a:extLst>
              <a:ext uri="{FF2B5EF4-FFF2-40B4-BE49-F238E27FC236}">
                <a16:creationId xmlns:a16="http://schemas.microsoft.com/office/drawing/2014/main" id="{E1B360E4-0460-4C1C-0FD7-3EDACCC919BA}"/>
              </a:ext>
            </a:extLst>
          </p:cNvPr>
          <p:cNvCxnSpPr>
            <a:cxnSpLocks/>
          </p:cNvCxnSpPr>
          <p:nvPr/>
        </p:nvCxnSpPr>
        <p:spPr>
          <a:xfrm flipH="1" flipV="1">
            <a:off x="10359189" y="2078119"/>
            <a:ext cx="324853" cy="244823"/>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Left Brace 25">
            <a:extLst>
              <a:ext uri="{FF2B5EF4-FFF2-40B4-BE49-F238E27FC236}">
                <a16:creationId xmlns:a16="http://schemas.microsoft.com/office/drawing/2014/main" id="{085CD5E2-5F39-78AB-DEF2-91E8397A5554}"/>
              </a:ext>
            </a:extLst>
          </p:cNvPr>
          <p:cNvSpPr/>
          <p:nvPr/>
        </p:nvSpPr>
        <p:spPr>
          <a:xfrm rot="16200000">
            <a:off x="10207592" y="1239882"/>
            <a:ext cx="187678" cy="131867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 name="Picture 2">
            <a:extLst>
              <a:ext uri="{FF2B5EF4-FFF2-40B4-BE49-F238E27FC236}">
                <a16:creationId xmlns:a16="http://schemas.microsoft.com/office/drawing/2014/main" id="{CBE6A7D5-1F65-13EB-CE9B-63C4B94D24FE}"/>
              </a:ext>
            </a:extLst>
          </p:cNvPr>
          <p:cNvPicPr>
            <a:picLocks noChangeAspect="1"/>
          </p:cNvPicPr>
          <p:nvPr/>
        </p:nvPicPr>
        <p:blipFill>
          <a:blip r:embed="rId6"/>
          <a:stretch>
            <a:fillRect/>
          </a:stretch>
        </p:blipFill>
        <p:spPr>
          <a:xfrm>
            <a:off x="11020888" y="6412013"/>
            <a:ext cx="1190224" cy="450922"/>
          </a:xfrm>
          <a:prstGeom prst="rect">
            <a:avLst/>
          </a:prstGeom>
        </p:spPr>
      </p:pic>
      <p:sp>
        <p:nvSpPr>
          <p:cNvPr id="9" name="Arc 8">
            <a:extLst>
              <a:ext uri="{FF2B5EF4-FFF2-40B4-BE49-F238E27FC236}">
                <a16:creationId xmlns:a16="http://schemas.microsoft.com/office/drawing/2014/main" id="{F9BC12BF-5F4A-C209-A9A9-261C9756C207}"/>
              </a:ext>
            </a:extLst>
          </p:cNvPr>
          <p:cNvSpPr/>
          <p:nvPr/>
        </p:nvSpPr>
        <p:spPr>
          <a:xfrm rot="10800000" flipV="1">
            <a:off x="6118045" y="4981179"/>
            <a:ext cx="1894411" cy="1267114"/>
          </a:xfrm>
          <a:prstGeom prst="arc">
            <a:avLst>
              <a:gd name="adj1" fmla="val 12335970"/>
              <a:gd name="adj2" fmla="val 20508185"/>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38361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8841-88AB-B78C-5B43-1F2F52BA0B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CF07FE-0A7C-DEC6-4E24-DD900B3309DB}"/>
              </a:ext>
            </a:extLst>
          </p:cNvPr>
          <p:cNvSpPr>
            <a:spLocks noGrp="1"/>
          </p:cNvSpPr>
          <p:nvPr>
            <p:ph idx="1"/>
          </p:nvPr>
        </p:nvSpPr>
        <p:spPr>
          <a:xfrm>
            <a:off x="387458" y="5228201"/>
            <a:ext cx="4727520" cy="1317211"/>
          </a:xfrm>
        </p:spPr>
        <p:txBody>
          <a:bodyPr/>
          <a:lstStyle/>
          <a:p>
            <a:r>
              <a:rPr lang="en-US" dirty="0"/>
              <a:t>Squared Exponential</a:t>
            </a:r>
          </a:p>
          <a:p>
            <a:pPr marL="457200" lvl="1" indent="0">
              <a:buNone/>
            </a:pPr>
            <a:r>
              <a:rPr lang="en-US" dirty="0"/>
              <a:t> (kernel)</a:t>
            </a:r>
          </a:p>
        </p:txBody>
      </p:sp>
      <p:sp>
        <p:nvSpPr>
          <p:cNvPr id="4" name="Slide Number Placeholder 3">
            <a:extLst>
              <a:ext uri="{FF2B5EF4-FFF2-40B4-BE49-F238E27FC236}">
                <a16:creationId xmlns:a16="http://schemas.microsoft.com/office/drawing/2014/main" id="{56A5A816-3D5F-AA87-2445-0DF8DB58EAB4}"/>
              </a:ext>
            </a:extLst>
          </p:cNvPr>
          <p:cNvSpPr>
            <a:spLocks noGrp="1"/>
          </p:cNvSpPr>
          <p:nvPr>
            <p:ph type="sldNum" sz="quarter" idx="12"/>
          </p:nvPr>
        </p:nvSpPr>
        <p:spPr/>
        <p:txBody>
          <a:bodyPr/>
          <a:lstStyle/>
          <a:p>
            <a:fld id="{0A297500-7527-634B-90F4-69D0994C32B4}" type="slidenum">
              <a:rPr lang="nl-NL" smtClean="0"/>
              <a:pPr/>
              <a:t>7</a:t>
            </a:fld>
            <a:endParaRPr lang="nl-NL" dirty="0"/>
          </a:p>
        </p:txBody>
      </p:sp>
      <p:sp>
        <p:nvSpPr>
          <p:cNvPr id="5" name="Title 4">
            <a:extLst>
              <a:ext uri="{FF2B5EF4-FFF2-40B4-BE49-F238E27FC236}">
                <a16:creationId xmlns:a16="http://schemas.microsoft.com/office/drawing/2014/main" id="{74F2CB67-364F-3BD3-F32B-70C9E68ACC11}"/>
              </a:ext>
            </a:extLst>
          </p:cNvPr>
          <p:cNvSpPr>
            <a:spLocks noGrp="1"/>
          </p:cNvSpPr>
          <p:nvPr>
            <p:ph type="title"/>
          </p:nvPr>
        </p:nvSpPr>
        <p:spPr>
          <a:xfrm>
            <a:off x="574800" y="312588"/>
            <a:ext cx="11041200" cy="530963"/>
          </a:xfrm>
        </p:spPr>
        <p:txBody>
          <a:bodyPr>
            <a:normAutofit fontScale="90000"/>
          </a:bodyPr>
          <a:lstStyle/>
          <a:p>
            <a:r>
              <a:rPr lang="en-US" dirty="0"/>
              <a:t>Function space view</a:t>
            </a:r>
          </a:p>
        </p:txBody>
      </p:sp>
      <p:sp>
        <p:nvSpPr>
          <p:cNvPr id="7" name="TextBox 6">
            <a:extLst>
              <a:ext uri="{FF2B5EF4-FFF2-40B4-BE49-F238E27FC236}">
                <a16:creationId xmlns:a16="http://schemas.microsoft.com/office/drawing/2014/main" id="{13C945CF-18F6-D541-15A3-D4799D645DB4}"/>
              </a:ext>
            </a:extLst>
          </p:cNvPr>
          <p:cNvSpPr txBox="1"/>
          <p:nvPr/>
        </p:nvSpPr>
        <p:spPr>
          <a:xfrm>
            <a:off x="738560" y="6497074"/>
            <a:ext cx="11155680" cy="307777"/>
          </a:xfrm>
          <a:prstGeom prst="rect">
            <a:avLst/>
          </a:prstGeom>
          <a:noFill/>
        </p:spPr>
        <p:txBody>
          <a:bodyPr wrap="square">
            <a:spAutoFit/>
          </a:bodyPr>
          <a:lstStyle/>
          <a:p>
            <a:pPr>
              <a:buNone/>
            </a:pPr>
            <a:r>
              <a:rPr lang="en-US" sz="1400" dirty="0" err="1">
                <a:solidFill>
                  <a:schemeClr val="bg1"/>
                </a:solidFill>
                <a:effectLst/>
                <a:latin typeface="Helvetica" pitchFamily="2" charset="0"/>
              </a:rPr>
              <a:t>C.E.Rasmussen</a:t>
            </a:r>
            <a:r>
              <a:rPr lang="en-US" sz="1400" dirty="0">
                <a:solidFill>
                  <a:schemeClr val="bg1"/>
                </a:solidFill>
                <a:effectLst/>
                <a:latin typeface="Helvetica" pitchFamily="2" charset="0"/>
              </a:rPr>
              <a:t> </a:t>
            </a:r>
            <a:r>
              <a:rPr lang="en-US" sz="1400" dirty="0" err="1">
                <a:solidFill>
                  <a:schemeClr val="bg1"/>
                </a:solidFill>
                <a:effectLst/>
                <a:latin typeface="Helvetica" pitchFamily="2" charset="0"/>
              </a:rPr>
              <a:t>C.K.I.Williams</a:t>
            </a:r>
            <a:r>
              <a:rPr lang="en-US" sz="1400" dirty="0">
                <a:solidFill>
                  <a:schemeClr val="bg1"/>
                </a:solidFill>
                <a:effectLst/>
                <a:latin typeface="Helvetica" pitchFamily="2" charset="0"/>
              </a:rPr>
              <a:t>, </a:t>
            </a:r>
            <a:r>
              <a:rPr lang="en-US" sz="1400" i="1" dirty="0">
                <a:solidFill>
                  <a:schemeClr val="bg1"/>
                </a:solidFill>
                <a:effectLst/>
                <a:latin typeface="Helvetica" pitchFamily="2" charset="0"/>
              </a:rPr>
              <a:t>Gaussian Processes for Machine Learning</a:t>
            </a:r>
            <a:r>
              <a:rPr lang="en-US" sz="1400" dirty="0">
                <a:solidFill>
                  <a:schemeClr val="bg1"/>
                </a:solidFill>
                <a:effectLst/>
                <a:latin typeface="Helvetica" pitchFamily="2" charset="0"/>
              </a:rPr>
              <a:t>, the MIT Press,2006, </a:t>
            </a:r>
            <a:r>
              <a:rPr lang="en-US" sz="1400" dirty="0" err="1">
                <a:solidFill>
                  <a:schemeClr val="bg1"/>
                </a:solidFill>
                <a:effectLst/>
                <a:latin typeface="Helvetica" pitchFamily="2" charset="0"/>
              </a:rPr>
              <a:t>www.GaussianProcess.org</a:t>
            </a:r>
            <a:r>
              <a:rPr lang="en-US" sz="1400" dirty="0">
                <a:solidFill>
                  <a:schemeClr val="bg1"/>
                </a:solidFill>
                <a:effectLst/>
                <a:latin typeface="Helvetica" pitchFamily="2" charset="0"/>
              </a:rPr>
              <a:t>/</a:t>
            </a:r>
            <a:r>
              <a:rPr lang="en-US" sz="1400" dirty="0" err="1">
                <a:solidFill>
                  <a:schemeClr val="bg1"/>
                </a:solidFill>
                <a:effectLst/>
                <a:latin typeface="Helvetica" pitchFamily="2" charset="0"/>
              </a:rPr>
              <a:t>gpml</a:t>
            </a:r>
            <a:endParaRPr lang="en-US" sz="1400" dirty="0">
              <a:solidFill>
                <a:schemeClr val="bg1"/>
              </a:solidFill>
              <a:effectLst/>
              <a:latin typeface="Helvetica" pitchFamily="2" charset="0"/>
            </a:endParaRPr>
          </a:p>
        </p:txBody>
      </p:sp>
      <p:pic>
        <p:nvPicPr>
          <p:cNvPr id="3" name="Picture 2">
            <a:extLst>
              <a:ext uri="{FF2B5EF4-FFF2-40B4-BE49-F238E27FC236}">
                <a16:creationId xmlns:a16="http://schemas.microsoft.com/office/drawing/2014/main" id="{CC4EB0FE-186D-D561-032D-8A455E0F7DC9}"/>
              </a:ext>
            </a:extLst>
          </p:cNvPr>
          <p:cNvPicPr>
            <a:picLocks noChangeAspect="1"/>
          </p:cNvPicPr>
          <p:nvPr/>
        </p:nvPicPr>
        <p:blipFill>
          <a:blip r:embed="rId2"/>
          <a:srcRect l="7282" t="8269" r="53014" b="55168"/>
          <a:stretch>
            <a:fillRect/>
          </a:stretch>
        </p:blipFill>
        <p:spPr>
          <a:xfrm>
            <a:off x="1074382" y="1921812"/>
            <a:ext cx="3117695" cy="530963"/>
          </a:xfrm>
          <a:prstGeom prst="rect">
            <a:avLst/>
          </a:prstGeom>
        </p:spPr>
      </p:pic>
      <p:sp>
        <p:nvSpPr>
          <p:cNvPr id="19" name="Content Placeholder 1">
            <a:extLst>
              <a:ext uri="{FF2B5EF4-FFF2-40B4-BE49-F238E27FC236}">
                <a16:creationId xmlns:a16="http://schemas.microsoft.com/office/drawing/2014/main" id="{2FC17E83-B65D-8BAB-87D4-7573EACCA639}"/>
              </a:ext>
            </a:extLst>
          </p:cNvPr>
          <p:cNvSpPr txBox="1">
            <a:spLocks/>
          </p:cNvSpPr>
          <p:nvPr/>
        </p:nvSpPr>
        <p:spPr>
          <a:xfrm>
            <a:off x="8287577" y="1995845"/>
            <a:ext cx="4727520" cy="131721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a:buChar char="•"/>
              <a:defRPr sz="2400" kern="1200" baseline="0">
                <a:solidFill>
                  <a:schemeClr val="bg2">
                    <a:lumMod val="10000"/>
                  </a:schemeClr>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00000"/>
              </a:lnSpc>
              <a:spcBef>
                <a:spcPts val="500"/>
              </a:spcBef>
              <a:buFont typeface="Arial"/>
              <a:buChar char="•"/>
              <a:defRPr sz="2400" kern="1200" baseline="0">
                <a:solidFill>
                  <a:schemeClr val="bg2">
                    <a:lumMod val="10000"/>
                  </a:schemeClr>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00000"/>
              </a:lnSpc>
              <a:spcBef>
                <a:spcPts val="500"/>
              </a:spcBef>
              <a:buFont typeface="Arial"/>
              <a:buChar char="•"/>
              <a:defRPr sz="2000" kern="1200" baseline="0">
                <a:solidFill>
                  <a:schemeClr val="bg2">
                    <a:lumMod val="10000"/>
                  </a:schemeClr>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00000"/>
              </a:lnSpc>
              <a:spcBef>
                <a:spcPts val="500"/>
              </a:spcBef>
              <a:buFont typeface="Arial"/>
              <a:buChar char="•"/>
              <a:defRPr sz="1800" kern="1200" baseline="0">
                <a:solidFill>
                  <a:schemeClr val="bg2">
                    <a:lumMod val="10000"/>
                  </a:schemeClr>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t>Covariance matrix:</a:t>
            </a:r>
          </a:p>
        </p:txBody>
      </p:sp>
      <p:pic>
        <p:nvPicPr>
          <p:cNvPr id="6" name="Picture 5">
            <a:extLst>
              <a:ext uri="{FF2B5EF4-FFF2-40B4-BE49-F238E27FC236}">
                <a16:creationId xmlns:a16="http://schemas.microsoft.com/office/drawing/2014/main" id="{9CA453D4-C4F8-494E-31DA-208CA15DA792}"/>
              </a:ext>
            </a:extLst>
          </p:cNvPr>
          <p:cNvPicPr>
            <a:picLocks noChangeAspect="1"/>
          </p:cNvPicPr>
          <p:nvPr/>
        </p:nvPicPr>
        <p:blipFill>
          <a:blip r:embed="rId3"/>
          <a:stretch>
            <a:fillRect/>
          </a:stretch>
        </p:blipFill>
        <p:spPr>
          <a:xfrm>
            <a:off x="5492327" y="833246"/>
            <a:ext cx="4377899" cy="787038"/>
          </a:xfrm>
          <a:prstGeom prst="rect">
            <a:avLst/>
          </a:prstGeom>
        </p:spPr>
      </p:pic>
      <p:pic>
        <p:nvPicPr>
          <p:cNvPr id="8" name="Picture 7">
            <a:extLst>
              <a:ext uri="{FF2B5EF4-FFF2-40B4-BE49-F238E27FC236}">
                <a16:creationId xmlns:a16="http://schemas.microsoft.com/office/drawing/2014/main" id="{DE34ADB5-2EE0-92EB-2A6D-4B28E6ED6DC7}"/>
              </a:ext>
            </a:extLst>
          </p:cNvPr>
          <p:cNvPicPr>
            <a:picLocks noChangeAspect="1"/>
          </p:cNvPicPr>
          <p:nvPr/>
        </p:nvPicPr>
        <p:blipFill>
          <a:blip r:embed="rId2"/>
          <a:srcRect l="7282" t="52527" b="10910"/>
          <a:stretch>
            <a:fillRect/>
          </a:stretch>
        </p:blipFill>
        <p:spPr>
          <a:xfrm>
            <a:off x="4746948" y="2592373"/>
            <a:ext cx="7280621" cy="530963"/>
          </a:xfrm>
          <a:prstGeom prst="rect">
            <a:avLst/>
          </a:prstGeom>
        </p:spPr>
      </p:pic>
      <p:sp>
        <p:nvSpPr>
          <p:cNvPr id="18" name="Arc 17">
            <a:extLst>
              <a:ext uri="{FF2B5EF4-FFF2-40B4-BE49-F238E27FC236}">
                <a16:creationId xmlns:a16="http://schemas.microsoft.com/office/drawing/2014/main" id="{F67FEB88-B7FD-6E45-8AB8-12EEF68ECF4D}"/>
              </a:ext>
            </a:extLst>
          </p:cNvPr>
          <p:cNvSpPr/>
          <p:nvPr/>
        </p:nvSpPr>
        <p:spPr>
          <a:xfrm rot="16200000" flipH="1" flipV="1">
            <a:off x="3820956" y="-1701682"/>
            <a:ext cx="1245618" cy="6591370"/>
          </a:xfrm>
          <a:prstGeom prst="arc">
            <a:avLst>
              <a:gd name="adj1" fmla="val 16117844"/>
              <a:gd name="adj2" fmla="val 361480"/>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01AF3F75-AEE0-05EF-FBB8-B44F7AD0506C}"/>
              </a:ext>
            </a:extLst>
          </p:cNvPr>
          <p:cNvSpPr/>
          <p:nvPr/>
        </p:nvSpPr>
        <p:spPr>
          <a:xfrm rot="16200000" flipH="1" flipV="1">
            <a:off x="4107033" y="-1805944"/>
            <a:ext cx="1957524" cy="6839109"/>
          </a:xfrm>
          <a:prstGeom prst="arc">
            <a:avLst>
              <a:gd name="adj1" fmla="val 16117844"/>
              <a:gd name="adj2" fmla="val 1871884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pic>
        <p:nvPicPr>
          <p:cNvPr id="10" name="Picture 9">
            <a:extLst>
              <a:ext uri="{FF2B5EF4-FFF2-40B4-BE49-F238E27FC236}">
                <a16:creationId xmlns:a16="http://schemas.microsoft.com/office/drawing/2014/main" id="{78DD1CDE-C2DC-4C4F-DFF4-32FD2CF86022}"/>
              </a:ext>
            </a:extLst>
          </p:cNvPr>
          <p:cNvPicPr>
            <a:picLocks noChangeAspect="1"/>
          </p:cNvPicPr>
          <p:nvPr/>
        </p:nvPicPr>
        <p:blipFill>
          <a:blip r:embed="rId4"/>
          <a:srcRect t="16454"/>
          <a:stretch>
            <a:fillRect/>
          </a:stretch>
        </p:blipFill>
        <p:spPr>
          <a:xfrm>
            <a:off x="1470235" y="1101441"/>
            <a:ext cx="2508675" cy="530962"/>
          </a:xfrm>
          <a:prstGeom prst="rect">
            <a:avLst/>
          </a:prstGeom>
        </p:spPr>
      </p:pic>
      <p:pic>
        <p:nvPicPr>
          <p:cNvPr id="20" name="Picture 19">
            <a:extLst>
              <a:ext uri="{FF2B5EF4-FFF2-40B4-BE49-F238E27FC236}">
                <a16:creationId xmlns:a16="http://schemas.microsoft.com/office/drawing/2014/main" id="{D44B6879-B1C5-009D-987A-3C5810197C7D}"/>
              </a:ext>
            </a:extLst>
          </p:cNvPr>
          <p:cNvPicPr>
            <a:picLocks noChangeAspect="1"/>
          </p:cNvPicPr>
          <p:nvPr/>
        </p:nvPicPr>
        <p:blipFill>
          <a:blip r:embed="rId5"/>
          <a:stretch>
            <a:fillRect/>
          </a:stretch>
        </p:blipFill>
        <p:spPr>
          <a:xfrm>
            <a:off x="2318043" y="3408961"/>
            <a:ext cx="8333294" cy="1317211"/>
          </a:xfrm>
          <a:prstGeom prst="rect">
            <a:avLst/>
          </a:prstGeom>
        </p:spPr>
      </p:pic>
      <p:pic>
        <p:nvPicPr>
          <p:cNvPr id="24" name="Picture 23">
            <a:extLst>
              <a:ext uri="{FF2B5EF4-FFF2-40B4-BE49-F238E27FC236}">
                <a16:creationId xmlns:a16="http://schemas.microsoft.com/office/drawing/2014/main" id="{96283838-1B9C-3791-F985-00FF72CA8E3E}"/>
              </a:ext>
            </a:extLst>
          </p:cNvPr>
          <p:cNvPicPr>
            <a:picLocks noChangeAspect="1"/>
          </p:cNvPicPr>
          <p:nvPr/>
        </p:nvPicPr>
        <p:blipFill>
          <a:blip r:embed="rId6"/>
          <a:stretch>
            <a:fillRect/>
          </a:stretch>
        </p:blipFill>
        <p:spPr>
          <a:xfrm>
            <a:off x="3746555" y="4993901"/>
            <a:ext cx="7869445" cy="794736"/>
          </a:xfrm>
          <a:prstGeom prst="rect">
            <a:avLst/>
          </a:prstGeom>
        </p:spPr>
      </p:pic>
      <p:pic>
        <p:nvPicPr>
          <p:cNvPr id="11" name="Picture 10">
            <a:extLst>
              <a:ext uri="{FF2B5EF4-FFF2-40B4-BE49-F238E27FC236}">
                <a16:creationId xmlns:a16="http://schemas.microsoft.com/office/drawing/2014/main" id="{0C2BAF1D-78BD-0B63-14D4-E069A5CCC9DE}"/>
              </a:ext>
            </a:extLst>
          </p:cNvPr>
          <p:cNvPicPr>
            <a:picLocks noChangeAspect="1"/>
          </p:cNvPicPr>
          <p:nvPr/>
        </p:nvPicPr>
        <p:blipFill>
          <a:blip r:embed="rId7"/>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487614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48640" y="1051560"/>
            <a:ext cx="5349240" cy="3657600"/>
          </a:xfrm>
          <a:prstGeom prst="roundRect">
            <a:avLst>
              <a:gd name="adj" fmla="val 2000"/>
            </a:avLst>
          </a:prstGeom>
          <a:solidFill>
            <a:srgbClr val="EFF9F8"/>
          </a:solidFill>
          <a:ln w="12700">
            <a:solidFill>
              <a:srgbClr val="EFF9F8"/>
            </a:solidFill>
            <a:prstDash val="solid"/>
          </a:ln>
          <a:effectLst>
            <a:outerShdw blurRad="101600" dist="38100" dir="2700000" algn="bl" rotWithShape="0">
              <a:srgbClr val="000000">
                <a:alpha val="12000"/>
              </a:srgbClr>
            </a:outerShdw>
          </a:effectLst>
        </p:spPr>
        <p:txBody>
          <a:bodyPr/>
          <a:lstStyle/>
          <a:p>
            <a:endParaRPr lang="en-US"/>
          </a:p>
        </p:txBody>
      </p:sp>
      <p:sp>
        <p:nvSpPr>
          <p:cNvPr id="4" name="Shape 2"/>
          <p:cNvSpPr/>
          <p:nvPr/>
        </p:nvSpPr>
        <p:spPr>
          <a:xfrm>
            <a:off x="822960" y="1307592"/>
            <a:ext cx="502920" cy="502920"/>
          </a:xfrm>
          <a:prstGeom prst="ellipse">
            <a:avLst/>
          </a:prstGeom>
          <a:solidFill>
            <a:srgbClr val="0F766E"/>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941832" y="1417320"/>
            <a:ext cx="265176" cy="283464"/>
          </a:xfrm>
          <a:prstGeom prst="rect">
            <a:avLst/>
          </a:prstGeom>
        </p:spPr>
      </p:pic>
      <p:sp>
        <p:nvSpPr>
          <p:cNvPr id="6" name="Text 3"/>
          <p:cNvSpPr/>
          <p:nvPr/>
        </p:nvSpPr>
        <p:spPr>
          <a:xfrm>
            <a:off x="1463040" y="1289304"/>
            <a:ext cx="4160520" cy="548640"/>
          </a:xfrm>
          <a:prstGeom prst="rect">
            <a:avLst/>
          </a:prstGeom>
          <a:noFill/>
          <a:ln/>
        </p:spPr>
        <p:txBody>
          <a:bodyPr wrap="square" lIns="0" tIns="0" rIns="0" bIns="0" rtlCol="0" anchor="ctr"/>
          <a:lstStyle/>
          <a:p>
            <a:pPr marL="0" indent="0">
              <a:buNone/>
            </a:pPr>
            <a:r>
              <a:rPr lang="en-US" sz="2100" b="1" dirty="0">
                <a:solidFill>
                  <a:srgbClr val="0F766E"/>
                </a:solidFill>
                <a:latin typeface="Cambria" pitchFamily="34" charset="0"/>
                <a:ea typeface="Cambria" pitchFamily="34" charset="-122"/>
                <a:cs typeface="Cambria" pitchFamily="34" charset="-120"/>
              </a:rPr>
              <a:t>The big idea</a:t>
            </a:r>
            <a:endParaRPr lang="en-US" sz="2100" dirty="0"/>
          </a:p>
        </p:txBody>
      </p:sp>
      <p:sp>
        <p:nvSpPr>
          <p:cNvPr id="7" name="Text 4"/>
          <p:cNvSpPr/>
          <p:nvPr/>
        </p:nvSpPr>
        <p:spPr>
          <a:xfrm>
            <a:off x="822960" y="1965960"/>
            <a:ext cx="4800600" cy="2560320"/>
          </a:xfrm>
          <a:prstGeom prst="rect">
            <a:avLst/>
          </a:prstGeom>
          <a:noFill/>
          <a:ln/>
        </p:spPr>
        <p:txBody>
          <a:bodyPr wrap="square" lIns="0" tIns="0" rIns="0" bIns="0" rtlCol="0" anchor="t"/>
          <a:lstStyle/>
          <a:p>
            <a:pPr marL="0" indent="0">
              <a:spcAft>
                <a:spcPts val="400"/>
              </a:spcAft>
              <a:buNone/>
            </a:pPr>
            <a:r>
              <a:rPr lang="en-US" sz="1350" dirty="0">
                <a:solidFill>
                  <a:srgbClr val="1E293B"/>
                </a:solidFill>
                <a:latin typeface="Calibri" pitchFamily="34" charset="0"/>
                <a:ea typeface="Calibri" pitchFamily="34" charset="-122"/>
                <a:cs typeface="Calibri" pitchFamily="34" charset="-120"/>
              </a:rPr>
              <a:t>A kernel k(x, x′) is a similarity function: it says how alike two inputs are, and that is all many algorithms ever need.</a:t>
            </a:r>
            <a:endParaRPr lang="en-US" sz="1350" dirty="0"/>
          </a:p>
          <a:p>
            <a:pPr marL="0" indent="0">
              <a:spcAft>
                <a:spcPts val="400"/>
              </a:spcAft>
              <a:buNone/>
            </a:pPr>
            <a:endParaRPr lang="en-US" sz="1350" dirty="0"/>
          </a:p>
          <a:p>
            <a:pPr marL="0" indent="0">
              <a:spcAft>
                <a:spcPts val="400"/>
              </a:spcAft>
              <a:buNone/>
            </a:pPr>
            <a:r>
              <a:rPr lang="en-US" sz="1350" dirty="0">
                <a:solidFill>
                  <a:srgbClr val="1E293B"/>
                </a:solidFill>
                <a:latin typeface="Calibri" pitchFamily="34" charset="0"/>
                <a:ea typeface="Calibri" pitchFamily="34" charset="-122"/>
                <a:cs typeface="Calibri" pitchFamily="34" charset="-120"/>
              </a:rPr>
              <a:t>If an algorithm touches data only through inner products ⟨x, x′⟩, you can swap in any kernel — and instantly get a nonlinear version of it.</a:t>
            </a:r>
            <a:endParaRPr lang="en-US" sz="1350" dirty="0"/>
          </a:p>
          <a:p>
            <a:pPr marL="0" indent="0">
              <a:spcAft>
                <a:spcPts val="400"/>
              </a:spcAft>
              <a:buNone/>
            </a:pPr>
            <a:endParaRPr lang="en-US" sz="1350" dirty="0"/>
          </a:p>
          <a:p>
            <a:pPr marL="0" indent="0">
              <a:spcAft>
                <a:spcPts val="400"/>
              </a:spcAft>
              <a:buNone/>
            </a:pPr>
            <a:r>
              <a:rPr lang="en-US" sz="1350" dirty="0">
                <a:solidFill>
                  <a:srgbClr val="1E293B"/>
                </a:solidFill>
                <a:latin typeface="Calibri" pitchFamily="34" charset="0"/>
                <a:ea typeface="Calibri" pitchFamily="34" charset="-122"/>
                <a:cs typeface="Calibri" pitchFamily="34" charset="-120"/>
              </a:rPr>
              <a:t>A valid kernel must be symmetric and positive semi-definite (Mercer's condition) — then the Gram matrix Kᵢⱼ = k(xᵢ, xⱼ) behaves like a covariance.</a:t>
            </a:r>
            <a:endParaRPr lang="en-US" sz="1350" dirty="0"/>
          </a:p>
        </p:txBody>
      </p:sp>
      <p:sp>
        <p:nvSpPr>
          <p:cNvPr id="8" name="Shape 5"/>
          <p:cNvSpPr/>
          <p:nvPr/>
        </p:nvSpPr>
        <p:spPr>
          <a:xfrm>
            <a:off x="6263640" y="1051560"/>
            <a:ext cx="5349240" cy="3657600"/>
          </a:xfrm>
          <a:prstGeom prst="roundRect">
            <a:avLst>
              <a:gd name="adj" fmla="val 2000"/>
            </a:avLst>
          </a:prstGeom>
          <a:solidFill>
            <a:srgbClr val="F0F1FA"/>
          </a:solidFill>
          <a:ln w="12700">
            <a:solidFill>
              <a:srgbClr val="F0F1FA"/>
            </a:solidFill>
            <a:prstDash val="solid"/>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537960" y="1307592"/>
            <a:ext cx="502920" cy="502920"/>
          </a:xfrm>
          <a:prstGeom prst="ellipse">
            <a:avLst/>
          </a:prstGeom>
          <a:solidFill>
            <a:srgbClr val="312E81"/>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56832" y="1426464"/>
            <a:ext cx="265176" cy="265176"/>
          </a:xfrm>
          <a:prstGeom prst="rect">
            <a:avLst/>
          </a:prstGeom>
        </p:spPr>
      </p:pic>
      <p:sp>
        <p:nvSpPr>
          <p:cNvPr id="11" name="Text 7"/>
          <p:cNvSpPr/>
          <p:nvPr/>
        </p:nvSpPr>
        <p:spPr>
          <a:xfrm>
            <a:off x="7178040" y="1289304"/>
            <a:ext cx="4160520" cy="548640"/>
          </a:xfrm>
          <a:prstGeom prst="rect">
            <a:avLst/>
          </a:prstGeom>
          <a:noFill/>
          <a:ln/>
        </p:spPr>
        <p:txBody>
          <a:bodyPr wrap="square" lIns="0" tIns="0" rIns="0" bIns="0" rtlCol="0" anchor="ctr"/>
          <a:lstStyle/>
          <a:p>
            <a:pPr marL="0" indent="0">
              <a:buNone/>
            </a:pPr>
            <a:r>
              <a:rPr lang="en-US" sz="2100" b="1" dirty="0">
                <a:solidFill>
                  <a:srgbClr val="312E81"/>
                </a:solidFill>
                <a:latin typeface="Cambria" pitchFamily="34" charset="0"/>
                <a:ea typeface="Cambria" pitchFamily="34" charset="-122"/>
                <a:cs typeface="Cambria" pitchFamily="34" charset="-120"/>
              </a:rPr>
              <a:t>The kernel trick</a:t>
            </a:r>
            <a:endParaRPr lang="en-US" sz="2100" dirty="0"/>
          </a:p>
        </p:txBody>
      </p:sp>
      <p:sp>
        <p:nvSpPr>
          <p:cNvPr id="12" name="Shape 8"/>
          <p:cNvSpPr/>
          <p:nvPr/>
        </p:nvSpPr>
        <p:spPr>
          <a:xfrm>
            <a:off x="6537960" y="1965960"/>
            <a:ext cx="4800600" cy="566928"/>
          </a:xfrm>
          <a:prstGeom prst="roundRect">
            <a:avLst>
              <a:gd name="adj" fmla="val 9677"/>
            </a:avLst>
          </a:prstGeom>
          <a:solidFill>
            <a:srgbClr val="FFFFFF"/>
          </a:solidFill>
          <a:ln w="12700">
            <a:solidFill>
              <a:srgbClr val="C7CAE8"/>
            </a:solidFill>
            <a:prstDash val="solid"/>
          </a:ln>
        </p:spPr>
        <p:txBody>
          <a:bodyPr/>
          <a:lstStyle/>
          <a:p>
            <a:endParaRPr lang="en-US"/>
          </a:p>
        </p:txBody>
      </p:sp>
      <mc:AlternateContent xmlns:mc="http://schemas.openxmlformats.org/markup-compatibility/2006">
        <mc:Choice xmlns:a14="http://schemas.microsoft.com/office/drawing/2010/main" Requires="a14">
          <p:sp>
            <p:nvSpPr>
              <p:cNvPr id="13" name="Text 9"/>
              <p:cNvSpPr/>
              <p:nvPr/>
            </p:nvSpPr>
            <p:spPr>
              <a:xfrm>
                <a:off x="6537960" y="1965960"/>
                <a:ext cx="4800600" cy="566928"/>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1700" b="1" i="1" dirty="0" smtClean="0">
                          <a:solidFill>
                            <a:srgbClr val="312E81"/>
                          </a:solidFill>
                          <a:latin typeface="Cambria Math" panose="02040503050406030204" pitchFamily="18" charset="0"/>
                          <a:ea typeface="Cambria" pitchFamily="34" charset="-122"/>
                          <a:cs typeface="Cambria" pitchFamily="34" charset="-120"/>
                        </a:rPr>
                        <m:t>𝒌</m:t>
                      </m:r>
                      <m:r>
                        <a:rPr lang="en-US" sz="1700" b="1" i="1" dirty="0" smtClean="0">
                          <a:solidFill>
                            <a:srgbClr val="312E81"/>
                          </a:solidFill>
                          <a:latin typeface="Cambria Math" panose="02040503050406030204" pitchFamily="18" charset="0"/>
                          <a:ea typeface="Cambria" pitchFamily="34" charset="-122"/>
                          <a:cs typeface="Cambria" pitchFamily="34" charset="-120"/>
                        </a:rPr>
                        <m:t>(</m:t>
                      </m:r>
                      <m:r>
                        <a:rPr lang="en-US" sz="1700" b="1" i="1" dirty="0" smtClean="0">
                          <a:solidFill>
                            <a:srgbClr val="312E81"/>
                          </a:solidFill>
                          <a:latin typeface="Cambria Math" panose="02040503050406030204" pitchFamily="18" charset="0"/>
                          <a:ea typeface="Cambria" pitchFamily="34" charset="-122"/>
                          <a:cs typeface="Cambria" pitchFamily="34" charset="-120"/>
                        </a:rPr>
                        <m:t>𝒙</m:t>
                      </m:r>
                      <m:r>
                        <a:rPr lang="en-US" sz="1700" b="1" i="1" dirty="0" smtClean="0">
                          <a:solidFill>
                            <a:srgbClr val="312E81"/>
                          </a:solidFill>
                          <a:latin typeface="Cambria Math" panose="02040503050406030204" pitchFamily="18" charset="0"/>
                          <a:ea typeface="Cambria" pitchFamily="34" charset="-122"/>
                          <a:cs typeface="Cambria" pitchFamily="34" charset="-120"/>
                        </a:rPr>
                        <m:t>, </m:t>
                      </m:r>
                      <m:r>
                        <a:rPr lang="en-US" sz="1700" b="1" i="1" dirty="0" smtClean="0">
                          <a:solidFill>
                            <a:srgbClr val="312E81"/>
                          </a:solidFill>
                          <a:latin typeface="Cambria Math" panose="02040503050406030204" pitchFamily="18" charset="0"/>
                          <a:ea typeface="Cambria" pitchFamily="34" charset="-122"/>
                          <a:cs typeface="Cambria" pitchFamily="34" charset="-120"/>
                        </a:rPr>
                        <m:t>𝒙</m:t>
                      </m:r>
                      <m:r>
                        <a:rPr lang="en-US" sz="1700" b="1" i="1" dirty="0" smtClean="0">
                          <a:solidFill>
                            <a:srgbClr val="312E81"/>
                          </a:solidFill>
                          <a:latin typeface="Cambria Math" panose="02040503050406030204" pitchFamily="18" charset="0"/>
                          <a:ea typeface="Cambria" pitchFamily="34" charset="-122"/>
                          <a:cs typeface="Cambria" pitchFamily="34" charset="-120"/>
                        </a:rPr>
                        <m:t>′)  =  ⟨ </m:t>
                      </m:r>
                      <m:r>
                        <a:rPr lang="en-US" sz="1700" b="1" i="1" dirty="0" smtClean="0">
                          <a:solidFill>
                            <a:srgbClr val="312E81"/>
                          </a:solidFill>
                          <a:latin typeface="Cambria Math" panose="02040503050406030204" pitchFamily="18" charset="0"/>
                          <a:ea typeface="Cambria" pitchFamily="34" charset="-122"/>
                          <a:cs typeface="Cambria" pitchFamily="34" charset="-120"/>
                        </a:rPr>
                        <m:t>𝝋</m:t>
                      </m:r>
                      <m:r>
                        <a:rPr lang="en-US" sz="1700" b="1" i="1" dirty="0" smtClean="0">
                          <a:solidFill>
                            <a:srgbClr val="312E81"/>
                          </a:solidFill>
                          <a:latin typeface="Cambria Math" panose="02040503050406030204" pitchFamily="18" charset="0"/>
                          <a:ea typeface="Cambria" pitchFamily="34" charset="-122"/>
                          <a:cs typeface="Cambria" pitchFamily="34" charset="-120"/>
                        </a:rPr>
                        <m:t>(</m:t>
                      </m:r>
                      <m:r>
                        <a:rPr lang="en-US" sz="1700" b="1" i="1" dirty="0" smtClean="0">
                          <a:solidFill>
                            <a:srgbClr val="312E81"/>
                          </a:solidFill>
                          <a:latin typeface="Cambria Math" panose="02040503050406030204" pitchFamily="18" charset="0"/>
                          <a:ea typeface="Cambria" pitchFamily="34" charset="-122"/>
                          <a:cs typeface="Cambria" pitchFamily="34" charset="-120"/>
                        </a:rPr>
                        <m:t>𝒙</m:t>
                      </m:r>
                      <m:r>
                        <a:rPr lang="en-US" sz="1700" b="1" i="1" dirty="0" smtClean="0">
                          <a:solidFill>
                            <a:srgbClr val="312E81"/>
                          </a:solidFill>
                          <a:latin typeface="Cambria Math" panose="02040503050406030204" pitchFamily="18" charset="0"/>
                          <a:ea typeface="Cambria" pitchFamily="34" charset="-122"/>
                          <a:cs typeface="Cambria" pitchFamily="34" charset="-120"/>
                        </a:rPr>
                        <m:t>), </m:t>
                      </m:r>
                      <m:r>
                        <a:rPr lang="en-US" sz="1700" b="1" i="1" dirty="0" smtClean="0">
                          <a:solidFill>
                            <a:srgbClr val="312E81"/>
                          </a:solidFill>
                          <a:latin typeface="Cambria Math" panose="02040503050406030204" pitchFamily="18" charset="0"/>
                          <a:ea typeface="Cambria" pitchFamily="34" charset="-122"/>
                          <a:cs typeface="Cambria" pitchFamily="34" charset="-120"/>
                        </a:rPr>
                        <m:t>𝝋</m:t>
                      </m:r>
                      <m:r>
                        <a:rPr lang="en-US" sz="1700" b="1" i="1" dirty="0" smtClean="0">
                          <a:solidFill>
                            <a:srgbClr val="312E81"/>
                          </a:solidFill>
                          <a:latin typeface="Cambria Math" panose="02040503050406030204" pitchFamily="18" charset="0"/>
                          <a:ea typeface="Cambria" pitchFamily="34" charset="-122"/>
                          <a:cs typeface="Cambria" pitchFamily="34" charset="-120"/>
                        </a:rPr>
                        <m:t>(</m:t>
                      </m:r>
                      <m:r>
                        <a:rPr lang="en-US" sz="1700" b="1" i="1" dirty="0" smtClean="0">
                          <a:solidFill>
                            <a:srgbClr val="312E81"/>
                          </a:solidFill>
                          <a:latin typeface="Cambria Math" panose="02040503050406030204" pitchFamily="18" charset="0"/>
                          <a:ea typeface="Cambria" pitchFamily="34" charset="-122"/>
                          <a:cs typeface="Cambria" pitchFamily="34" charset="-120"/>
                        </a:rPr>
                        <m:t>𝒙</m:t>
                      </m:r>
                      <m:r>
                        <a:rPr lang="en-US" sz="1700" b="1" i="1" dirty="0" smtClean="0">
                          <a:solidFill>
                            <a:srgbClr val="312E81"/>
                          </a:solidFill>
                          <a:latin typeface="Cambria Math" panose="02040503050406030204" pitchFamily="18" charset="0"/>
                          <a:ea typeface="Cambria" pitchFamily="34" charset="-122"/>
                          <a:cs typeface="Cambria" pitchFamily="34" charset="-120"/>
                        </a:rPr>
                        <m:t>′) ⟩</m:t>
                      </m:r>
                    </m:oMath>
                  </m:oMathPara>
                </a14:m>
              </a:p>
            </p:txBody>
          </p:sp>
        </mc:Choice>
        <mc:Fallback>
          <p:sp>
            <p:nvSpPr>
              <p:cNvPr id="13" name="Text 9"/>
              <p:cNvSpPr>
                <a:spLocks noRot="1" noChangeAspect="1" noMove="1" noResize="1" noEditPoints="1" noAdjustHandles="1" noChangeArrowheads="1" noChangeShapeType="1" noTextEdit="1"/>
              </p:cNvSpPr>
              <p:nvPr/>
            </p:nvSpPr>
            <p:spPr>
              <a:xfrm>
                <a:off x="6537960" y="1965960"/>
                <a:ext cx="4800600" cy="566928"/>
              </a:xfrm>
              <a:prstGeom prst="rect">
                <a:avLst/>
              </a:prstGeom>
              <a:blipFill>
                <a:blip r:embed="rId5"/>
                <a:stretch>
                  <a:fillRect/>
                </a:stretch>
              </a:blip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 10"/>
              <p:cNvSpPr/>
              <p:nvPr/>
            </p:nvSpPr>
            <p:spPr>
              <a:xfrm>
                <a:off x="6537960" y="2715768"/>
                <a:ext cx="4800600" cy="1828800"/>
              </a:xfrm>
              <a:prstGeom prst="rect">
                <a:avLst/>
              </a:prstGeom>
              <a:noFill/>
              <a:ln/>
            </p:spPr>
            <p:txBody>
              <a:bodyPr wrap="square" lIns="0" tIns="0" rIns="0" bIns="0" rtlCol="0" anchor="t"/>
              <a:lstStyle/>
              <a:p>
                <a:pPr marL="0" indent="0">
                  <a:spcAft>
                    <a:spcPts val="400"/>
                  </a:spcAft>
                  <a:buNone/>
                </a:pPr>
                <a:r>
                  <a:rPr lang="en-US" sz="1350" dirty="0">
                    <a:solidFill>
                      <a:srgbClr val="1E293B"/>
                    </a:solidFill>
                    <a:latin typeface="Calibri" pitchFamily="34" charset="0"/>
                    <a:ea typeface="Calibri" pitchFamily="34" charset="-122"/>
                    <a:cs typeface="Calibri" pitchFamily="34" charset="-120"/>
                  </a:rPr>
                  <a:t>Every kernel is actually an inner product in some feature space φ(x) — possibly infinite-dimensional.</a:t>
                </a:r>
                <a:endParaRPr lang="en-US" sz="1350" dirty="0"/>
              </a:p>
              <a:p>
                <a:pPr marL="0" indent="0">
                  <a:spcAft>
                    <a:spcPts val="400"/>
                  </a:spcAft>
                  <a:buNone/>
                </a:pPr>
                <a:endParaRPr lang="en-US" sz="1350" dirty="0"/>
              </a:p>
              <a:p>
                <a:pPr marL="0" indent="0">
                  <a:spcAft>
                    <a:spcPts val="400"/>
                  </a:spcAft>
                  <a:buNone/>
                </a:pPr>
                <a:r>
                  <a:rPr lang="en-US" sz="1350" b="1" dirty="0">
                    <a:solidFill>
                      <a:srgbClr val="1E293B"/>
                    </a:solidFill>
                    <a:latin typeface="Calibri" pitchFamily="34" charset="0"/>
                    <a:ea typeface="Calibri" pitchFamily="34" charset="-122"/>
                    <a:cs typeface="Calibri" pitchFamily="34" charset="-120"/>
                  </a:rPr>
                  <a:t>The trick: </a:t>
                </a:r>
                <a:r>
                  <a:rPr lang="en-US" sz="1350" dirty="0">
                    <a:solidFill>
                      <a:srgbClr val="1E293B"/>
                    </a:solidFill>
                    <a:latin typeface="Calibri" pitchFamily="34" charset="0"/>
                    <a:ea typeface="Calibri" pitchFamily="34" charset="-122"/>
                    <a:cs typeface="Calibri" pitchFamily="34" charset="-120"/>
                  </a:rPr>
                  <a:t>you never compute φ. Evaluating k(x, x′) directly gives the high-dimensional inner product at low-dimensional cost.</a:t>
                </a:r>
                <a:endParaRPr lang="en-US" sz="1350" dirty="0"/>
              </a:p>
              <a:p>
                <a:pPr marL="0" indent="0">
                  <a:spcAft>
                    <a:spcPts val="400"/>
                  </a:spcAft>
                  <a:buNone/>
                </a:pPr>
                <a:endParaRPr lang="en-US" sz="1350" dirty="0"/>
              </a:p>
              <a:p>
                <a:pPr marL="0" indent="0">
                  <a:spcAft>
                    <a:spcPts val="400"/>
                  </a:spcAft>
                  <a:buNone/>
                </a:pPr>
                <a:r>
                  <a:rPr lang="en-US" sz="1350" dirty="0">
                    <a:solidFill>
                      <a:srgbClr val="1E293B"/>
                    </a:solidFill>
                    <a:latin typeface="Calibri" pitchFamily="34" charset="0"/>
                    <a:ea typeface="Calibri" pitchFamily="34" charset="-122"/>
                    <a:cs typeface="Calibri" pitchFamily="34" charset="-120"/>
                  </a:rPr>
                  <a:t>Example: the RBF kernel </a:t>
                </a:r>
                <a14:m>
                  <m:oMath xmlns:m="http://schemas.openxmlformats.org/officeDocument/2006/math">
                    <m:r>
                      <m:rPr>
                        <m:sty m:val="p"/>
                      </m:rPr>
                      <a:rPr lang="en-US" sz="1350" i="1" dirty="0" smtClean="0">
                        <a:solidFill>
                          <a:srgbClr val="1E293B"/>
                        </a:solidFill>
                        <a:latin typeface="Cambria Math" panose="02040503050406030204" pitchFamily="18" charset="0"/>
                        <a:ea typeface="Calibri" pitchFamily="34" charset="-122"/>
                        <a:cs typeface="Calibri" pitchFamily="34" charset="-120"/>
                      </a:rPr>
                      <m:t>exp</m:t>
                    </m:r>
                    <m:r>
                      <a:rPr lang="en-US" sz="1350" i="1" dirty="0" smtClean="0">
                        <a:solidFill>
                          <a:srgbClr val="1E293B"/>
                        </a:solidFill>
                        <a:latin typeface="Cambria Math" panose="02040503050406030204" pitchFamily="18" charset="0"/>
                        <a:ea typeface="Calibri" pitchFamily="34" charset="-122"/>
                        <a:cs typeface="Calibri" pitchFamily="34" charset="-120"/>
                      </a:rPr>
                      <m:t>⁡(−‖</m:t>
                    </m:r>
                    <m:r>
                      <a:rPr lang="en-US" sz="1350" i="1" dirty="0" smtClean="0">
                        <a:solidFill>
                          <a:srgbClr val="1E293B"/>
                        </a:solidFill>
                        <a:latin typeface="Cambria Math" panose="02040503050406030204" pitchFamily="18" charset="0"/>
                        <a:ea typeface="Calibri" pitchFamily="34" charset="-122"/>
                        <a:cs typeface="Calibri" pitchFamily="34" charset="-120"/>
                      </a:rPr>
                      <m:t>𝑥</m:t>
                    </m:r>
                    <m:r>
                      <a:rPr lang="en-US" sz="1350" i="1" dirty="0" smtClean="0">
                        <a:solidFill>
                          <a:srgbClr val="1E293B"/>
                        </a:solidFill>
                        <a:latin typeface="Cambria Math" panose="02040503050406030204" pitchFamily="18" charset="0"/>
                        <a:ea typeface="Calibri" pitchFamily="34" charset="-122"/>
                        <a:cs typeface="Calibri" pitchFamily="34" charset="-120"/>
                      </a:rPr>
                      <m:t>−</m:t>
                    </m:r>
                    <m:r>
                      <a:rPr lang="en-US" sz="1350" i="1" dirty="0" smtClean="0">
                        <a:solidFill>
                          <a:srgbClr val="1E293B"/>
                        </a:solidFill>
                        <a:latin typeface="Cambria Math" panose="02040503050406030204" pitchFamily="18" charset="0"/>
                        <a:ea typeface="Calibri" pitchFamily="34" charset="-122"/>
                        <a:cs typeface="Calibri" pitchFamily="34" charset="-120"/>
                      </a:rPr>
                      <m:t>𝑥</m:t>
                    </m:r>
                    <m:r>
                      <a:rPr lang="en-US" sz="1350" i="1" dirty="0" smtClean="0">
                        <a:solidFill>
                          <a:srgbClr val="1E293B"/>
                        </a:solidFill>
                        <a:latin typeface="Cambria Math" panose="02040503050406030204" pitchFamily="18" charset="0"/>
                        <a:ea typeface="Calibri" pitchFamily="34" charset="-122"/>
                        <a:cs typeface="Calibri" pitchFamily="34" charset="-120"/>
                      </a:rPr>
                      <m:t>′‖²/2ℓ²)</m:t>
                    </m:r>
                  </m:oMath>
                </a14:m>
                <a:r>
                  <a:rPr lang="en-US" sz="1350" dirty="0">
                    <a:solidFill>
                      <a:srgbClr val="1E293B"/>
                    </a:solidFill>
                    <a:latin typeface="Calibri" pitchFamily="34" charset="0"/>
                    <a:ea typeface="Calibri" pitchFamily="34" charset="-122"/>
                    <a:cs typeface="Calibri" pitchFamily="34" charset="-120"/>
                  </a:rPr>
                  <a:t> corresponds to an infinite-dimensional φ — yet costs one subtraction and one exp.</a:t>
                </a:r>
                <a:endParaRPr lang="en-US" sz="1350" dirty="0"/>
              </a:p>
            </p:txBody>
          </p:sp>
        </mc:Choice>
        <mc:Fallback>
          <p:sp>
            <p:nvSpPr>
              <p:cNvPr id="14" name="Text 10"/>
              <p:cNvSpPr>
                <a:spLocks noRot="1" noChangeAspect="1" noMove="1" noResize="1" noEditPoints="1" noAdjustHandles="1" noChangeArrowheads="1" noChangeShapeType="1" noTextEdit="1"/>
              </p:cNvSpPr>
              <p:nvPr/>
            </p:nvSpPr>
            <p:spPr>
              <a:xfrm>
                <a:off x="6537960" y="2715768"/>
                <a:ext cx="4800600" cy="1828800"/>
              </a:xfrm>
              <a:prstGeom prst="rect">
                <a:avLst/>
              </a:prstGeom>
              <a:blipFill>
                <a:blip r:embed="rId6"/>
                <a:stretch>
                  <a:fillRect l="-2381" t="-3448" r="-1058" b="-6897"/>
                </a:stretch>
              </a:blipFill>
              <a:ln/>
            </p:spPr>
            <p:txBody>
              <a:bodyPr/>
              <a:lstStyle/>
              <a:p>
                <a:r>
                  <a:rPr lang="en-US">
                    <a:noFill/>
                  </a:rPr>
                  <a:t> </a:t>
                </a:r>
              </a:p>
            </p:txBody>
          </p:sp>
        </mc:Fallback>
      </mc:AlternateContent>
      <p:sp>
        <p:nvSpPr>
          <p:cNvPr id="15" name="Shape 11"/>
          <p:cNvSpPr/>
          <p:nvPr/>
        </p:nvSpPr>
        <p:spPr>
          <a:xfrm>
            <a:off x="548640" y="4937760"/>
            <a:ext cx="11064240" cy="1417320"/>
          </a:xfrm>
          <a:prstGeom prst="roundRect">
            <a:avLst>
              <a:gd name="adj" fmla="val 5161"/>
            </a:avLst>
          </a:prstGeom>
          <a:solidFill>
            <a:srgbClr val="F8FAFC"/>
          </a:solidFill>
          <a:ln w="12700">
            <a:solidFill>
              <a:srgbClr val="E2E8F0"/>
            </a:solidFill>
            <a:prstDash val="solid"/>
          </a:ln>
        </p:spPr>
        <p:txBody>
          <a:bodyPr/>
          <a:lstStyle/>
          <a:p>
            <a:endParaRPr lang="en-US"/>
          </a:p>
        </p:txBody>
      </p:sp>
      <p:pic>
        <p:nvPicPr>
          <p:cNvPr id="16" name="Image 2" descr="preencoded.png"/>
          <p:cNvPicPr>
            <a:picLocks noChangeAspect="1"/>
          </p:cNvPicPr>
          <p:nvPr/>
        </p:nvPicPr>
        <p:blipFill>
          <a:blip r:embed="rId7"/>
          <a:stretch>
            <a:fillRect/>
          </a:stretch>
        </p:blipFill>
        <p:spPr>
          <a:xfrm>
            <a:off x="868680" y="5468112"/>
            <a:ext cx="347472" cy="347472"/>
          </a:xfrm>
          <a:prstGeom prst="rect">
            <a:avLst/>
          </a:prstGeom>
        </p:spPr>
      </p:pic>
      <p:sp>
        <p:nvSpPr>
          <p:cNvPr id="17" name="Text 12"/>
          <p:cNvSpPr/>
          <p:nvPr/>
        </p:nvSpPr>
        <p:spPr>
          <a:xfrm>
            <a:off x="1417320" y="5029200"/>
            <a:ext cx="10058400" cy="1234440"/>
          </a:xfrm>
          <a:prstGeom prst="rect">
            <a:avLst/>
          </a:prstGeom>
          <a:noFill/>
          <a:ln/>
        </p:spPr>
        <p:txBody>
          <a:bodyPr wrap="square" lIns="0" tIns="0" rIns="0" bIns="0" rtlCol="0" anchor="ctr"/>
          <a:lstStyle/>
          <a:p>
            <a:pPr marL="0" indent="0">
              <a:spcAft>
                <a:spcPts val="500"/>
              </a:spcAft>
              <a:buNone/>
            </a:pPr>
            <a:r>
              <a:rPr lang="en-US" sz="1350" b="1" dirty="0">
                <a:solidFill>
                  <a:srgbClr val="1E293B"/>
                </a:solidFill>
                <a:latin typeface="Calibri" pitchFamily="34" charset="0"/>
                <a:ea typeface="Calibri" pitchFamily="34" charset="-122"/>
                <a:cs typeface="Calibri" pitchFamily="34" charset="-120"/>
              </a:rPr>
              <a:t>A small kernel zoo:  </a:t>
            </a:r>
            <a:r>
              <a:rPr lang="en-US" sz="1350" dirty="0">
                <a:solidFill>
                  <a:srgbClr val="1E293B"/>
                </a:solidFill>
                <a:latin typeface="Calibri" pitchFamily="34" charset="0"/>
                <a:ea typeface="Calibri" pitchFamily="34" charset="-122"/>
                <a:cs typeface="Calibri" pitchFamily="34" charset="-120"/>
              </a:rPr>
              <a:t>linear ⟨x, x′⟩ · polynomial (⟨x, x′⟩ + c)ᵈ · RBF (infinitely smooth) · Matérn (tunable smoothness ν)</a:t>
            </a:r>
            <a:endParaRPr lang="en-US" sz="1350" dirty="0"/>
          </a:p>
          <a:p>
            <a:pPr marL="0" indent="0">
              <a:spcAft>
                <a:spcPts val="500"/>
              </a:spcAft>
              <a:buNone/>
            </a:pPr>
            <a:r>
              <a:rPr lang="en-US" sz="1350" b="1" dirty="0">
                <a:solidFill>
                  <a:srgbClr val="1E293B"/>
                </a:solidFill>
                <a:latin typeface="Calibri" pitchFamily="34" charset="0"/>
                <a:ea typeface="Calibri" pitchFamily="34" charset="-122"/>
                <a:cs typeface="Calibri" pitchFamily="34" charset="-120"/>
              </a:rPr>
              <a:t>Build your own:  </a:t>
            </a:r>
            <a:r>
              <a:rPr lang="en-US" sz="1350" dirty="0">
                <a:solidFill>
                  <a:srgbClr val="1E293B"/>
                </a:solidFill>
                <a:latin typeface="Calibri" pitchFamily="34" charset="0"/>
                <a:ea typeface="Calibri" pitchFamily="34" charset="-122"/>
                <a:cs typeface="Calibri" pitchFamily="34" charset="-120"/>
              </a:rPr>
              <a:t>sums and products of kernels are kernels — e.g. amplitude × Matérn + noise from the last lecture.</a:t>
            </a:r>
            <a:endParaRPr lang="en-US" sz="1350" dirty="0"/>
          </a:p>
          <a:p>
            <a:pPr marL="0" indent="0">
              <a:spcAft>
                <a:spcPts val="500"/>
              </a:spcAft>
              <a:buNone/>
            </a:pPr>
            <a:r>
              <a:rPr lang="en-US" sz="1350" b="1" dirty="0">
                <a:solidFill>
                  <a:srgbClr val="1E293B"/>
                </a:solidFill>
                <a:latin typeface="Calibri" pitchFamily="34" charset="0"/>
                <a:ea typeface="Calibri" pitchFamily="34" charset="-122"/>
                <a:cs typeface="Calibri" pitchFamily="34" charset="-120"/>
              </a:rPr>
              <a:t>Where you'll meet them:  </a:t>
            </a:r>
            <a:r>
              <a:rPr lang="en-US" sz="1350" i="1" dirty="0">
                <a:solidFill>
                  <a:srgbClr val="64748B"/>
                </a:solidFill>
                <a:latin typeface="Calibri" pitchFamily="34" charset="0"/>
                <a:ea typeface="Calibri" pitchFamily="34" charset="-122"/>
                <a:cs typeface="Calibri" pitchFamily="34" charset="-120"/>
              </a:rPr>
              <a:t>SVMs, kernel ridge regression, kernel PCA, and Gaussian processes — where k doubles as the covariance function.</a:t>
            </a:r>
            <a:endParaRPr lang="en-US" sz="1350" dirty="0"/>
          </a:p>
        </p:txBody>
      </p:sp>
      <p:pic>
        <p:nvPicPr>
          <p:cNvPr id="18" name="Picture 17">
            <a:extLst>
              <a:ext uri="{FF2B5EF4-FFF2-40B4-BE49-F238E27FC236}">
                <a16:creationId xmlns:a16="http://schemas.microsoft.com/office/drawing/2014/main" id="{C0D822FC-272E-723F-C3F6-16A51D49AEC5}"/>
              </a:ext>
            </a:extLst>
          </p:cNvPr>
          <p:cNvPicPr>
            <a:picLocks noChangeAspect="1"/>
          </p:cNvPicPr>
          <p:nvPr/>
        </p:nvPicPr>
        <p:blipFill>
          <a:blip r:embed="rId8"/>
          <a:stretch>
            <a:fillRect/>
          </a:stretch>
        </p:blipFill>
        <p:spPr>
          <a:xfrm>
            <a:off x="11020888" y="6412013"/>
            <a:ext cx="1190224" cy="450922"/>
          </a:xfrm>
          <a:prstGeom prst="rect">
            <a:avLst/>
          </a:prstGeom>
        </p:spPr>
      </p:pic>
      <p:sp>
        <p:nvSpPr>
          <p:cNvPr id="21" name="Title 4">
            <a:extLst>
              <a:ext uri="{FF2B5EF4-FFF2-40B4-BE49-F238E27FC236}">
                <a16:creationId xmlns:a16="http://schemas.microsoft.com/office/drawing/2014/main" id="{ED5B4201-43BC-217D-F424-AF39942608F0}"/>
              </a:ext>
            </a:extLst>
          </p:cNvPr>
          <p:cNvSpPr txBox="1">
            <a:spLocks/>
          </p:cNvSpPr>
          <p:nvPr/>
        </p:nvSpPr>
        <p:spPr>
          <a:xfrm>
            <a:off x="576000" y="207037"/>
            <a:ext cx="11041200" cy="530963"/>
          </a:xfrm>
          <a:prstGeom prst="rect">
            <a:avLst/>
          </a:prstGeom>
        </p:spPr>
        <p:txBody>
          <a:bodyPr>
            <a:normAutofit fontScale="90000" lnSpcReduction="10000"/>
          </a:bodyPr>
          <a:lstStyle>
            <a:lvl1pPr algn="ctr" defTabSz="914400" rtl="0" eaLnBrk="1" latinLnBrk="0" hangingPunct="1">
              <a:lnSpc>
                <a:spcPct val="100000"/>
              </a:lnSpc>
              <a:spcBef>
                <a:spcPct val="0"/>
              </a:spcBef>
              <a:buNone/>
              <a:defRPr sz="3500" b="1" kern="1200" baseline="0">
                <a:solidFill>
                  <a:schemeClr val="tx2"/>
                </a:solidFill>
                <a:latin typeface="+mj-lt"/>
                <a:ea typeface="Calibri" panose="020F0502020204030204" pitchFamily="34" charset="0"/>
                <a:cs typeface="Calibri" panose="020F0502020204030204" pitchFamily="34" charset="0"/>
              </a:defRPr>
            </a:lvl1pPr>
          </a:lstStyle>
          <a:p>
            <a:r>
              <a:rPr lang="en-US" dirty="0"/>
              <a:t>Kernel methods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48640" y="1051560"/>
            <a:ext cx="5349240" cy="4678680"/>
          </a:xfrm>
          <a:prstGeom prst="roundRect">
            <a:avLst>
              <a:gd name="adj" fmla="val 1758"/>
            </a:avLst>
          </a:prstGeom>
          <a:solidFill>
            <a:srgbClr val="EFF9F8"/>
          </a:solidFill>
          <a:ln w="12700">
            <a:solidFill>
              <a:srgbClr val="EFF9F8"/>
            </a:solidFill>
            <a:prstDash val="solid"/>
          </a:ln>
          <a:effectLst>
            <a:outerShdw blurRad="101600" dist="38100" dir="2700000" algn="bl" rotWithShape="0">
              <a:srgbClr val="000000">
                <a:alpha val="12000"/>
              </a:srgbClr>
            </a:outerShdw>
          </a:effectLst>
        </p:spPr>
        <p:txBody>
          <a:bodyPr/>
          <a:lstStyle/>
          <a:p>
            <a:endParaRPr lang="en-US"/>
          </a:p>
        </p:txBody>
      </p:sp>
      <p:sp>
        <p:nvSpPr>
          <p:cNvPr id="4" name="Shape 2"/>
          <p:cNvSpPr/>
          <p:nvPr/>
        </p:nvSpPr>
        <p:spPr>
          <a:xfrm>
            <a:off x="6263640" y="1051560"/>
            <a:ext cx="5349240" cy="4678680"/>
          </a:xfrm>
          <a:prstGeom prst="roundRect">
            <a:avLst>
              <a:gd name="adj" fmla="val 1758"/>
            </a:avLst>
          </a:prstGeom>
          <a:solidFill>
            <a:srgbClr val="F0F1FA"/>
          </a:solidFill>
          <a:ln w="12700">
            <a:solidFill>
              <a:srgbClr val="F0F1FA"/>
            </a:solidFill>
            <a:prstDash val="solid"/>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822960" y="1307592"/>
            <a:ext cx="502920" cy="502920"/>
          </a:xfrm>
          <a:prstGeom prst="ellipse">
            <a:avLst/>
          </a:prstGeom>
          <a:solidFill>
            <a:srgbClr val="0F766E"/>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32688" y="1417320"/>
            <a:ext cx="283464" cy="283464"/>
          </a:xfrm>
          <a:prstGeom prst="rect">
            <a:avLst/>
          </a:prstGeom>
        </p:spPr>
      </p:pic>
      <p:sp>
        <p:nvSpPr>
          <p:cNvPr id="7" name="Text 4"/>
          <p:cNvSpPr/>
          <p:nvPr/>
        </p:nvSpPr>
        <p:spPr>
          <a:xfrm>
            <a:off x="1463040" y="1289304"/>
            <a:ext cx="4160520" cy="548640"/>
          </a:xfrm>
          <a:prstGeom prst="rect">
            <a:avLst/>
          </a:prstGeom>
          <a:noFill/>
          <a:ln/>
        </p:spPr>
        <p:txBody>
          <a:bodyPr wrap="square" lIns="0" tIns="0" rIns="0" bIns="0" rtlCol="0" anchor="ctr"/>
          <a:lstStyle/>
          <a:p>
            <a:pPr marL="0" indent="0">
              <a:buNone/>
            </a:pPr>
            <a:r>
              <a:rPr lang="en-US" sz="2100" b="1" dirty="0">
                <a:solidFill>
                  <a:srgbClr val="0F766E"/>
                </a:solidFill>
                <a:latin typeface="Cambria" pitchFamily="34" charset="0"/>
                <a:ea typeface="Cambria" pitchFamily="34" charset="-122"/>
                <a:cs typeface="Cambria" pitchFamily="34" charset="-120"/>
              </a:rPr>
              <a:t>Choose GPR when…</a:t>
            </a:r>
            <a:endParaRPr lang="en-US" sz="2100" dirty="0"/>
          </a:p>
        </p:txBody>
      </p:sp>
      <p:sp>
        <p:nvSpPr>
          <p:cNvPr id="8" name="Shape 5"/>
          <p:cNvSpPr/>
          <p:nvPr/>
        </p:nvSpPr>
        <p:spPr>
          <a:xfrm>
            <a:off x="6537960" y="1307592"/>
            <a:ext cx="502920" cy="502920"/>
          </a:xfrm>
          <a:prstGeom prst="ellipse">
            <a:avLst/>
          </a:prstGeom>
          <a:solidFill>
            <a:srgbClr val="312E81"/>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6647688" y="1417320"/>
            <a:ext cx="283464" cy="283464"/>
          </a:xfrm>
          <a:prstGeom prst="rect">
            <a:avLst/>
          </a:prstGeom>
        </p:spPr>
      </p:pic>
      <p:sp>
        <p:nvSpPr>
          <p:cNvPr id="10" name="Text 6"/>
          <p:cNvSpPr/>
          <p:nvPr/>
        </p:nvSpPr>
        <p:spPr>
          <a:xfrm>
            <a:off x="7178040" y="1289304"/>
            <a:ext cx="4160520" cy="548640"/>
          </a:xfrm>
          <a:prstGeom prst="rect">
            <a:avLst/>
          </a:prstGeom>
          <a:noFill/>
          <a:ln/>
        </p:spPr>
        <p:txBody>
          <a:bodyPr wrap="square" lIns="0" tIns="0" rIns="0" bIns="0" rtlCol="0" anchor="ctr"/>
          <a:lstStyle/>
          <a:p>
            <a:pPr marL="0" indent="0">
              <a:buNone/>
            </a:pPr>
            <a:r>
              <a:rPr lang="en-US" sz="2100" b="1" dirty="0">
                <a:solidFill>
                  <a:srgbClr val="312E81"/>
                </a:solidFill>
                <a:latin typeface="Cambria" pitchFamily="34" charset="0"/>
                <a:ea typeface="Cambria" pitchFamily="34" charset="-122"/>
                <a:cs typeface="Cambria" pitchFamily="34" charset="-120"/>
              </a:rPr>
              <a:t>Choose a neural network when…</a:t>
            </a:r>
            <a:endParaRPr lang="en-US" sz="2100" dirty="0"/>
          </a:p>
        </p:txBody>
      </p:sp>
      <p:sp>
        <p:nvSpPr>
          <p:cNvPr id="11" name="Text 7"/>
          <p:cNvSpPr/>
          <p:nvPr/>
        </p:nvSpPr>
        <p:spPr>
          <a:xfrm>
            <a:off x="822960" y="2011680"/>
            <a:ext cx="4800600" cy="3017520"/>
          </a:xfrm>
          <a:prstGeom prst="rect">
            <a:avLst/>
          </a:prstGeom>
          <a:noFill/>
          <a:ln/>
        </p:spPr>
        <p:txBody>
          <a:bodyPr wrap="square" lIns="0" tIns="0" rIns="0" bIns="0" rtlCol="0" anchor="t"/>
          <a:lstStyle/>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Data is small or expensive</a:t>
            </a:r>
            <a:r>
              <a:rPr lang="en-US" dirty="0">
                <a:solidFill>
                  <a:srgbClr val="1E293B"/>
                </a:solidFill>
                <a:latin typeface="Calibri" pitchFamily="34" charset="0"/>
                <a:ea typeface="Calibri" pitchFamily="34" charset="-122"/>
                <a:cs typeface="Calibri" pitchFamily="34" charset="-120"/>
              </a:rPr>
              <a:t> — 10–10k points; the kernel prior makes every sample count</a:t>
            </a:r>
            <a:endParaRPr lang="en-US" dirty="0"/>
          </a:p>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Calibrated uncertainty matters</a:t>
            </a:r>
            <a:r>
              <a:rPr lang="en-US" dirty="0">
                <a:solidFill>
                  <a:srgbClr val="1E293B"/>
                </a:solidFill>
                <a:latin typeface="Calibri" pitchFamily="34" charset="0"/>
                <a:ea typeface="Calibri" pitchFamily="34" charset="-122"/>
                <a:cs typeface="Calibri" pitchFamily="34" charset="-120"/>
              </a:rPr>
              <a:t> — posterior error bars drive Bayesian optimization, active learning, safety margins</a:t>
            </a:r>
            <a:endParaRPr lang="en-US" dirty="0"/>
          </a:p>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Inputs are low-dimensional</a:t>
            </a:r>
            <a:r>
              <a:rPr lang="en-US" dirty="0">
                <a:solidFill>
                  <a:srgbClr val="1E293B"/>
                </a:solidFill>
                <a:latin typeface="Calibri" pitchFamily="34" charset="0"/>
                <a:ea typeface="Calibri" pitchFamily="34" charset="-122"/>
                <a:cs typeface="Calibri" pitchFamily="34" charset="-120"/>
              </a:rPr>
              <a:t> (≲ 20 dims), and the response is smooth-ish / stationary</a:t>
            </a:r>
            <a:endParaRPr lang="en-US" dirty="0"/>
          </a:p>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Few knobs, no validation set</a:t>
            </a:r>
            <a:r>
              <a:rPr lang="en-US" dirty="0">
                <a:solidFill>
                  <a:srgbClr val="1E293B"/>
                </a:solidFill>
                <a:latin typeface="Calibri" pitchFamily="34" charset="0"/>
                <a:ea typeface="Calibri" pitchFamily="34" charset="-122"/>
                <a:cs typeface="Calibri" pitchFamily="34" charset="-120"/>
              </a:rPr>
              <a:t> — 5–10 hyperparameters tuned by marginal likelihood; </a:t>
            </a:r>
            <a:endParaRPr lang="en-US" dirty="0"/>
          </a:p>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Surrogate modeling</a:t>
            </a:r>
            <a:r>
              <a:rPr lang="en-US" dirty="0">
                <a:solidFill>
                  <a:srgbClr val="1E293B"/>
                </a:solidFill>
                <a:latin typeface="Calibri" pitchFamily="34" charset="0"/>
                <a:ea typeface="Calibri" pitchFamily="34" charset="-122"/>
                <a:cs typeface="Calibri" pitchFamily="34" charset="-120"/>
              </a:rPr>
              <a:t> of costly simulators or experiments</a:t>
            </a:r>
            <a:endParaRPr lang="en-US" dirty="0"/>
          </a:p>
        </p:txBody>
      </p:sp>
      <p:sp>
        <p:nvSpPr>
          <p:cNvPr id="12" name="Text 8"/>
          <p:cNvSpPr/>
          <p:nvPr/>
        </p:nvSpPr>
        <p:spPr>
          <a:xfrm>
            <a:off x="6537960" y="2011680"/>
            <a:ext cx="4800600" cy="3017520"/>
          </a:xfrm>
          <a:prstGeom prst="rect">
            <a:avLst/>
          </a:prstGeom>
          <a:noFill/>
          <a:ln/>
        </p:spPr>
        <p:txBody>
          <a:bodyPr wrap="square" lIns="0" tIns="0" rIns="0" bIns="0" rtlCol="0" anchor="t"/>
          <a:lstStyle/>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Data is large</a:t>
            </a:r>
            <a:r>
              <a:rPr lang="en-US" dirty="0">
                <a:solidFill>
                  <a:srgbClr val="1E293B"/>
                </a:solidFill>
                <a:latin typeface="Calibri" pitchFamily="34" charset="0"/>
                <a:ea typeface="Calibri" pitchFamily="34" charset="-122"/>
                <a:cs typeface="Calibri" pitchFamily="34" charset="-120"/>
              </a:rPr>
              <a:t> — exact GPs cost 𝑂(n³); </a:t>
            </a:r>
          </a:p>
          <a:p>
            <a:pPr marL="342900" indent="-342900">
              <a:spcAft>
                <a:spcPts val="800"/>
              </a:spcAft>
              <a:buSzPct val="100000"/>
              <a:buChar char="•"/>
            </a:pPr>
            <a:r>
              <a:rPr lang="en-US" dirty="0">
                <a:solidFill>
                  <a:srgbClr val="1E293B"/>
                </a:solidFill>
                <a:latin typeface="Calibri" pitchFamily="34" charset="0"/>
                <a:ea typeface="Calibri" pitchFamily="34" charset="-122"/>
                <a:cs typeface="Calibri" pitchFamily="34" charset="-120"/>
              </a:rPr>
              <a:t>SGD scales near-linearly past 10⁴–10⁵ points</a:t>
            </a:r>
            <a:endParaRPr lang="en-US" dirty="0"/>
          </a:p>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Inputs are high-dimensional or structured</a:t>
            </a:r>
            <a:r>
              <a:rPr lang="en-US" dirty="0">
                <a:solidFill>
                  <a:srgbClr val="1E293B"/>
                </a:solidFill>
                <a:latin typeface="Calibri" pitchFamily="34" charset="0"/>
                <a:ea typeface="Calibri" pitchFamily="34" charset="-122"/>
                <a:cs typeface="Calibri" pitchFamily="34" charset="-120"/>
              </a:rPr>
              <a:t> — images, text, graphs: the network learns the representation</a:t>
            </a:r>
            <a:endParaRPr lang="en-US" dirty="0"/>
          </a:p>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Non-stationary behavior</a:t>
            </a:r>
            <a:r>
              <a:rPr lang="en-US" dirty="0">
                <a:solidFill>
                  <a:srgbClr val="1E293B"/>
                </a:solidFill>
                <a:latin typeface="Calibri" pitchFamily="34" charset="0"/>
                <a:ea typeface="Calibri" pitchFamily="34" charset="-122"/>
                <a:cs typeface="Calibri" pitchFamily="34" charset="-120"/>
              </a:rPr>
              <a:t> — sharp regime changes defeat a single global kernel</a:t>
            </a:r>
            <a:endParaRPr lang="en-US" dirty="0"/>
          </a:p>
          <a:p>
            <a:pPr marL="342900" indent="-342900">
              <a:spcAft>
                <a:spcPts val="800"/>
              </a:spcAft>
              <a:buSzPct val="100000"/>
              <a:buChar char="•"/>
            </a:pPr>
            <a:r>
              <a:rPr lang="en-US" b="1" dirty="0">
                <a:solidFill>
                  <a:srgbClr val="1E293B"/>
                </a:solidFill>
                <a:latin typeface="Calibri" pitchFamily="34" charset="0"/>
                <a:ea typeface="Calibri" pitchFamily="34" charset="-122"/>
                <a:cs typeface="Calibri" pitchFamily="34" charset="-120"/>
              </a:rPr>
              <a:t>Fast inference at scale</a:t>
            </a:r>
            <a:r>
              <a:rPr lang="en-US" dirty="0">
                <a:solidFill>
                  <a:srgbClr val="1E293B"/>
                </a:solidFill>
                <a:latin typeface="Calibri" pitchFamily="34" charset="0"/>
                <a:ea typeface="Calibri" pitchFamily="34" charset="-122"/>
                <a:cs typeface="Calibri" pitchFamily="34" charset="-120"/>
              </a:rPr>
              <a:t> matters more than principled uncertainty</a:t>
            </a:r>
            <a:endParaRPr lang="en-US" dirty="0"/>
          </a:p>
        </p:txBody>
      </p:sp>
      <p:pic>
        <p:nvPicPr>
          <p:cNvPr id="13" name="Picture 12">
            <a:extLst>
              <a:ext uri="{FF2B5EF4-FFF2-40B4-BE49-F238E27FC236}">
                <a16:creationId xmlns:a16="http://schemas.microsoft.com/office/drawing/2014/main" id="{F30F51D2-D20C-B71E-4FB8-45AD0029E5D2}"/>
              </a:ext>
            </a:extLst>
          </p:cNvPr>
          <p:cNvPicPr>
            <a:picLocks noChangeAspect="1"/>
          </p:cNvPicPr>
          <p:nvPr/>
        </p:nvPicPr>
        <p:blipFill>
          <a:blip r:embed="rId5"/>
          <a:stretch>
            <a:fillRect/>
          </a:stretch>
        </p:blipFill>
        <p:spPr>
          <a:xfrm>
            <a:off x="11020888" y="6412013"/>
            <a:ext cx="1190224" cy="450922"/>
          </a:xfrm>
          <a:prstGeom prst="rect">
            <a:avLst/>
          </a:prstGeom>
        </p:spPr>
      </p:pic>
      <p:sp>
        <p:nvSpPr>
          <p:cNvPr id="14" name="Title 4">
            <a:extLst>
              <a:ext uri="{FF2B5EF4-FFF2-40B4-BE49-F238E27FC236}">
                <a16:creationId xmlns:a16="http://schemas.microsoft.com/office/drawing/2014/main" id="{428C901D-3390-3AFB-928F-78D93EBDC86C}"/>
              </a:ext>
            </a:extLst>
          </p:cNvPr>
          <p:cNvSpPr txBox="1">
            <a:spLocks/>
          </p:cNvSpPr>
          <p:nvPr/>
        </p:nvSpPr>
        <p:spPr>
          <a:xfrm>
            <a:off x="574800" y="312588"/>
            <a:ext cx="11041200" cy="530963"/>
          </a:xfrm>
          <a:prstGeom prst="rect">
            <a:avLst/>
          </a:prstGeom>
        </p:spPr>
        <p:txBody>
          <a:bodyPr>
            <a:normAutofit fontScale="82500" lnSpcReduction="10000"/>
          </a:bodyPr>
          <a:lstStyle>
            <a:lvl1pPr algn="ctr" defTabSz="914400" rtl="0" eaLnBrk="1" latinLnBrk="0" hangingPunct="1">
              <a:lnSpc>
                <a:spcPct val="100000"/>
              </a:lnSpc>
              <a:spcBef>
                <a:spcPct val="0"/>
              </a:spcBef>
              <a:buNone/>
              <a:defRPr sz="3500" b="1" kern="1200" baseline="0">
                <a:solidFill>
                  <a:schemeClr val="tx2"/>
                </a:solidFill>
                <a:latin typeface="+mj-lt"/>
                <a:ea typeface="Calibri" panose="020F0502020204030204" pitchFamily="34" charset="0"/>
                <a:cs typeface="Calibri" panose="020F0502020204030204" pitchFamily="34" charset="0"/>
              </a:defRPr>
            </a:lvl1pPr>
          </a:lstStyle>
          <a:p>
            <a:r>
              <a:rPr lang="en-US" dirty="0"/>
              <a:t>When to use Gaussian Process Regression vs Neural Networks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E542C8-EF71-FA3C-75E7-876A3BACF9D5}"/>
              </a:ext>
            </a:extLst>
          </p:cNvPr>
          <p:cNvPicPr>
            <a:picLocks noChangeAspect="1"/>
          </p:cNvPicPr>
          <p:nvPr/>
        </p:nvPicPr>
        <p:blipFill>
          <a:blip r:embed="rId2"/>
          <a:stretch>
            <a:fillRect/>
          </a:stretch>
        </p:blipFill>
        <p:spPr>
          <a:xfrm>
            <a:off x="81280" y="1013621"/>
            <a:ext cx="6489899" cy="5180330"/>
          </a:xfrm>
          <a:prstGeom prst="rect">
            <a:avLst/>
          </a:prstGeom>
        </p:spPr>
      </p:pic>
      <p:pic>
        <p:nvPicPr>
          <p:cNvPr id="3" name="Picture 2">
            <a:extLst>
              <a:ext uri="{FF2B5EF4-FFF2-40B4-BE49-F238E27FC236}">
                <a16:creationId xmlns:a16="http://schemas.microsoft.com/office/drawing/2014/main" id="{CE4ECFD1-7E75-89DA-3EFE-634553830719}"/>
              </a:ext>
            </a:extLst>
          </p:cNvPr>
          <p:cNvPicPr>
            <a:picLocks noChangeAspect="1"/>
          </p:cNvPicPr>
          <p:nvPr/>
        </p:nvPicPr>
        <p:blipFill>
          <a:blip r:embed="rId3"/>
          <a:srcRect l="4189" b="2760"/>
          <a:stretch>
            <a:fillRect/>
          </a:stretch>
        </p:blipFill>
        <p:spPr>
          <a:xfrm>
            <a:off x="6207760" y="1013622"/>
            <a:ext cx="5771072" cy="5360832"/>
          </a:xfrm>
          <a:prstGeom prst="rect">
            <a:avLst/>
          </a:prstGeom>
        </p:spPr>
      </p:pic>
      <p:sp>
        <p:nvSpPr>
          <p:cNvPr id="6" name="Title 4">
            <a:extLst>
              <a:ext uri="{FF2B5EF4-FFF2-40B4-BE49-F238E27FC236}">
                <a16:creationId xmlns:a16="http://schemas.microsoft.com/office/drawing/2014/main" id="{CF5D8A0B-E0A1-7098-F43C-DBA1551B56B7}"/>
              </a:ext>
            </a:extLst>
          </p:cNvPr>
          <p:cNvSpPr txBox="1">
            <a:spLocks/>
          </p:cNvSpPr>
          <p:nvPr/>
        </p:nvSpPr>
        <p:spPr>
          <a:xfrm>
            <a:off x="574800" y="312588"/>
            <a:ext cx="11041200" cy="530963"/>
          </a:xfrm>
          <a:prstGeom prst="rect">
            <a:avLst/>
          </a:prstGeom>
        </p:spPr>
        <p:txBody>
          <a:bodyPr>
            <a:normAutofit fontScale="90000" lnSpcReduction="10000"/>
          </a:bodyPr>
          <a:lstStyle>
            <a:lvl1pPr algn="ctr" defTabSz="914400" rtl="0" eaLnBrk="1" latinLnBrk="0" hangingPunct="1">
              <a:lnSpc>
                <a:spcPct val="100000"/>
              </a:lnSpc>
              <a:spcBef>
                <a:spcPct val="0"/>
              </a:spcBef>
              <a:buNone/>
              <a:defRPr sz="3500" b="1" kern="1200" baseline="0">
                <a:solidFill>
                  <a:schemeClr val="tx2"/>
                </a:solidFill>
                <a:latin typeface="+mj-lt"/>
                <a:ea typeface="Calibri" panose="020F0502020204030204" pitchFamily="34" charset="0"/>
                <a:cs typeface="Calibri" panose="020F0502020204030204" pitchFamily="34" charset="0"/>
              </a:defRPr>
            </a:lvl1pPr>
          </a:lstStyle>
          <a:p>
            <a:r>
              <a:rPr lang="en-US" dirty="0"/>
              <a:t>Model parsimony: complexity vs expressivity</a:t>
            </a:r>
          </a:p>
        </p:txBody>
      </p:sp>
    </p:spTree>
    <p:extLst>
      <p:ext uri="{BB962C8B-B14F-4D97-AF65-F5344CB8AC3E}">
        <p14:creationId xmlns:p14="http://schemas.microsoft.com/office/powerpoint/2010/main" val="2896105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61B07-51FE-BCA3-0FEA-FECC5AD6A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56FB9-A796-C1CD-0731-CF3231ADC97B}"/>
              </a:ext>
            </a:extLst>
          </p:cNvPr>
          <p:cNvSpPr>
            <a:spLocks noGrp="1"/>
          </p:cNvSpPr>
          <p:nvPr>
            <p:ph type="title"/>
          </p:nvPr>
        </p:nvSpPr>
        <p:spPr/>
        <p:txBody>
          <a:bodyPr/>
          <a:lstStyle/>
          <a:p>
            <a:r>
              <a:rPr lang="en-US" sz="4000" dirty="0"/>
              <a:t>Solar wind and Coronal Mass Ejection (CME) modelling</a:t>
            </a:r>
            <a:endParaRPr lang="LID4096" sz="4000" dirty="0"/>
          </a:p>
        </p:txBody>
      </p:sp>
      <p:pic>
        <p:nvPicPr>
          <p:cNvPr id="3" name="Picture 2">
            <a:extLst>
              <a:ext uri="{FF2B5EF4-FFF2-40B4-BE49-F238E27FC236}">
                <a16:creationId xmlns:a16="http://schemas.microsoft.com/office/drawing/2014/main" id="{30EA3B38-EE12-BD20-EFD1-45BCC9041FA8}"/>
              </a:ext>
            </a:extLst>
          </p:cNvPr>
          <p:cNvPicPr>
            <a:picLocks noChangeAspect="1"/>
          </p:cNvPicPr>
          <p:nvPr/>
        </p:nvPicPr>
        <p:blipFill>
          <a:blip r:embed="rId2"/>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1260318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p:cNvSpPr/>
          <p:nvPr/>
        </p:nvSpPr>
        <p:spPr>
          <a:xfrm>
            <a:off x="0" y="-17289"/>
            <a:ext cx="12191999" cy="6895460"/>
          </a:xfrm>
          <a:prstGeom prst="rect">
            <a:avLst/>
          </a:prstGeom>
          <a:solidFill>
            <a:srgbClr val="000000"/>
          </a:solidFill>
          <a:ln w="12700">
            <a:miter lim="400000"/>
          </a:ln>
          <a:effectLst>
            <a:outerShdw blurRad="63500" rotWithShape="0">
              <a:srgbClr val="000000">
                <a:alpha val="80010"/>
              </a:srgbClr>
            </a:outerShdw>
          </a:effectLst>
        </p:spPr>
        <p:txBody>
          <a:bodyPr lIns="41493" rIns="41493" anchor="ctr"/>
          <a:lstStyle/>
          <a:p>
            <a:pPr>
              <a:defRPr>
                <a:latin typeface="Arial"/>
                <a:ea typeface="Arial"/>
                <a:cs typeface="Arial"/>
                <a:sym typeface="Arial"/>
              </a:defRPr>
            </a:pPr>
            <a:endParaRPr sz="1634"/>
          </a:p>
        </p:txBody>
      </p:sp>
      <p:pic>
        <p:nvPicPr>
          <p:cNvPr id="74" name="image.jpeg" descr="image.jpeg"/>
          <p:cNvPicPr>
            <a:picLocks noChangeAspect="1"/>
          </p:cNvPicPr>
          <p:nvPr/>
        </p:nvPicPr>
        <p:blipFill>
          <a:blip r:embed="rId3"/>
          <a:stretch>
            <a:fillRect/>
          </a:stretch>
        </p:blipFill>
        <p:spPr>
          <a:xfrm rot="1200000">
            <a:off x="-605303" y="590709"/>
            <a:ext cx="12125406" cy="6067025"/>
          </a:xfrm>
          <a:prstGeom prst="rect">
            <a:avLst/>
          </a:prstGeom>
          <a:ln w="12700">
            <a:miter lim="400000"/>
          </a:ln>
        </p:spPr>
      </p:pic>
      <p:sp>
        <p:nvSpPr>
          <p:cNvPr id="75" name="www.nasa.gov"/>
          <p:cNvSpPr txBox="1"/>
          <p:nvPr/>
        </p:nvSpPr>
        <p:spPr>
          <a:xfrm>
            <a:off x="1667116" y="6537508"/>
            <a:ext cx="854187" cy="211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613" tIns="35613" rIns="35613" bIns="35613" anchor="ctr">
            <a:spAutoFit/>
          </a:bodyPr>
          <a:lstStyle/>
          <a:p>
            <a:pPr>
              <a:tabLst>
                <a:tab pos="414955" algn="l"/>
                <a:tab pos="829909" algn="l"/>
                <a:tab pos="1244864" algn="l"/>
                <a:tab pos="1659819" algn="l"/>
                <a:tab pos="2074774" algn="l"/>
                <a:tab pos="2489728" algn="l"/>
                <a:tab pos="2904683" algn="l"/>
                <a:tab pos="3319638" algn="l"/>
                <a:tab pos="3734592" algn="l"/>
                <a:tab pos="4149547" algn="l"/>
                <a:tab pos="4564502" algn="l"/>
                <a:tab pos="4979457" algn="l"/>
                <a:tab pos="5394411" algn="l"/>
                <a:tab pos="5809366" algn="l"/>
                <a:tab pos="6224321" algn="l"/>
                <a:tab pos="6639276" algn="l"/>
                <a:tab pos="7054230" algn="l"/>
                <a:tab pos="7469185" algn="l"/>
                <a:tab pos="7884140" algn="l"/>
                <a:tab pos="8299094" algn="l"/>
              </a:tabLst>
              <a:defRPr sz="1000" u="sng">
                <a:solidFill>
                  <a:srgbClr val="CCCCFF"/>
                </a:solidFill>
                <a:latin typeface="Arial"/>
                <a:ea typeface="Arial"/>
                <a:cs typeface="Arial"/>
                <a:sym typeface="Arial"/>
              </a:defRPr>
            </a:pPr>
            <a:r>
              <a:rPr sz="908">
                <a:uFill>
                  <a:solidFill>
                    <a:srgbClr val="CCCCFF"/>
                  </a:solidFill>
                </a:uFill>
                <a:hlinkClick r:id="rId4"/>
              </a:rPr>
              <a:t>www.</a:t>
            </a:r>
            <a:r>
              <a:rPr sz="908" b="1">
                <a:uFill>
                  <a:solidFill>
                    <a:srgbClr val="CCCCFF"/>
                  </a:solidFill>
                </a:uFill>
                <a:hlinkClick r:id="rId4"/>
              </a:rPr>
              <a:t>nasa.gov</a:t>
            </a:r>
          </a:p>
        </p:txBody>
      </p:sp>
      <p:sp>
        <p:nvSpPr>
          <p:cNvPr id="76" name="artist’s impression"/>
          <p:cNvSpPr txBox="1"/>
          <p:nvPr/>
        </p:nvSpPr>
        <p:spPr>
          <a:xfrm>
            <a:off x="11118772" y="6545144"/>
            <a:ext cx="996855" cy="211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613" tIns="35613" rIns="35613" bIns="35613" anchor="ctr">
            <a:spAutoFit/>
          </a:bodyPr>
          <a:lstStyle>
            <a:lvl1pPr>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000">
                <a:latin typeface="Arial"/>
                <a:ea typeface="Arial"/>
                <a:cs typeface="Arial"/>
                <a:sym typeface="Arial"/>
              </a:defRPr>
            </a:lvl1pPr>
          </a:lstStyle>
          <a:p>
            <a:r>
              <a:rPr sz="908" dirty="0"/>
              <a:t>artist’s impression</a:t>
            </a:r>
          </a:p>
        </p:txBody>
      </p:sp>
      <p:sp>
        <p:nvSpPr>
          <p:cNvPr id="21" name="Titel 1"/>
          <p:cNvSpPr>
            <a:spLocks noGrp="1"/>
          </p:cNvSpPr>
          <p:nvPr>
            <p:ph type="title"/>
          </p:nvPr>
        </p:nvSpPr>
        <p:spPr>
          <a:xfrm>
            <a:off x="576000" y="207036"/>
            <a:ext cx="11041200" cy="1152000"/>
          </a:xfrm>
        </p:spPr>
        <p:txBody>
          <a:bodyPr>
            <a:normAutofit/>
          </a:bodyPr>
          <a:lstStyle/>
          <a:p>
            <a:r>
              <a:rPr lang="en-US" dirty="0">
                <a:solidFill>
                  <a:schemeClr val="bg1"/>
                </a:solidFill>
              </a:rPr>
              <a:t>VSWMC models </a:t>
            </a:r>
            <a:r>
              <a:rPr lang="en-US" sz="2700" dirty="0">
                <a:solidFill>
                  <a:schemeClr val="bg1"/>
                </a:solidFill>
              </a:rPr>
              <a:t>(operational (17) and </a:t>
            </a:r>
            <a:r>
              <a:rPr lang="en-US" sz="2700" dirty="0">
                <a:solidFill>
                  <a:srgbClr val="FFFF00"/>
                </a:solidFill>
              </a:rPr>
              <a:t>operational soon (5)</a:t>
            </a:r>
            <a:r>
              <a:rPr lang="en-US" sz="2700" dirty="0">
                <a:solidFill>
                  <a:schemeClr val="bg1"/>
                </a:solidFill>
              </a:rPr>
              <a:t>)</a:t>
            </a:r>
            <a:endParaRPr lang="nl-BE" sz="2700" dirty="0">
              <a:solidFill>
                <a:schemeClr val="bg1"/>
              </a:solidFill>
            </a:endParaRPr>
          </a:p>
        </p:txBody>
      </p:sp>
      <p:sp>
        <p:nvSpPr>
          <p:cNvPr id="31" name="Slide Number Placeholder 3">
            <a:extLst>
              <a:ext uri="{FF2B5EF4-FFF2-40B4-BE49-F238E27FC236}">
                <a16:creationId xmlns:a16="http://schemas.microsoft.com/office/drawing/2014/main" id="{9842F404-BC0B-4445-8251-B174622C1851}"/>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12</a:t>
            </a:fld>
            <a:endParaRPr lang="nl-NL" dirty="0"/>
          </a:p>
        </p:txBody>
      </p:sp>
      <p:sp>
        <p:nvSpPr>
          <p:cNvPr id="2" name="TextBox 1">
            <a:extLst>
              <a:ext uri="{FF2B5EF4-FFF2-40B4-BE49-F238E27FC236}">
                <a16:creationId xmlns:a16="http://schemas.microsoft.com/office/drawing/2014/main" id="{F4C9771D-A286-14CF-E2BC-68B5E39A1F58}"/>
              </a:ext>
            </a:extLst>
          </p:cNvPr>
          <p:cNvSpPr txBox="1"/>
          <p:nvPr/>
        </p:nvSpPr>
        <p:spPr>
          <a:xfrm>
            <a:off x="684055" y="4746103"/>
            <a:ext cx="3971498" cy="1754326"/>
          </a:xfrm>
          <a:prstGeom prst="rect">
            <a:avLst/>
          </a:prstGeom>
          <a:noFill/>
        </p:spPr>
        <p:txBody>
          <a:bodyPr wrap="square" rtlCol="0">
            <a:spAutoFit/>
          </a:bodyPr>
          <a:lstStyle/>
          <a:p>
            <a:r>
              <a:rPr lang="en-US" b="1" dirty="0">
                <a:solidFill>
                  <a:srgbClr val="FFC000"/>
                </a:solidFill>
              </a:rPr>
              <a:t>Solar corona models:</a:t>
            </a:r>
          </a:p>
          <a:p>
            <a:pPr marL="285750" indent="-285750">
              <a:buFont typeface="Arial" panose="020B0604020202020204" pitchFamily="34" charset="0"/>
              <a:buChar char="•"/>
            </a:pPr>
            <a:r>
              <a:rPr lang="en-US" dirty="0">
                <a:solidFill>
                  <a:schemeClr val="bg1"/>
                </a:solidFill>
              </a:rPr>
              <a:t>Multi-VP</a:t>
            </a:r>
          </a:p>
          <a:p>
            <a:pPr marL="285750" indent="-285750">
              <a:buFont typeface="Arial" panose="020B0604020202020204" pitchFamily="34" charset="0"/>
              <a:buChar char="•"/>
            </a:pPr>
            <a:r>
              <a:rPr lang="en-US" dirty="0">
                <a:solidFill>
                  <a:schemeClr val="bg1"/>
                </a:solidFill>
              </a:rPr>
              <a:t>Wind-Predict</a:t>
            </a:r>
          </a:p>
          <a:p>
            <a:pPr marL="285750" indent="-285750">
              <a:buFont typeface="Arial" panose="020B0604020202020204" pitchFamily="34" charset="0"/>
              <a:buChar char="•"/>
            </a:pPr>
            <a:r>
              <a:rPr lang="en-US" dirty="0">
                <a:solidFill>
                  <a:schemeClr val="bg1"/>
                </a:solidFill>
              </a:rPr>
              <a:t>EUHFORIA-corona (WSA)</a:t>
            </a:r>
          </a:p>
          <a:p>
            <a:pPr marL="285750" indent="-285750">
              <a:buFont typeface="Arial" panose="020B0604020202020204" pitchFamily="34" charset="0"/>
              <a:buChar char="•"/>
            </a:pPr>
            <a:r>
              <a:rPr lang="en-US" dirty="0">
                <a:solidFill>
                  <a:srgbClr val="FFFF00"/>
                </a:solidFill>
              </a:rPr>
              <a:t>COCONUT </a:t>
            </a:r>
          </a:p>
          <a:p>
            <a:pPr marL="285750" indent="-285750">
              <a:buFont typeface="Arial" panose="020B0604020202020204" pitchFamily="34" charset="0"/>
              <a:buChar char="•"/>
            </a:pPr>
            <a:r>
              <a:rPr lang="en-US" dirty="0">
                <a:solidFill>
                  <a:srgbClr val="FFFF00"/>
                </a:solidFill>
              </a:rPr>
              <a:t>COCONUT-</a:t>
            </a:r>
            <a:r>
              <a:rPr lang="en-US" dirty="0" err="1">
                <a:solidFill>
                  <a:srgbClr val="FFFF00"/>
                </a:solidFill>
              </a:rPr>
              <a:t>TDm</a:t>
            </a:r>
            <a:r>
              <a:rPr lang="en-US" dirty="0">
                <a:solidFill>
                  <a:srgbClr val="FFFF00"/>
                </a:solidFill>
              </a:rPr>
              <a:t>/</a:t>
            </a:r>
            <a:r>
              <a:rPr lang="en-US" i="1" dirty="0">
                <a:solidFill>
                  <a:srgbClr val="FFFF00"/>
                </a:solidFill>
              </a:rPr>
              <a:t>RBSL</a:t>
            </a:r>
          </a:p>
        </p:txBody>
      </p:sp>
      <p:sp>
        <p:nvSpPr>
          <p:cNvPr id="3" name="TextBox 2">
            <a:extLst>
              <a:ext uri="{FF2B5EF4-FFF2-40B4-BE49-F238E27FC236}">
                <a16:creationId xmlns:a16="http://schemas.microsoft.com/office/drawing/2014/main" id="{B73B2BB2-ED97-6B7A-FB5A-A5F16CDD0FAD}"/>
              </a:ext>
            </a:extLst>
          </p:cNvPr>
          <p:cNvSpPr txBox="1"/>
          <p:nvPr/>
        </p:nvSpPr>
        <p:spPr>
          <a:xfrm>
            <a:off x="3804312" y="3024056"/>
            <a:ext cx="4583373" cy="1200329"/>
          </a:xfrm>
          <a:prstGeom prst="rect">
            <a:avLst/>
          </a:prstGeom>
          <a:noFill/>
        </p:spPr>
        <p:txBody>
          <a:bodyPr wrap="square" rtlCol="0">
            <a:spAutoFit/>
          </a:bodyPr>
          <a:lstStyle/>
          <a:p>
            <a:r>
              <a:rPr lang="en-US" b="1" dirty="0">
                <a:solidFill>
                  <a:srgbClr val="FFC000"/>
                </a:solidFill>
              </a:rPr>
              <a:t>Inner heliosphere wind and CME evolution models :</a:t>
            </a:r>
          </a:p>
          <a:p>
            <a:pPr marL="285750" indent="-285750">
              <a:buFont typeface="Arial" panose="020B0604020202020204" pitchFamily="34" charset="0"/>
              <a:buChar char="•"/>
            </a:pPr>
            <a:r>
              <a:rPr lang="en-US" dirty="0">
                <a:solidFill>
                  <a:schemeClr val="bg1"/>
                </a:solidFill>
              </a:rPr>
              <a:t>EUHFORIA </a:t>
            </a:r>
          </a:p>
          <a:p>
            <a:pPr marL="285750" indent="-285750">
              <a:buFont typeface="Arial" panose="020B0604020202020204" pitchFamily="34" charset="0"/>
              <a:buChar char="•"/>
            </a:pPr>
            <a:r>
              <a:rPr lang="en-US" dirty="0">
                <a:solidFill>
                  <a:srgbClr val="FFFF00"/>
                </a:solidFill>
              </a:rPr>
              <a:t>ICARUS</a:t>
            </a:r>
          </a:p>
        </p:txBody>
      </p:sp>
      <p:sp>
        <p:nvSpPr>
          <p:cNvPr id="4" name="TextBox 3">
            <a:extLst>
              <a:ext uri="{FF2B5EF4-FFF2-40B4-BE49-F238E27FC236}">
                <a16:creationId xmlns:a16="http://schemas.microsoft.com/office/drawing/2014/main" id="{92D869AC-7609-4A0A-32FC-1A9BA91556F1}"/>
              </a:ext>
            </a:extLst>
          </p:cNvPr>
          <p:cNvSpPr txBox="1"/>
          <p:nvPr/>
        </p:nvSpPr>
        <p:spPr>
          <a:xfrm>
            <a:off x="7608627" y="1538050"/>
            <a:ext cx="4583373" cy="1200329"/>
          </a:xfrm>
          <a:prstGeom prst="rect">
            <a:avLst/>
          </a:prstGeom>
          <a:noFill/>
        </p:spPr>
        <p:txBody>
          <a:bodyPr wrap="square" rtlCol="0">
            <a:spAutoFit/>
          </a:bodyPr>
          <a:lstStyle/>
          <a:p>
            <a:r>
              <a:rPr lang="en-US" b="1" dirty="0">
                <a:solidFill>
                  <a:srgbClr val="FFC000"/>
                </a:solidFill>
              </a:rPr>
              <a:t>Magnetosphere models:</a:t>
            </a:r>
          </a:p>
          <a:p>
            <a:pPr marL="285750" indent="-285750">
              <a:buFont typeface="Arial" panose="020B0604020202020204" pitchFamily="34" charset="0"/>
              <a:buChar char="•"/>
            </a:pPr>
            <a:r>
              <a:rPr lang="en-US" dirty="0">
                <a:solidFill>
                  <a:schemeClr val="bg1"/>
                </a:solidFill>
              </a:rPr>
              <a:t>GUMICS-4 </a:t>
            </a:r>
          </a:p>
          <a:p>
            <a:pPr marL="285750" indent="-285750">
              <a:buFont typeface="Arial" panose="020B0604020202020204" pitchFamily="34" charset="0"/>
              <a:buChar char="•"/>
            </a:pPr>
            <a:r>
              <a:rPr lang="en-US" dirty="0">
                <a:solidFill>
                  <a:schemeClr val="bg1"/>
                </a:solidFill>
              </a:rPr>
              <a:t>GORGON-Space</a:t>
            </a:r>
          </a:p>
          <a:p>
            <a:pPr marL="285750" indent="-285750">
              <a:buFont typeface="Arial" panose="020B0604020202020204" pitchFamily="34" charset="0"/>
              <a:buChar char="•"/>
            </a:pPr>
            <a:endParaRPr lang="nl-BE" dirty="0">
              <a:solidFill>
                <a:schemeClr val="bg1"/>
              </a:solidFill>
            </a:endParaRPr>
          </a:p>
        </p:txBody>
      </p:sp>
      <p:sp>
        <p:nvSpPr>
          <p:cNvPr id="5" name="TextBox 4">
            <a:extLst>
              <a:ext uri="{FF2B5EF4-FFF2-40B4-BE49-F238E27FC236}">
                <a16:creationId xmlns:a16="http://schemas.microsoft.com/office/drawing/2014/main" id="{1F46608B-3BF3-E6FB-5C05-3540FF85A819}"/>
              </a:ext>
            </a:extLst>
          </p:cNvPr>
          <p:cNvSpPr txBox="1"/>
          <p:nvPr/>
        </p:nvSpPr>
        <p:spPr>
          <a:xfrm>
            <a:off x="4213666" y="4414367"/>
            <a:ext cx="3250824" cy="923330"/>
          </a:xfrm>
          <a:prstGeom prst="rect">
            <a:avLst/>
          </a:prstGeom>
          <a:noFill/>
        </p:spPr>
        <p:txBody>
          <a:bodyPr wrap="square" rtlCol="0">
            <a:spAutoFit/>
          </a:bodyPr>
          <a:lstStyle/>
          <a:p>
            <a:r>
              <a:rPr lang="en-US" b="1" dirty="0">
                <a:solidFill>
                  <a:srgbClr val="FFC000"/>
                </a:solidFill>
              </a:rPr>
              <a:t>SEP models :</a:t>
            </a:r>
          </a:p>
          <a:p>
            <a:pPr marL="285750" indent="-285750">
              <a:buFont typeface="Arial" panose="020B0604020202020204" pitchFamily="34" charset="0"/>
              <a:buChar char="•"/>
            </a:pPr>
            <a:r>
              <a:rPr lang="en-US" dirty="0">
                <a:solidFill>
                  <a:schemeClr val="bg1"/>
                </a:solidFill>
              </a:rPr>
              <a:t>SPARX </a:t>
            </a:r>
          </a:p>
          <a:p>
            <a:pPr marL="285750" indent="-285750">
              <a:buFont typeface="Arial" panose="020B0604020202020204" pitchFamily="34" charset="0"/>
              <a:buChar char="•"/>
            </a:pPr>
            <a:r>
              <a:rPr lang="en-US" dirty="0">
                <a:solidFill>
                  <a:srgbClr val="FFFF00"/>
                </a:solidFill>
              </a:rPr>
              <a:t>PARADISE (/ PARASOL?)</a:t>
            </a:r>
          </a:p>
        </p:txBody>
      </p:sp>
      <p:sp>
        <p:nvSpPr>
          <p:cNvPr id="6" name="TextBox 5">
            <a:extLst>
              <a:ext uri="{FF2B5EF4-FFF2-40B4-BE49-F238E27FC236}">
                <a16:creationId xmlns:a16="http://schemas.microsoft.com/office/drawing/2014/main" id="{04F25BB6-3888-63AB-8432-AC01C76E9E1F}"/>
              </a:ext>
            </a:extLst>
          </p:cNvPr>
          <p:cNvSpPr txBox="1"/>
          <p:nvPr/>
        </p:nvSpPr>
        <p:spPr>
          <a:xfrm>
            <a:off x="8185164" y="3766817"/>
            <a:ext cx="4583373" cy="3139321"/>
          </a:xfrm>
          <a:prstGeom prst="rect">
            <a:avLst/>
          </a:prstGeom>
          <a:noFill/>
        </p:spPr>
        <p:txBody>
          <a:bodyPr wrap="square" rtlCol="0">
            <a:spAutoFit/>
          </a:bodyPr>
          <a:lstStyle/>
          <a:p>
            <a:r>
              <a:rPr lang="en-US" b="1" dirty="0">
                <a:solidFill>
                  <a:srgbClr val="FFC000"/>
                </a:solidFill>
              </a:rPr>
              <a:t>Inner magnetosphere models:</a:t>
            </a:r>
          </a:p>
          <a:p>
            <a:pPr marL="285750" indent="-285750">
              <a:buFont typeface="Arial" panose="020B0604020202020204" pitchFamily="34" charset="0"/>
              <a:buChar char="•"/>
            </a:pPr>
            <a:r>
              <a:rPr lang="en-US" dirty="0">
                <a:solidFill>
                  <a:schemeClr val="bg1"/>
                </a:solidFill>
              </a:rPr>
              <a:t>CTIP (limited)</a:t>
            </a:r>
          </a:p>
          <a:p>
            <a:pPr marL="285750" indent="-285750">
              <a:buFont typeface="Arial" panose="020B0604020202020204" pitchFamily="34" charset="0"/>
              <a:buChar char="•"/>
            </a:pPr>
            <a:r>
              <a:rPr lang="en-US" dirty="0">
                <a:solidFill>
                  <a:schemeClr val="bg1"/>
                </a:solidFill>
              </a:rPr>
              <a:t>NARMAX-SNRB</a:t>
            </a:r>
          </a:p>
          <a:p>
            <a:pPr marL="285750" indent="-285750">
              <a:buFont typeface="Arial" panose="020B0604020202020204" pitchFamily="34" charset="0"/>
              <a:buChar char="•"/>
            </a:pPr>
            <a:r>
              <a:rPr lang="en-US" dirty="0" err="1">
                <a:solidFill>
                  <a:schemeClr val="bg1"/>
                </a:solidFill>
              </a:rPr>
              <a:t>BPiM</a:t>
            </a:r>
            <a:r>
              <a:rPr lang="en-US" dirty="0">
                <a:solidFill>
                  <a:schemeClr val="bg1"/>
                </a:solidFill>
              </a:rPr>
              <a:t> </a:t>
            </a:r>
            <a:r>
              <a:rPr lang="en-US" sz="1600" dirty="0">
                <a:solidFill>
                  <a:schemeClr val="bg1"/>
                </a:solidFill>
              </a:rPr>
              <a:t>(Plasma sphere)</a:t>
            </a:r>
          </a:p>
          <a:p>
            <a:pPr marL="285750" indent="-285750">
              <a:buFont typeface="Arial" panose="020B0604020202020204" pitchFamily="34" charset="0"/>
              <a:buChar char="•"/>
            </a:pPr>
            <a:r>
              <a:rPr lang="en-US" dirty="0">
                <a:solidFill>
                  <a:schemeClr val="bg1"/>
                </a:solidFill>
              </a:rPr>
              <a:t>NARMAX-SNGI (Kp + Dst)</a:t>
            </a:r>
          </a:p>
          <a:p>
            <a:pPr marL="285750" indent="-285750">
              <a:buFont typeface="Arial" panose="020B0604020202020204" pitchFamily="34" charset="0"/>
              <a:buChar char="•"/>
            </a:pPr>
            <a:r>
              <a:rPr lang="en-US" dirty="0">
                <a:solidFill>
                  <a:schemeClr val="bg1"/>
                </a:solidFill>
              </a:rPr>
              <a:t>Dst, Kp, magnetopause stand-off distance</a:t>
            </a:r>
          </a:p>
          <a:p>
            <a:pPr marL="285750" indent="-285750">
              <a:buFont typeface="Arial" panose="020B0604020202020204" pitchFamily="34" charset="0"/>
              <a:buChar char="•"/>
            </a:pPr>
            <a:r>
              <a:rPr lang="en-US" dirty="0">
                <a:solidFill>
                  <a:schemeClr val="bg1"/>
                </a:solidFill>
              </a:rPr>
              <a:t>MCM-DTM</a:t>
            </a:r>
          </a:p>
          <a:p>
            <a:pPr marL="285750" indent="-285750">
              <a:buFont typeface="Arial" panose="020B0604020202020204" pitchFamily="34" charset="0"/>
              <a:buChar char="•"/>
            </a:pPr>
            <a:r>
              <a:rPr lang="en-US" i="1" dirty="0">
                <a:solidFill>
                  <a:schemeClr val="bg1"/>
                </a:solidFill>
              </a:rPr>
              <a:t>DICTAT &amp; IMPTAM</a:t>
            </a:r>
          </a:p>
          <a:p>
            <a:pPr marL="285750" indent="-285750">
              <a:buFont typeface="Arial" panose="020B0604020202020204" pitchFamily="34" charset="0"/>
              <a:buChar char="•"/>
            </a:pPr>
            <a:r>
              <a:rPr lang="en-US" dirty="0">
                <a:solidFill>
                  <a:srgbClr val="FFFF00"/>
                </a:solidFill>
              </a:rPr>
              <a:t>CTIP extended</a:t>
            </a:r>
          </a:p>
          <a:p>
            <a:pPr marL="285750" indent="-285750">
              <a:buFont typeface="Arial" panose="020B0604020202020204" pitchFamily="34" charset="0"/>
              <a:buChar char="•"/>
            </a:pPr>
            <a:endParaRPr lang="nl-BE" i="1" dirty="0">
              <a:solidFill>
                <a:schemeClr val="bg1"/>
              </a:solidFill>
            </a:endParaRPr>
          </a:p>
        </p:txBody>
      </p:sp>
    </p:spTree>
    <p:extLst>
      <p:ext uri="{BB962C8B-B14F-4D97-AF65-F5344CB8AC3E}">
        <p14:creationId xmlns:p14="http://schemas.microsoft.com/office/powerpoint/2010/main" val="237886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 calcmode="lin" valueType="num">
                                      <p:cBhvr additive="base">
                                        <p:cTn id="1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 calcmode="lin" valueType="num">
                                      <p:cBhvr additive="base">
                                        <p:cTn id="2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anim calcmode="lin" valueType="num">
                                      <p:cBhvr additive="base">
                                        <p:cTn id="2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AD4490-2423-FC87-7955-E58F3412663C}"/>
              </a:ext>
            </a:extLst>
          </p:cNvPr>
          <p:cNvSpPr>
            <a:spLocks noGrp="1"/>
          </p:cNvSpPr>
          <p:nvPr>
            <p:ph type="sldNum" sz="quarter" idx="12"/>
          </p:nvPr>
        </p:nvSpPr>
        <p:spPr/>
        <p:txBody>
          <a:bodyPr/>
          <a:lstStyle/>
          <a:p>
            <a:fld id="{0A297500-7527-634B-90F4-69D0994C32B4}" type="slidenum">
              <a:rPr lang="nl-NL" smtClean="0"/>
              <a:pPr/>
              <a:t>13</a:t>
            </a:fld>
            <a:endParaRPr lang="nl-NL" dirty="0"/>
          </a:p>
        </p:txBody>
      </p:sp>
      <p:sp>
        <p:nvSpPr>
          <p:cNvPr id="5" name="Title 4">
            <a:extLst>
              <a:ext uri="{FF2B5EF4-FFF2-40B4-BE49-F238E27FC236}">
                <a16:creationId xmlns:a16="http://schemas.microsoft.com/office/drawing/2014/main" id="{A478C0E7-423E-597C-255D-9DD9AEA6353E}"/>
              </a:ext>
            </a:extLst>
          </p:cNvPr>
          <p:cNvSpPr>
            <a:spLocks noGrp="1"/>
          </p:cNvSpPr>
          <p:nvPr>
            <p:ph type="title"/>
          </p:nvPr>
        </p:nvSpPr>
        <p:spPr>
          <a:xfrm>
            <a:off x="576000" y="354226"/>
            <a:ext cx="11041200" cy="530963"/>
          </a:xfrm>
        </p:spPr>
        <p:txBody>
          <a:bodyPr>
            <a:noAutofit/>
          </a:bodyPr>
          <a:lstStyle/>
          <a:p>
            <a:r>
              <a:rPr lang="en-US" sz="2800" dirty="0"/>
              <a:t>EUHFORIA: European heliospheric forecasting information asset</a:t>
            </a:r>
            <a:br>
              <a:rPr lang="en-US" sz="2800" dirty="0"/>
            </a:br>
            <a:endParaRPr lang="en-US" sz="2800" dirty="0"/>
          </a:p>
        </p:txBody>
      </p:sp>
      <p:pic>
        <p:nvPicPr>
          <p:cNvPr id="6" name="Picture 5" descr="image">
            <a:extLst>
              <a:ext uri="{FF2B5EF4-FFF2-40B4-BE49-F238E27FC236}">
                <a16:creationId xmlns:a16="http://schemas.microsoft.com/office/drawing/2014/main" id="{02DEBEB7-FEC4-7698-A2E9-225625AE6AFE}"/>
              </a:ext>
            </a:extLst>
          </p:cNvPr>
          <p:cNvPicPr>
            <a:picLocks noChangeAspect="1"/>
          </p:cNvPicPr>
          <p:nvPr/>
        </p:nvPicPr>
        <p:blipFill>
          <a:blip r:embed="rId2"/>
          <a:stretch>
            <a:fillRect/>
          </a:stretch>
        </p:blipFill>
        <p:spPr>
          <a:xfrm>
            <a:off x="576000" y="885189"/>
            <a:ext cx="6759520" cy="5421698"/>
          </a:xfrm>
          <a:prstGeom prst="rect">
            <a:avLst/>
          </a:prstGeom>
        </p:spPr>
      </p:pic>
      <p:sp>
        <p:nvSpPr>
          <p:cNvPr id="8" name="TextBox 7">
            <a:extLst>
              <a:ext uri="{FF2B5EF4-FFF2-40B4-BE49-F238E27FC236}">
                <a16:creationId xmlns:a16="http://schemas.microsoft.com/office/drawing/2014/main" id="{55482179-7036-D5CB-A5A8-233AAE352CA5}"/>
              </a:ext>
            </a:extLst>
          </p:cNvPr>
          <p:cNvSpPr txBox="1"/>
          <p:nvPr/>
        </p:nvSpPr>
        <p:spPr>
          <a:xfrm>
            <a:off x="1180168" y="6372432"/>
            <a:ext cx="9831664" cy="523220"/>
          </a:xfrm>
          <a:prstGeom prst="rect">
            <a:avLst/>
          </a:prstGeom>
          <a:noFill/>
        </p:spPr>
        <p:txBody>
          <a:bodyPr wrap="square">
            <a:spAutoFit/>
          </a:bodyPr>
          <a:lstStyle/>
          <a:p>
            <a:pPr>
              <a:buNone/>
            </a:pPr>
            <a:r>
              <a:rPr lang="en-US" sz="1400" dirty="0" err="1">
                <a:solidFill>
                  <a:schemeClr val="bg1"/>
                </a:solidFill>
                <a:effectLst/>
              </a:rPr>
              <a:t>Pomoell</a:t>
            </a:r>
            <a:r>
              <a:rPr lang="en-US" sz="1400" dirty="0">
                <a:solidFill>
                  <a:schemeClr val="bg1"/>
                </a:solidFill>
                <a:effectLst/>
              </a:rPr>
              <a:t>, Jens, and S. Poedts. “EUHFORIA: European Heliospheric Forecasting Information Asset.” </a:t>
            </a:r>
            <a:r>
              <a:rPr lang="en-US" sz="1400" i="1" dirty="0">
                <a:solidFill>
                  <a:schemeClr val="bg1"/>
                </a:solidFill>
                <a:effectLst/>
              </a:rPr>
              <a:t>Journal of Space Weather and Space Climate</a:t>
            </a:r>
            <a:r>
              <a:rPr lang="en-US" sz="1400" dirty="0">
                <a:solidFill>
                  <a:schemeClr val="bg1"/>
                </a:solidFill>
                <a:effectLst/>
              </a:rPr>
              <a:t> 8 (2018): A35. </a:t>
            </a:r>
            <a:r>
              <a:rPr lang="en-US" sz="1400" dirty="0">
                <a:solidFill>
                  <a:schemeClr val="bg1"/>
                </a:solidFill>
                <a:effectLst/>
                <a:hlinkClick r:id="rId3">
                  <a:extLst>
                    <a:ext uri="{A12FA001-AC4F-418D-AE19-62706E023703}">
                      <ahyp:hlinkClr xmlns:ahyp="http://schemas.microsoft.com/office/drawing/2018/hyperlinkcolor" val="tx"/>
                    </a:ext>
                  </a:extLst>
                </a:hlinkClick>
              </a:rPr>
              <a:t>https://doi.org/10.1051/swsc/2018020</a:t>
            </a:r>
            <a:r>
              <a:rPr lang="en-US" sz="1400" dirty="0">
                <a:solidFill>
                  <a:schemeClr val="bg1"/>
                </a:solidFill>
                <a:effectLst/>
              </a:rPr>
              <a:t>.</a:t>
            </a:r>
          </a:p>
        </p:txBody>
      </p:sp>
      <p:pic>
        <p:nvPicPr>
          <p:cNvPr id="9" name="Picture 8">
            <a:extLst>
              <a:ext uri="{FF2B5EF4-FFF2-40B4-BE49-F238E27FC236}">
                <a16:creationId xmlns:a16="http://schemas.microsoft.com/office/drawing/2014/main" id="{E08B3CAE-5050-C74D-0070-070F51D14A9C}"/>
              </a:ext>
            </a:extLst>
          </p:cNvPr>
          <p:cNvPicPr>
            <a:picLocks noChangeAspect="1"/>
          </p:cNvPicPr>
          <p:nvPr/>
        </p:nvPicPr>
        <p:blipFill>
          <a:blip r:embed="rId4"/>
          <a:stretch>
            <a:fillRect/>
          </a:stretch>
        </p:blipFill>
        <p:spPr>
          <a:xfrm>
            <a:off x="3545305" y="848633"/>
            <a:ext cx="7772400" cy="5494811"/>
          </a:xfrm>
          <a:prstGeom prst="rect">
            <a:avLst/>
          </a:prstGeom>
        </p:spPr>
      </p:pic>
      <p:pic>
        <p:nvPicPr>
          <p:cNvPr id="2" name="Picture 1">
            <a:extLst>
              <a:ext uri="{FF2B5EF4-FFF2-40B4-BE49-F238E27FC236}">
                <a16:creationId xmlns:a16="http://schemas.microsoft.com/office/drawing/2014/main" id="{226933B1-FE67-6B27-ED36-4B5ED8BF76B9}"/>
              </a:ext>
            </a:extLst>
          </p:cNvPr>
          <p:cNvPicPr>
            <a:picLocks noChangeAspect="1"/>
          </p:cNvPicPr>
          <p:nvPr/>
        </p:nvPicPr>
        <p:blipFill>
          <a:blip r:embed="rId5"/>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1706956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B895C-8C2D-35B6-FE6C-03C46F6B45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052BD4-DC3D-7A3F-CD0C-DDE60C7CCDB8}"/>
              </a:ext>
            </a:extLst>
          </p:cNvPr>
          <p:cNvSpPr>
            <a:spLocks noGrp="1"/>
          </p:cNvSpPr>
          <p:nvPr>
            <p:ph type="sldNum" sz="quarter" idx="12"/>
          </p:nvPr>
        </p:nvSpPr>
        <p:spPr/>
        <p:txBody>
          <a:bodyPr/>
          <a:lstStyle/>
          <a:p>
            <a:fld id="{0A297500-7527-634B-90F4-69D0994C32B4}" type="slidenum">
              <a:rPr lang="nl-NL" smtClean="0"/>
              <a:pPr/>
              <a:t>14</a:t>
            </a:fld>
            <a:endParaRPr lang="nl-NL" dirty="0"/>
          </a:p>
        </p:txBody>
      </p:sp>
      <p:sp>
        <p:nvSpPr>
          <p:cNvPr id="5" name="Title 4">
            <a:extLst>
              <a:ext uri="{FF2B5EF4-FFF2-40B4-BE49-F238E27FC236}">
                <a16:creationId xmlns:a16="http://schemas.microsoft.com/office/drawing/2014/main" id="{D4CCDBDB-7546-2476-2D12-1C2960578864}"/>
              </a:ext>
            </a:extLst>
          </p:cNvPr>
          <p:cNvSpPr>
            <a:spLocks noGrp="1"/>
          </p:cNvSpPr>
          <p:nvPr>
            <p:ph type="title"/>
          </p:nvPr>
        </p:nvSpPr>
        <p:spPr/>
        <p:txBody>
          <a:bodyPr>
            <a:normAutofit fontScale="90000"/>
          </a:bodyPr>
          <a:lstStyle/>
          <a:p>
            <a:r>
              <a:rPr lang="en-US" dirty="0"/>
              <a:t>WSA and WSA+ models for 0.1 AU solar wind</a:t>
            </a:r>
          </a:p>
        </p:txBody>
      </p:sp>
      <p:pic>
        <p:nvPicPr>
          <p:cNvPr id="7" name="Picture 6">
            <a:extLst>
              <a:ext uri="{FF2B5EF4-FFF2-40B4-BE49-F238E27FC236}">
                <a16:creationId xmlns:a16="http://schemas.microsoft.com/office/drawing/2014/main" id="{F4CC8B2A-10CA-DA91-729D-CEC02CDA9293}"/>
              </a:ext>
            </a:extLst>
          </p:cNvPr>
          <p:cNvPicPr>
            <a:picLocks noChangeAspect="1"/>
          </p:cNvPicPr>
          <p:nvPr/>
        </p:nvPicPr>
        <p:blipFill>
          <a:blip r:embed="rId2"/>
          <a:stretch>
            <a:fillRect/>
          </a:stretch>
        </p:blipFill>
        <p:spPr>
          <a:xfrm>
            <a:off x="140368" y="738000"/>
            <a:ext cx="11911263" cy="5596280"/>
          </a:xfrm>
          <a:prstGeom prst="rect">
            <a:avLst/>
          </a:prstGeom>
        </p:spPr>
      </p:pic>
      <p:sp>
        <p:nvSpPr>
          <p:cNvPr id="9" name="TextBox 8">
            <a:extLst>
              <a:ext uri="{FF2B5EF4-FFF2-40B4-BE49-F238E27FC236}">
                <a16:creationId xmlns:a16="http://schemas.microsoft.com/office/drawing/2014/main" id="{E5ED86BC-FC8E-7435-280E-FACC499B43F0}"/>
              </a:ext>
            </a:extLst>
          </p:cNvPr>
          <p:cNvSpPr txBox="1"/>
          <p:nvPr/>
        </p:nvSpPr>
        <p:spPr>
          <a:xfrm>
            <a:off x="997684" y="6412012"/>
            <a:ext cx="8268235" cy="430887"/>
          </a:xfrm>
          <a:prstGeom prst="rect">
            <a:avLst/>
          </a:prstGeom>
          <a:noFill/>
        </p:spPr>
        <p:txBody>
          <a:bodyPr wrap="square">
            <a:spAutoFit/>
          </a:bodyPr>
          <a:lstStyle/>
          <a:p>
            <a:pPr>
              <a:buNone/>
            </a:pPr>
            <a:r>
              <a:rPr lang="en-US" sz="1100" dirty="0">
                <a:solidFill>
                  <a:schemeClr val="bg1"/>
                </a:solidFill>
                <a:effectLst/>
              </a:rPr>
              <a:t>Mayank, Prateek, Enrico Camporeale, Arpit K. Shrivastav, Thomas E. Berger, and Charles N. Arge. “Neural Enhancement of the Traditional Wang–Sheeley–Arge Solar Wind Relation.” </a:t>
            </a:r>
            <a:r>
              <a:rPr lang="en-US" sz="1100" i="1" dirty="0">
                <a:solidFill>
                  <a:schemeClr val="bg1"/>
                </a:solidFill>
                <a:effectLst/>
              </a:rPr>
              <a:t>The Astrophysical Journal Letters</a:t>
            </a:r>
            <a:r>
              <a:rPr lang="en-US" sz="1100" dirty="0">
                <a:solidFill>
                  <a:schemeClr val="bg1"/>
                </a:solidFill>
                <a:effectLst/>
              </a:rPr>
              <a:t> 994, no. 1, 2025</a:t>
            </a:r>
          </a:p>
        </p:txBody>
      </p:sp>
      <p:pic>
        <p:nvPicPr>
          <p:cNvPr id="2" name="Picture 1">
            <a:extLst>
              <a:ext uri="{FF2B5EF4-FFF2-40B4-BE49-F238E27FC236}">
                <a16:creationId xmlns:a16="http://schemas.microsoft.com/office/drawing/2014/main" id="{00435ABD-C64C-CF85-8DBA-7D2F70168566}"/>
              </a:ext>
            </a:extLst>
          </p:cNvPr>
          <p:cNvPicPr>
            <a:picLocks noChangeAspect="1"/>
          </p:cNvPicPr>
          <p:nvPr/>
        </p:nvPicPr>
        <p:blipFill>
          <a:blip r:embed="rId3"/>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4267395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9DAC8-4C6D-A699-C74D-01FAD9413D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9B4446-8C01-B543-44B2-5FE86EFD3E33}"/>
              </a:ext>
            </a:extLst>
          </p:cNvPr>
          <p:cNvSpPr>
            <a:spLocks noGrp="1"/>
          </p:cNvSpPr>
          <p:nvPr>
            <p:ph type="sldNum" sz="quarter" idx="12"/>
          </p:nvPr>
        </p:nvSpPr>
        <p:spPr/>
        <p:txBody>
          <a:bodyPr/>
          <a:lstStyle/>
          <a:p>
            <a:fld id="{0A297500-7527-634B-90F4-69D0994C32B4}" type="slidenum">
              <a:rPr lang="nl-NL" smtClean="0"/>
              <a:pPr/>
              <a:t>15</a:t>
            </a:fld>
            <a:endParaRPr lang="nl-NL" dirty="0"/>
          </a:p>
        </p:txBody>
      </p:sp>
      <p:sp>
        <p:nvSpPr>
          <p:cNvPr id="5" name="Title 4">
            <a:extLst>
              <a:ext uri="{FF2B5EF4-FFF2-40B4-BE49-F238E27FC236}">
                <a16:creationId xmlns:a16="http://schemas.microsoft.com/office/drawing/2014/main" id="{FFAAB93C-E354-85E4-1DFB-31DD89F15208}"/>
              </a:ext>
            </a:extLst>
          </p:cNvPr>
          <p:cNvSpPr>
            <a:spLocks noGrp="1"/>
          </p:cNvSpPr>
          <p:nvPr>
            <p:ph type="title"/>
          </p:nvPr>
        </p:nvSpPr>
        <p:spPr/>
        <p:txBody>
          <a:bodyPr>
            <a:normAutofit fontScale="90000"/>
          </a:bodyPr>
          <a:lstStyle/>
          <a:p>
            <a:r>
              <a:rPr lang="en-US" dirty="0"/>
              <a:t>Heliospheric Upwind </a:t>
            </a:r>
            <a:r>
              <a:rPr lang="en-US" dirty="0" err="1"/>
              <a:t>eXtrapolation</a:t>
            </a:r>
            <a:r>
              <a:rPr lang="en-US" dirty="0"/>
              <a:t> (HUX) + time</a:t>
            </a:r>
            <a:endParaRPr lang="LID4096" dirty="0"/>
          </a:p>
        </p:txBody>
      </p:sp>
      <p:pic>
        <p:nvPicPr>
          <p:cNvPr id="7" name="Picture 6">
            <a:extLst>
              <a:ext uri="{FF2B5EF4-FFF2-40B4-BE49-F238E27FC236}">
                <a16:creationId xmlns:a16="http://schemas.microsoft.com/office/drawing/2014/main" id="{5CD63D3F-565E-6B03-DE59-C89FD06ECE43}"/>
              </a:ext>
            </a:extLst>
          </p:cNvPr>
          <p:cNvPicPr>
            <a:picLocks noChangeAspect="1"/>
          </p:cNvPicPr>
          <p:nvPr/>
        </p:nvPicPr>
        <p:blipFill>
          <a:blip r:embed="rId2"/>
          <a:stretch>
            <a:fillRect/>
          </a:stretch>
        </p:blipFill>
        <p:spPr>
          <a:xfrm>
            <a:off x="7480406" y="831938"/>
            <a:ext cx="2006600" cy="990600"/>
          </a:xfrm>
          <a:prstGeom prst="rect">
            <a:avLst/>
          </a:prstGeom>
        </p:spPr>
      </p:pic>
      <p:sp>
        <p:nvSpPr>
          <p:cNvPr id="8" name="Content Placeholder 1">
            <a:extLst>
              <a:ext uri="{FF2B5EF4-FFF2-40B4-BE49-F238E27FC236}">
                <a16:creationId xmlns:a16="http://schemas.microsoft.com/office/drawing/2014/main" id="{DC368CD5-E86D-C479-1417-6AF9D7EC09F8}"/>
              </a:ext>
            </a:extLst>
          </p:cNvPr>
          <p:cNvSpPr>
            <a:spLocks noGrp="1"/>
          </p:cNvSpPr>
          <p:nvPr>
            <p:ph idx="1"/>
          </p:nvPr>
        </p:nvSpPr>
        <p:spPr>
          <a:xfrm>
            <a:off x="576000" y="1047873"/>
            <a:ext cx="8122832" cy="1317211"/>
          </a:xfrm>
        </p:spPr>
        <p:txBody>
          <a:bodyPr/>
          <a:lstStyle/>
          <a:p>
            <a:r>
              <a:rPr lang="en-US" dirty="0"/>
              <a:t>Solar wind modelled by inviscid Burger’s equation</a:t>
            </a:r>
          </a:p>
        </p:txBody>
      </p:sp>
      <p:sp>
        <p:nvSpPr>
          <p:cNvPr id="12" name="TextBox 11">
            <a:extLst>
              <a:ext uri="{FF2B5EF4-FFF2-40B4-BE49-F238E27FC236}">
                <a16:creationId xmlns:a16="http://schemas.microsoft.com/office/drawing/2014/main" id="{0ED9C772-9FE4-2381-0928-F41B1B7204FB}"/>
              </a:ext>
            </a:extLst>
          </p:cNvPr>
          <p:cNvSpPr txBox="1"/>
          <p:nvPr/>
        </p:nvSpPr>
        <p:spPr>
          <a:xfrm>
            <a:off x="9658990" y="1142572"/>
            <a:ext cx="6100010" cy="369332"/>
          </a:xfrm>
          <a:prstGeom prst="rect">
            <a:avLst/>
          </a:prstGeom>
          <a:noFill/>
        </p:spPr>
        <p:txBody>
          <a:bodyPr wrap="square">
            <a:spAutoFit/>
          </a:bodyPr>
          <a:lstStyle/>
          <a:p>
            <a:r>
              <a:rPr lang="en-US" dirty="0"/>
              <a:t>radial solar wind speed</a:t>
            </a:r>
          </a:p>
        </p:txBody>
      </p:sp>
      <p:sp>
        <p:nvSpPr>
          <p:cNvPr id="13" name="Arc 12">
            <a:extLst>
              <a:ext uri="{FF2B5EF4-FFF2-40B4-BE49-F238E27FC236}">
                <a16:creationId xmlns:a16="http://schemas.microsoft.com/office/drawing/2014/main" id="{1A55CFBA-173F-7937-2D6D-2A0979E1A40A}"/>
              </a:ext>
            </a:extLst>
          </p:cNvPr>
          <p:cNvSpPr/>
          <p:nvPr/>
        </p:nvSpPr>
        <p:spPr>
          <a:xfrm rot="14112986" flipV="1">
            <a:off x="8793211" y="724568"/>
            <a:ext cx="1017104" cy="1574673"/>
          </a:xfrm>
          <a:prstGeom prst="arc">
            <a:avLst>
              <a:gd name="adj1" fmla="val 16117844"/>
              <a:gd name="adj2" fmla="val 167234"/>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pic>
        <p:nvPicPr>
          <p:cNvPr id="14" name="Picture 13">
            <a:extLst>
              <a:ext uri="{FF2B5EF4-FFF2-40B4-BE49-F238E27FC236}">
                <a16:creationId xmlns:a16="http://schemas.microsoft.com/office/drawing/2014/main" id="{2B90AB9B-5B6C-FEB6-308E-B8FD96B2E3CC}"/>
              </a:ext>
            </a:extLst>
          </p:cNvPr>
          <p:cNvPicPr>
            <a:picLocks noChangeAspect="1"/>
          </p:cNvPicPr>
          <p:nvPr/>
        </p:nvPicPr>
        <p:blipFill>
          <a:blip r:embed="rId3"/>
          <a:srcRect t="24598"/>
          <a:stretch>
            <a:fillRect/>
          </a:stretch>
        </p:blipFill>
        <p:spPr>
          <a:xfrm>
            <a:off x="3027100" y="1511904"/>
            <a:ext cx="2451100" cy="517110"/>
          </a:xfrm>
          <a:prstGeom prst="rect">
            <a:avLst/>
          </a:prstGeom>
        </p:spPr>
      </p:pic>
      <p:pic>
        <p:nvPicPr>
          <p:cNvPr id="15" name="Picture 14">
            <a:extLst>
              <a:ext uri="{FF2B5EF4-FFF2-40B4-BE49-F238E27FC236}">
                <a16:creationId xmlns:a16="http://schemas.microsoft.com/office/drawing/2014/main" id="{696ECFA3-F6CF-C395-9C35-C8EDA5A26B29}"/>
              </a:ext>
            </a:extLst>
          </p:cNvPr>
          <p:cNvPicPr>
            <a:picLocks noChangeAspect="1"/>
          </p:cNvPicPr>
          <p:nvPr/>
        </p:nvPicPr>
        <p:blipFill>
          <a:blip r:embed="rId4"/>
          <a:srcRect t="14955"/>
          <a:stretch>
            <a:fillRect/>
          </a:stretch>
        </p:blipFill>
        <p:spPr>
          <a:xfrm>
            <a:off x="613906" y="2029014"/>
            <a:ext cx="3213100" cy="874860"/>
          </a:xfrm>
          <a:prstGeom prst="rect">
            <a:avLst/>
          </a:prstGeom>
        </p:spPr>
      </p:pic>
      <p:sp>
        <p:nvSpPr>
          <p:cNvPr id="17" name="TextBox 16">
            <a:extLst>
              <a:ext uri="{FF2B5EF4-FFF2-40B4-BE49-F238E27FC236}">
                <a16:creationId xmlns:a16="http://schemas.microsoft.com/office/drawing/2014/main" id="{EB7210E5-70C7-3C2F-D1BE-1978853B9DB3}"/>
              </a:ext>
            </a:extLst>
          </p:cNvPr>
          <p:cNvSpPr txBox="1"/>
          <p:nvPr/>
        </p:nvSpPr>
        <p:spPr>
          <a:xfrm>
            <a:off x="576000" y="1590672"/>
            <a:ext cx="5364612" cy="369332"/>
          </a:xfrm>
          <a:prstGeom prst="rect">
            <a:avLst/>
          </a:prstGeom>
          <a:noFill/>
        </p:spPr>
        <p:txBody>
          <a:bodyPr wrap="square">
            <a:spAutoFit/>
          </a:bodyPr>
          <a:lstStyle/>
          <a:p>
            <a:r>
              <a:rPr lang="en-US" dirty="0"/>
              <a:t>residual acceleration,</a:t>
            </a:r>
          </a:p>
        </p:txBody>
      </p:sp>
      <p:sp>
        <p:nvSpPr>
          <p:cNvPr id="19" name="TextBox 18">
            <a:extLst>
              <a:ext uri="{FF2B5EF4-FFF2-40B4-BE49-F238E27FC236}">
                <a16:creationId xmlns:a16="http://schemas.microsoft.com/office/drawing/2014/main" id="{29604861-7AF1-ED63-7395-FDCAACDCC10F}"/>
              </a:ext>
            </a:extLst>
          </p:cNvPr>
          <p:cNvSpPr txBox="1"/>
          <p:nvPr/>
        </p:nvSpPr>
        <p:spPr>
          <a:xfrm>
            <a:off x="4637415" y="2132411"/>
            <a:ext cx="7394163" cy="707886"/>
          </a:xfrm>
          <a:prstGeom prst="rect">
            <a:avLst/>
          </a:prstGeom>
          <a:noFill/>
        </p:spPr>
        <p:txBody>
          <a:bodyPr wrap="square">
            <a:spAutoFit/>
          </a:bodyPr>
          <a:lstStyle/>
          <a:p>
            <a:r>
              <a:rPr lang="en-US" sz="2000" dirty="0"/>
              <a:t>Courant–Friedrichs–Lewy (CFL) condition: </a:t>
            </a:r>
          </a:p>
          <a:p>
            <a:r>
              <a:rPr lang="en-US" sz="2000" dirty="0" err="1"/>
              <a:t>Δt</a:t>
            </a:r>
            <a:r>
              <a:rPr lang="en-US" sz="2000" dirty="0"/>
              <a:t> ≤ </a:t>
            </a:r>
            <a:r>
              <a:rPr lang="en-US" sz="2000" dirty="0" err="1"/>
              <a:t>Δr</a:t>
            </a:r>
            <a:r>
              <a:rPr lang="en-US" sz="2000" dirty="0"/>
              <a:t>  </a:t>
            </a:r>
            <a:r>
              <a:rPr lang="en-US" sz="2000" dirty="0" err="1"/>
              <a:t>vmax</a:t>
            </a:r>
            <a:r>
              <a:rPr lang="en-US" sz="2000" dirty="0"/>
              <a:t>,  with </a:t>
            </a:r>
            <a:r>
              <a:rPr lang="en-US" sz="2000" dirty="0" err="1"/>
              <a:t>vmax</a:t>
            </a:r>
            <a:r>
              <a:rPr lang="en-US" sz="2000" dirty="0"/>
              <a:t> = 2000 km/s =&gt; </a:t>
            </a:r>
            <a:r>
              <a:rPr lang="en-US" sz="2000" dirty="0" err="1"/>
              <a:t>Δt</a:t>
            </a:r>
            <a:r>
              <a:rPr lang="en-US" sz="2000" dirty="0"/>
              <a:t> = 8.70 min</a:t>
            </a:r>
          </a:p>
        </p:txBody>
      </p:sp>
      <p:pic>
        <p:nvPicPr>
          <p:cNvPr id="21" name="Picture 20">
            <a:extLst>
              <a:ext uri="{FF2B5EF4-FFF2-40B4-BE49-F238E27FC236}">
                <a16:creationId xmlns:a16="http://schemas.microsoft.com/office/drawing/2014/main" id="{BA765E9D-8A5F-DEBE-50B5-3C5ED70EF1DB}"/>
              </a:ext>
            </a:extLst>
          </p:cNvPr>
          <p:cNvPicPr>
            <a:picLocks noChangeAspect="1"/>
          </p:cNvPicPr>
          <p:nvPr/>
        </p:nvPicPr>
        <p:blipFill>
          <a:blip r:embed="rId5"/>
          <a:srcRect t="3796" b="22824"/>
          <a:stretch>
            <a:fillRect/>
          </a:stretch>
        </p:blipFill>
        <p:spPr>
          <a:xfrm>
            <a:off x="104138" y="3083610"/>
            <a:ext cx="11277736" cy="3342062"/>
          </a:xfrm>
          <a:prstGeom prst="rect">
            <a:avLst/>
          </a:prstGeom>
        </p:spPr>
      </p:pic>
      <p:pic>
        <p:nvPicPr>
          <p:cNvPr id="2" name="Picture 1">
            <a:extLst>
              <a:ext uri="{FF2B5EF4-FFF2-40B4-BE49-F238E27FC236}">
                <a16:creationId xmlns:a16="http://schemas.microsoft.com/office/drawing/2014/main" id="{225EB48E-028B-A29A-E5E6-A7D65D94C22C}"/>
              </a:ext>
            </a:extLst>
          </p:cNvPr>
          <p:cNvPicPr>
            <a:picLocks noChangeAspect="1"/>
          </p:cNvPicPr>
          <p:nvPr/>
        </p:nvPicPr>
        <p:blipFill>
          <a:blip r:embed="rId6"/>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3490744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07246E-40D7-76E8-206C-274F1CB317D1}"/>
              </a:ext>
            </a:extLst>
          </p:cNvPr>
          <p:cNvSpPr/>
          <p:nvPr/>
        </p:nvSpPr>
        <p:spPr>
          <a:xfrm>
            <a:off x="138023" y="90000"/>
            <a:ext cx="11128075" cy="5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itre 5">
            <a:extLst>
              <a:ext uri="{FF2B5EF4-FFF2-40B4-BE49-F238E27FC236}">
                <a16:creationId xmlns:a16="http://schemas.microsoft.com/office/drawing/2014/main" id="{14155C33-0566-4568-E3EE-BB73A22C0F92}"/>
              </a:ext>
            </a:extLst>
          </p:cNvPr>
          <p:cNvSpPr>
            <a:spLocks noGrp="1"/>
          </p:cNvSpPr>
          <p:nvPr>
            <p:ph type="title"/>
          </p:nvPr>
        </p:nvSpPr>
        <p:spPr>
          <a:xfrm>
            <a:off x="511167" y="147924"/>
            <a:ext cx="10013547" cy="648000"/>
          </a:xfrm>
        </p:spPr>
        <p:txBody>
          <a:bodyPr>
            <a:normAutofit/>
          </a:bodyPr>
          <a:lstStyle/>
          <a:p>
            <a:r>
              <a:rPr lang="fr-FR" sz="3600" dirty="0">
                <a:latin typeface="Fengardo Neue" panose="020B0604020202020204"/>
              </a:rPr>
              <a:t>The </a:t>
            </a:r>
            <a:r>
              <a:rPr lang="fr-FR" sz="3600" dirty="0" err="1">
                <a:latin typeface="Fengardo Neue" panose="020B0604020202020204"/>
              </a:rPr>
              <a:t>cone</a:t>
            </a:r>
            <a:r>
              <a:rPr lang="fr-FR" sz="3600" dirty="0">
                <a:latin typeface="Fengardo Neue" panose="020B0604020202020204"/>
              </a:rPr>
              <a:t> Coronal Mass Ejection (CME) model</a:t>
            </a:r>
          </a:p>
        </p:txBody>
      </p:sp>
      <p:sp>
        <p:nvSpPr>
          <p:cNvPr id="37" name="ZoneTexte 36">
            <a:extLst>
              <a:ext uri="{FF2B5EF4-FFF2-40B4-BE49-F238E27FC236}">
                <a16:creationId xmlns:a16="http://schemas.microsoft.com/office/drawing/2014/main" id="{2D8E8775-EBD4-A41D-86A0-1D509602EFC7}"/>
              </a:ext>
            </a:extLst>
          </p:cNvPr>
          <p:cNvSpPr txBox="1"/>
          <p:nvPr/>
        </p:nvSpPr>
        <p:spPr>
          <a:xfrm flipH="1">
            <a:off x="4563920" y="2996773"/>
            <a:ext cx="661219"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F4D5D"/>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F4D5D"/>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18B042D0-CFDB-5F34-A830-8CCD7322987F}"/>
              </a:ext>
            </a:extLst>
          </p:cNvPr>
          <p:cNvPicPr>
            <a:picLocks noChangeAspect="1"/>
          </p:cNvPicPr>
          <p:nvPr/>
        </p:nvPicPr>
        <p:blipFill>
          <a:blip r:embed="rId2"/>
          <a:stretch>
            <a:fillRect/>
          </a:stretch>
        </p:blipFill>
        <p:spPr>
          <a:xfrm>
            <a:off x="11020888" y="6412013"/>
            <a:ext cx="1190224" cy="450922"/>
          </a:xfrm>
          <a:prstGeom prst="rect">
            <a:avLst/>
          </a:prstGeom>
        </p:spPr>
      </p:pic>
      <p:pic>
        <p:nvPicPr>
          <p:cNvPr id="11" name="Picture 10">
            <a:extLst>
              <a:ext uri="{FF2B5EF4-FFF2-40B4-BE49-F238E27FC236}">
                <a16:creationId xmlns:a16="http://schemas.microsoft.com/office/drawing/2014/main" id="{CCBD3370-B899-B12B-2CD2-2165067394E4}"/>
              </a:ext>
            </a:extLst>
          </p:cNvPr>
          <p:cNvPicPr>
            <a:picLocks noChangeAspect="1"/>
          </p:cNvPicPr>
          <p:nvPr/>
        </p:nvPicPr>
        <p:blipFill>
          <a:blip r:embed="rId3"/>
          <a:stretch>
            <a:fillRect/>
          </a:stretch>
        </p:blipFill>
        <p:spPr>
          <a:xfrm>
            <a:off x="800100" y="944323"/>
            <a:ext cx="2782164" cy="2606448"/>
          </a:xfrm>
          <a:prstGeom prst="rect">
            <a:avLst/>
          </a:prstGeom>
        </p:spPr>
      </p:pic>
      <p:pic>
        <p:nvPicPr>
          <p:cNvPr id="13" name="Picture 12">
            <a:extLst>
              <a:ext uri="{FF2B5EF4-FFF2-40B4-BE49-F238E27FC236}">
                <a16:creationId xmlns:a16="http://schemas.microsoft.com/office/drawing/2014/main" id="{8DBEE969-D63F-C829-961E-873316634A9B}"/>
              </a:ext>
            </a:extLst>
          </p:cNvPr>
          <p:cNvPicPr>
            <a:picLocks noChangeAspect="1"/>
          </p:cNvPicPr>
          <p:nvPr/>
        </p:nvPicPr>
        <p:blipFill>
          <a:blip r:embed="rId4"/>
          <a:stretch>
            <a:fillRect/>
          </a:stretch>
        </p:blipFill>
        <p:spPr>
          <a:xfrm>
            <a:off x="4850757" y="913695"/>
            <a:ext cx="2490485" cy="2521016"/>
          </a:xfrm>
          <a:prstGeom prst="rect">
            <a:avLst/>
          </a:prstGeom>
        </p:spPr>
      </p:pic>
      <p:pic>
        <p:nvPicPr>
          <p:cNvPr id="14" name="Picture 13">
            <a:extLst>
              <a:ext uri="{FF2B5EF4-FFF2-40B4-BE49-F238E27FC236}">
                <a16:creationId xmlns:a16="http://schemas.microsoft.com/office/drawing/2014/main" id="{A8C29483-CBA7-E734-D077-4D6FC3311CA6}"/>
              </a:ext>
            </a:extLst>
          </p:cNvPr>
          <p:cNvPicPr>
            <a:picLocks noChangeAspect="1"/>
          </p:cNvPicPr>
          <p:nvPr/>
        </p:nvPicPr>
        <p:blipFill>
          <a:blip r:embed="rId5"/>
          <a:srcRect t="32981"/>
          <a:stretch>
            <a:fillRect/>
          </a:stretch>
        </p:blipFill>
        <p:spPr>
          <a:xfrm>
            <a:off x="8344226" y="834325"/>
            <a:ext cx="3336607" cy="3439442"/>
          </a:xfrm>
          <a:prstGeom prst="rect">
            <a:avLst/>
          </a:prstGeom>
        </p:spPr>
      </p:pic>
      <p:sp>
        <p:nvSpPr>
          <p:cNvPr id="19" name="TextBox 18">
            <a:extLst>
              <a:ext uri="{FF2B5EF4-FFF2-40B4-BE49-F238E27FC236}">
                <a16:creationId xmlns:a16="http://schemas.microsoft.com/office/drawing/2014/main" id="{8191C25A-FCAF-E569-2F39-02E96ECF16B9}"/>
              </a:ext>
            </a:extLst>
          </p:cNvPr>
          <p:cNvSpPr txBox="1"/>
          <p:nvPr/>
        </p:nvSpPr>
        <p:spPr>
          <a:xfrm>
            <a:off x="8344226" y="4460092"/>
            <a:ext cx="3336607" cy="1200329"/>
          </a:xfrm>
          <a:prstGeom prst="rect">
            <a:avLst/>
          </a:prstGeom>
          <a:noFill/>
        </p:spPr>
        <p:txBody>
          <a:bodyPr wrap="square">
            <a:spAutoFit/>
          </a:bodyPr>
          <a:lstStyle/>
          <a:p>
            <a:r>
              <a:rPr lang="en-US" dirty="0"/>
              <a:t>Comparison of modeled halos (black circles) and LASCO images for the 4 April 2000 event.</a:t>
            </a:r>
          </a:p>
        </p:txBody>
      </p:sp>
      <p:sp>
        <p:nvSpPr>
          <p:cNvPr id="21" name="TextBox 20">
            <a:extLst>
              <a:ext uri="{FF2B5EF4-FFF2-40B4-BE49-F238E27FC236}">
                <a16:creationId xmlns:a16="http://schemas.microsoft.com/office/drawing/2014/main" id="{22CE50FA-7111-4271-4A53-C8E46D8205C2}"/>
              </a:ext>
            </a:extLst>
          </p:cNvPr>
          <p:cNvSpPr txBox="1"/>
          <p:nvPr/>
        </p:nvSpPr>
        <p:spPr>
          <a:xfrm>
            <a:off x="4596613" y="3699170"/>
            <a:ext cx="3246121" cy="923330"/>
          </a:xfrm>
          <a:prstGeom prst="rect">
            <a:avLst/>
          </a:prstGeom>
          <a:noFill/>
        </p:spPr>
        <p:txBody>
          <a:bodyPr wrap="square">
            <a:spAutoFit/>
          </a:bodyPr>
          <a:lstStyle/>
          <a:p>
            <a:r>
              <a:rPr lang="en-US" dirty="0"/>
              <a:t>Elliptical projection of the circular cross section of the cone on the plane of the sky.</a:t>
            </a:r>
          </a:p>
        </p:txBody>
      </p:sp>
      <p:sp>
        <p:nvSpPr>
          <p:cNvPr id="23" name="TextBox 22">
            <a:extLst>
              <a:ext uri="{FF2B5EF4-FFF2-40B4-BE49-F238E27FC236}">
                <a16:creationId xmlns:a16="http://schemas.microsoft.com/office/drawing/2014/main" id="{051B8660-CF46-C2A1-7D82-9C37BAA17573}"/>
              </a:ext>
            </a:extLst>
          </p:cNvPr>
          <p:cNvSpPr txBox="1"/>
          <p:nvPr/>
        </p:nvSpPr>
        <p:spPr>
          <a:xfrm>
            <a:off x="678523" y="3608046"/>
            <a:ext cx="3040037" cy="923330"/>
          </a:xfrm>
          <a:prstGeom prst="rect">
            <a:avLst/>
          </a:prstGeom>
          <a:noFill/>
        </p:spPr>
        <p:txBody>
          <a:bodyPr wrap="square">
            <a:spAutoFit/>
          </a:bodyPr>
          <a:lstStyle/>
          <a:p>
            <a:r>
              <a:rPr lang="en-US" dirty="0"/>
              <a:t>Topology of the cone model and transformation of coordinate systems.</a:t>
            </a:r>
          </a:p>
        </p:txBody>
      </p:sp>
      <p:sp>
        <p:nvSpPr>
          <p:cNvPr id="25" name="TextBox 24">
            <a:extLst>
              <a:ext uri="{FF2B5EF4-FFF2-40B4-BE49-F238E27FC236}">
                <a16:creationId xmlns:a16="http://schemas.microsoft.com/office/drawing/2014/main" id="{9FCEC4E4-C2BE-FFBE-5279-789A43E7773F}"/>
              </a:ext>
            </a:extLst>
          </p:cNvPr>
          <p:cNvSpPr txBox="1"/>
          <p:nvPr/>
        </p:nvSpPr>
        <p:spPr>
          <a:xfrm>
            <a:off x="800100" y="6356845"/>
            <a:ext cx="10491704" cy="584775"/>
          </a:xfrm>
          <a:prstGeom prst="rect">
            <a:avLst/>
          </a:prstGeom>
          <a:noFill/>
        </p:spPr>
        <p:txBody>
          <a:bodyPr wrap="square">
            <a:spAutoFit/>
          </a:bodyPr>
          <a:lstStyle/>
          <a:p>
            <a:pPr>
              <a:buNone/>
            </a:pPr>
            <a:r>
              <a:rPr lang="en-US" sz="1600" dirty="0">
                <a:solidFill>
                  <a:schemeClr val="bg1"/>
                </a:solidFill>
                <a:effectLst/>
              </a:rPr>
              <a:t>Xie, Hong, Leon Ofman, and Gareth Lawrence. “Cone Model for Halo CMEs: Application to Space Weather Forecasting.” </a:t>
            </a:r>
            <a:r>
              <a:rPr lang="en-US" sz="1600" i="1" dirty="0">
                <a:solidFill>
                  <a:schemeClr val="bg1"/>
                </a:solidFill>
                <a:effectLst/>
              </a:rPr>
              <a:t>Journal of Geophysical Research: Space Physics</a:t>
            </a:r>
            <a:r>
              <a:rPr lang="en-US" sz="1600" dirty="0">
                <a:solidFill>
                  <a:schemeClr val="bg1"/>
                </a:solidFill>
                <a:effectLst/>
              </a:rPr>
              <a:t> 109, 2004</a:t>
            </a:r>
          </a:p>
        </p:txBody>
      </p:sp>
    </p:spTree>
    <p:extLst>
      <p:ext uri="{BB962C8B-B14F-4D97-AF65-F5344CB8AC3E}">
        <p14:creationId xmlns:p14="http://schemas.microsoft.com/office/powerpoint/2010/main" val="1816515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9FAE-D376-FF4A-5E73-F91A42BDF4FA}"/>
              </a:ext>
            </a:extLst>
          </p:cNvPr>
          <p:cNvSpPr>
            <a:spLocks noGrp="1"/>
          </p:cNvSpPr>
          <p:nvPr>
            <p:ph type="title"/>
          </p:nvPr>
        </p:nvSpPr>
        <p:spPr/>
        <p:txBody>
          <a:bodyPr>
            <a:normAutofit fontScale="90000"/>
          </a:bodyPr>
          <a:lstStyle/>
          <a:p>
            <a:r>
              <a:rPr lang="en-GB" dirty="0"/>
              <a:t>The NEED for SPEED</a:t>
            </a:r>
          </a:p>
        </p:txBody>
      </p:sp>
      <p:sp>
        <p:nvSpPr>
          <p:cNvPr id="3" name="Text Placeholder 2">
            <a:extLst>
              <a:ext uri="{FF2B5EF4-FFF2-40B4-BE49-F238E27FC236}">
                <a16:creationId xmlns:a16="http://schemas.microsoft.com/office/drawing/2014/main" id="{63C30D1A-0251-305D-5371-7EAF43163B45}"/>
              </a:ext>
            </a:extLst>
          </p:cNvPr>
          <p:cNvSpPr>
            <a:spLocks noGrp="1"/>
          </p:cNvSpPr>
          <p:nvPr>
            <p:ph type="body" sz="quarter" idx="10"/>
          </p:nvPr>
        </p:nvSpPr>
        <p:spPr>
          <a:xfrm>
            <a:off x="609600" y="1354668"/>
            <a:ext cx="10972800" cy="648305"/>
          </a:xfrm>
        </p:spPr>
        <p:txBody>
          <a:bodyPr/>
          <a:lstStyle/>
          <a:p>
            <a:pPr marL="0" indent="0">
              <a:buNone/>
            </a:pPr>
            <a:r>
              <a:rPr lang="en-GB" dirty="0"/>
              <a:t>Ensemble modelling forecasting</a:t>
            </a:r>
            <a:r>
              <a:rPr lang="pl-PL" dirty="0"/>
              <a:t> </a:t>
            </a:r>
            <a:r>
              <a:rPr lang="pl-PL" i="1" dirty="0"/>
              <a:t>to deal with uncertainty</a:t>
            </a:r>
            <a:endParaRPr lang="en-GB" i="1" dirty="0"/>
          </a:p>
          <a:p>
            <a:endParaRPr lang="en-GB" dirty="0"/>
          </a:p>
          <a:p>
            <a:endParaRPr lang="en-GB" dirty="0"/>
          </a:p>
        </p:txBody>
      </p:sp>
      <p:sp>
        <p:nvSpPr>
          <p:cNvPr id="5" name="TextBox 4">
            <a:extLst>
              <a:ext uri="{FF2B5EF4-FFF2-40B4-BE49-F238E27FC236}">
                <a16:creationId xmlns:a16="http://schemas.microsoft.com/office/drawing/2014/main" id="{F763F734-9C82-A473-5DA2-2D3E4FAD2A75}"/>
              </a:ext>
            </a:extLst>
          </p:cNvPr>
          <p:cNvSpPr txBox="1"/>
          <p:nvPr/>
        </p:nvSpPr>
        <p:spPr>
          <a:xfrm>
            <a:off x="1093410" y="2421065"/>
            <a:ext cx="3357639" cy="3046988"/>
          </a:xfrm>
          <a:prstGeom prst="rect">
            <a:avLst/>
          </a:prstGeom>
          <a:noFill/>
        </p:spPr>
        <p:txBody>
          <a:bodyPr wrap="square">
            <a:spAutoFit/>
          </a:bodyPr>
          <a:lstStyle/>
          <a:p>
            <a:r>
              <a:rPr lang="en-GB" sz="1600" dirty="0"/>
              <a:t>Schematic of an ensemble forecast where the lines represent trajectories of individual forecasts that diverge from each other owing to uncertainties in the initial conditions. The </a:t>
            </a:r>
            <a:r>
              <a:rPr lang="en-GB" sz="1600" dirty="0" err="1"/>
              <a:t>gray</a:t>
            </a:r>
            <a:r>
              <a:rPr lang="en-GB" sz="1600" dirty="0"/>
              <a:t> envelope highlights that there are range of forecast states, not just the state that arises from a single deterministic forecast (as indicated by the black circle). </a:t>
            </a:r>
            <a:r>
              <a:rPr lang="en-US" sz="1600" dirty="0"/>
              <a:t>Credit: </a:t>
            </a:r>
            <a:r>
              <a:rPr lang="en-US" sz="1600" dirty="0">
                <a:hlinkClick r:id="rId2"/>
              </a:rPr>
              <a:t>Murray [2018]</a:t>
            </a:r>
            <a:r>
              <a:rPr lang="en-US" sz="1600" dirty="0"/>
              <a:t>, Figure 5</a:t>
            </a:r>
            <a:endParaRPr lang="en-GB" sz="1600" dirty="0"/>
          </a:p>
        </p:txBody>
      </p:sp>
      <p:pic>
        <p:nvPicPr>
          <p:cNvPr id="6" name="Picture 5">
            <a:extLst>
              <a:ext uri="{FF2B5EF4-FFF2-40B4-BE49-F238E27FC236}">
                <a16:creationId xmlns:a16="http://schemas.microsoft.com/office/drawing/2014/main" id="{6363C3F0-3703-1A4A-A1A0-8E29428AE18A}"/>
              </a:ext>
            </a:extLst>
          </p:cNvPr>
          <p:cNvPicPr>
            <a:picLocks noChangeAspect="1"/>
          </p:cNvPicPr>
          <p:nvPr/>
        </p:nvPicPr>
        <p:blipFill>
          <a:blip r:embed="rId3"/>
          <a:stretch>
            <a:fillRect/>
          </a:stretch>
        </p:blipFill>
        <p:spPr>
          <a:xfrm>
            <a:off x="4292884" y="2049333"/>
            <a:ext cx="7899117" cy="4122568"/>
          </a:xfrm>
          <a:prstGeom prst="rect">
            <a:avLst/>
          </a:prstGeom>
        </p:spPr>
      </p:pic>
      <p:sp>
        <p:nvSpPr>
          <p:cNvPr id="8" name="Slide Number Placeholder 3">
            <a:extLst>
              <a:ext uri="{FF2B5EF4-FFF2-40B4-BE49-F238E27FC236}">
                <a16:creationId xmlns:a16="http://schemas.microsoft.com/office/drawing/2014/main" id="{C786C39D-7CCC-A877-66A6-932D03535783}"/>
              </a:ext>
            </a:extLst>
          </p:cNvPr>
          <p:cNvSpPr txBox="1">
            <a:spLocks/>
          </p:cNvSpPr>
          <p:nvPr/>
        </p:nvSpPr>
        <p:spPr>
          <a:xfrm>
            <a:off x="576000" y="6210000"/>
            <a:ext cx="648000" cy="648000"/>
          </a:xfrm>
          <a:prstGeom prst="rect">
            <a:avLst/>
          </a:prstGeom>
        </p:spPr>
        <p:txBody>
          <a:bodyPr vert="horz" lIns="0" tIns="0" rIns="0" bIns="0" rtlCol="0" anchor="ctr"/>
          <a:lstStyle>
            <a:defPPr>
              <a:defRPr lang="nl-NL"/>
            </a:defPPr>
            <a:lvl1pPr marL="0" algn="l" defTabSz="914400" rtl="0" eaLnBrk="1" latinLnBrk="0" hangingPunct="1">
              <a:defRPr sz="1000" kern="1200" baseline="0">
                <a:solidFill>
                  <a:schemeClr val="bg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04C566-9CCF-47C5-A074-9BFC1F6CBEA7}" type="slidenum">
              <a:rPr lang="nl-NL"/>
              <a:pPr/>
              <a:t>17</a:t>
            </a:fld>
            <a:endParaRPr lang="nl-NL" dirty="0"/>
          </a:p>
        </p:txBody>
      </p:sp>
      <p:pic>
        <p:nvPicPr>
          <p:cNvPr id="9" name="Picture 8">
            <a:extLst>
              <a:ext uri="{FF2B5EF4-FFF2-40B4-BE49-F238E27FC236}">
                <a16:creationId xmlns:a16="http://schemas.microsoft.com/office/drawing/2014/main" id="{62103835-8B09-5AC0-5993-B96373CC2C24}"/>
              </a:ext>
            </a:extLst>
          </p:cNvPr>
          <p:cNvPicPr>
            <a:picLocks noChangeAspect="1"/>
          </p:cNvPicPr>
          <p:nvPr/>
        </p:nvPicPr>
        <p:blipFill>
          <a:blip r:embed="rId4"/>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3140399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77221-9082-E896-D3C4-06B9D6426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C3821-B8FA-031C-ED2B-9BA24A3A844D}"/>
              </a:ext>
            </a:extLst>
          </p:cNvPr>
          <p:cNvSpPr>
            <a:spLocks noGrp="1"/>
          </p:cNvSpPr>
          <p:nvPr>
            <p:ph type="title"/>
          </p:nvPr>
        </p:nvSpPr>
        <p:spPr/>
        <p:txBody>
          <a:bodyPr/>
          <a:lstStyle/>
          <a:p>
            <a:r>
              <a:rPr lang="en-US" sz="4000" dirty="0"/>
              <a:t>Gaussian Process Regression for CME forecasting</a:t>
            </a:r>
            <a:endParaRPr lang="LID4096" sz="4000" dirty="0"/>
          </a:p>
        </p:txBody>
      </p:sp>
      <p:pic>
        <p:nvPicPr>
          <p:cNvPr id="3" name="Picture 2">
            <a:extLst>
              <a:ext uri="{FF2B5EF4-FFF2-40B4-BE49-F238E27FC236}">
                <a16:creationId xmlns:a16="http://schemas.microsoft.com/office/drawing/2014/main" id="{1AAECD27-573A-9F92-6C0D-499169478CB5}"/>
              </a:ext>
            </a:extLst>
          </p:cNvPr>
          <p:cNvPicPr>
            <a:picLocks noChangeAspect="1"/>
          </p:cNvPicPr>
          <p:nvPr/>
        </p:nvPicPr>
        <p:blipFill>
          <a:blip r:embed="rId2"/>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3160454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278179-3D99-FF91-F044-402E3E35A5EA}"/>
              </a:ext>
            </a:extLst>
          </p:cNvPr>
          <p:cNvSpPr>
            <a:spLocks noGrp="1"/>
          </p:cNvSpPr>
          <p:nvPr>
            <p:ph type="ftr" sz="quarter" idx="11"/>
          </p:nvPr>
        </p:nvSpPr>
        <p:spPr/>
        <p:txBody>
          <a:bodyPr/>
          <a:lstStyle/>
          <a:p>
            <a:r>
              <a:rPr lang="en-GB"/>
              <a:t>CmPA Seminars Series</a:t>
            </a:r>
            <a:endParaRPr lang="nl-NL" dirty="0"/>
          </a:p>
        </p:txBody>
      </p:sp>
      <p:sp>
        <p:nvSpPr>
          <p:cNvPr id="4" name="Slide Number Placeholder 3">
            <a:extLst>
              <a:ext uri="{FF2B5EF4-FFF2-40B4-BE49-F238E27FC236}">
                <a16:creationId xmlns:a16="http://schemas.microsoft.com/office/drawing/2014/main" id="{2CAC19F2-1B8B-2FDB-D519-0FC79DBF1682}"/>
              </a:ext>
            </a:extLst>
          </p:cNvPr>
          <p:cNvSpPr>
            <a:spLocks noGrp="1"/>
          </p:cNvSpPr>
          <p:nvPr>
            <p:ph type="sldNum" sz="quarter" idx="12"/>
          </p:nvPr>
        </p:nvSpPr>
        <p:spPr/>
        <p:txBody>
          <a:bodyPr/>
          <a:lstStyle/>
          <a:p>
            <a:fld id="{0A297500-7527-634B-90F4-69D0994C32B4}" type="slidenum">
              <a:rPr lang="nl-NL" smtClean="0"/>
              <a:pPr/>
              <a:t>19</a:t>
            </a:fld>
            <a:endParaRPr lang="nl-NL" dirty="0"/>
          </a:p>
        </p:txBody>
      </p:sp>
      <p:sp>
        <p:nvSpPr>
          <p:cNvPr id="5" name="Title 4">
            <a:extLst>
              <a:ext uri="{FF2B5EF4-FFF2-40B4-BE49-F238E27FC236}">
                <a16:creationId xmlns:a16="http://schemas.microsoft.com/office/drawing/2014/main" id="{981DCFC5-7C61-3896-A617-96FA6E4801EE}"/>
              </a:ext>
            </a:extLst>
          </p:cNvPr>
          <p:cNvSpPr>
            <a:spLocks noGrp="1"/>
          </p:cNvSpPr>
          <p:nvPr>
            <p:ph type="title"/>
          </p:nvPr>
        </p:nvSpPr>
        <p:spPr/>
        <p:txBody>
          <a:bodyPr>
            <a:normAutofit fontScale="90000"/>
          </a:bodyPr>
          <a:lstStyle/>
          <a:p>
            <a:r>
              <a:rPr lang="en-US" dirty="0"/>
              <a:t>HUXt pipeline in the exercises</a:t>
            </a:r>
          </a:p>
        </p:txBody>
      </p:sp>
      <p:pic>
        <p:nvPicPr>
          <p:cNvPr id="6" name="Picture 5">
            <a:extLst>
              <a:ext uri="{FF2B5EF4-FFF2-40B4-BE49-F238E27FC236}">
                <a16:creationId xmlns:a16="http://schemas.microsoft.com/office/drawing/2014/main" id="{52D949A8-AD59-E8C3-F098-D2FF9027C880}"/>
              </a:ext>
            </a:extLst>
          </p:cNvPr>
          <p:cNvPicPr>
            <a:picLocks noChangeAspect="1"/>
          </p:cNvPicPr>
          <p:nvPr/>
        </p:nvPicPr>
        <p:blipFill>
          <a:blip r:embed="rId2"/>
          <a:stretch>
            <a:fillRect/>
          </a:stretch>
        </p:blipFill>
        <p:spPr>
          <a:xfrm>
            <a:off x="576000" y="925296"/>
            <a:ext cx="4927600" cy="2324100"/>
          </a:xfrm>
          <a:prstGeom prst="rect">
            <a:avLst/>
          </a:prstGeom>
        </p:spPr>
      </p:pic>
      <p:pic>
        <p:nvPicPr>
          <p:cNvPr id="7" name="Picture 6">
            <a:extLst>
              <a:ext uri="{FF2B5EF4-FFF2-40B4-BE49-F238E27FC236}">
                <a16:creationId xmlns:a16="http://schemas.microsoft.com/office/drawing/2014/main" id="{F90C238C-04CD-B78B-277C-77CE703FF15D}"/>
              </a:ext>
            </a:extLst>
          </p:cNvPr>
          <p:cNvPicPr>
            <a:picLocks noChangeAspect="1"/>
          </p:cNvPicPr>
          <p:nvPr/>
        </p:nvPicPr>
        <p:blipFill>
          <a:blip r:embed="rId3"/>
          <a:stretch>
            <a:fillRect/>
          </a:stretch>
        </p:blipFill>
        <p:spPr>
          <a:xfrm>
            <a:off x="2264610" y="1759953"/>
            <a:ext cx="4775200" cy="2159000"/>
          </a:xfrm>
          <a:prstGeom prst="rect">
            <a:avLst/>
          </a:prstGeom>
        </p:spPr>
      </p:pic>
      <p:pic>
        <p:nvPicPr>
          <p:cNvPr id="8" name="Picture 7">
            <a:extLst>
              <a:ext uri="{FF2B5EF4-FFF2-40B4-BE49-F238E27FC236}">
                <a16:creationId xmlns:a16="http://schemas.microsoft.com/office/drawing/2014/main" id="{9D6417ED-ABE3-44D5-0D08-03FD3BD0C19A}"/>
              </a:ext>
            </a:extLst>
          </p:cNvPr>
          <p:cNvPicPr>
            <a:picLocks noChangeAspect="1"/>
          </p:cNvPicPr>
          <p:nvPr/>
        </p:nvPicPr>
        <p:blipFill>
          <a:blip r:embed="rId4"/>
          <a:stretch>
            <a:fillRect/>
          </a:stretch>
        </p:blipFill>
        <p:spPr>
          <a:xfrm>
            <a:off x="3806324" y="2337406"/>
            <a:ext cx="7683500" cy="2603500"/>
          </a:xfrm>
          <a:prstGeom prst="rect">
            <a:avLst/>
          </a:prstGeom>
        </p:spPr>
      </p:pic>
      <p:pic>
        <p:nvPicPr>
          <p:cNvPr id="9" name="Picture 8">
            <a:extLst>
              <a:ext uri="{FF2B5EF4-FFF2-40B4-BE49-F238E27FC236}">
                <a16:creationId xmlns:a16="http://schemas.microsoft.com/office/drawing/2014/main" id="{73907032-55D7-6294-CB6F-55B03E0EBA0E}"/>
              </a:ext>
            </a:extLst>
          </p:cNvPr>
          <p:cNvPicPr>
            <a:picLocks noChangeAspect="1"/>
          </p:cNvPicPr>
          <p:nvPr/>
        </p:nvPicPr>
        <p:blipFill>
          <a:blip r:embed="rId5"/>
          <a:stretch>
            <a:fillRect/>
          </a:stretch>
        </p:blipFill>
        <p:spPr>
          <a:xfrm>
            <a:off x="6553200" y="3918953"/>
            <a:ext cx="5638800" cy="2159000"/>
          </a:xfrm>
          <a:prstGeom prst="rect">
            <a:avLst/>
          </a:prstGeom>
        </p:spPr>
      </p:pic>
      <p:pic>
        <p:nvPicPr>
          <p:cNvPr id="2" name="Picture 1">
            <a:extLst>
              <a:ext uri="{FF2B5EF4-FFF2-40B4-BE49-F238E27FC236}">
                <a16:creationId xmlns:a16="http://schemas.microsoft.com/office/drawing/2014/main" id="{C6F8EF8C-A373-F46B-2A88-4AF7407559E4}"/>
              </a:ext>
            </a:extLst>
          </p:cNvPr>
          <p:cNvPicPr>
            <a:picLocks noChangeAspect="1"/>
          </p:cNvPicPr>
          <p:nvPr/>
        </p:nvPicPr>
        <p:blipFill>
          <a:blip r:embed="rId6"/>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163426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4851-9223-4C5C-14D6-791394489F3C}"/>
              </a:ext>
            </a:extLst>
          </p:cNvPr>
          <p:cNvSpPr>
            <a:spLocks noGrp="1"/>
          </p:cNvSpPr>
          <p:nvPr>
            <p:ph type="title"/>
          </p:nvPr>
        </p:nvSpPr>
        <p:spPr>
          <a:xfrm>
            <a:off x="575999" y="798978"/>
            <a:ext cx="6096524" cy="2386800"/>
          </a:xfrm>
        </p:spPr>
        <p:txBody>
          <a:bodyPr>
            <a:normAutofit/>
          </a:bodyPr>
          <a:lstStyle/>
          <a:p>
            <a:r>
              <a:rPr lang="en-US" b="0" dirty="0"/>
              <a:t>Hands‑on: Using Gaussian Process Regression in HUXt</a:t>
            </a:r>
            <a:endParaRPr lang="LID4096" dirty="0"/>
          </a:p>
        </p:txBody>
      </p:sp>
      <p:sp>
        <p:nvSpPr>
          <p:cNvPr id="3" name="Text Placeholder 2">
            <a:extLst>
              <a:ext uri="{FF2B5EF4-FFF2-40B4-BE49-F238E27FC236}">
                <a16:creationId xmlns:a16="http://schemas.microsoft.com/office/drawing/2014/main" id="{617FA19C-F31B-26C6-E434-0E83C63D67DF}"/>
              </a:ext>
            </a:extLst>
          </p:cNvPr>
          <p:cNvSpPr>
            <a:spLocks noGrp="1"/>
          </p:cNvSpPr>
          <p:nvPr>
            <p:ph type="body" idx="1"/>
          </p:nvPr>
        </p:nvSpPr>
        <p:spPr/>
        <p:txBody>
          <a:bodyPr>
            <a:normAutofit lnSpcReduction="10000"/>
          </a:bodyPr>
          <a:lstStyle/>
          <a:p>
            <a:r>
              <a:rPr lang="en-US" dirty="0"/>
              <a:t>Predicting hit times and time of arrival of CMEs on Earth given cone parameters of CMEs. </a:t>
            </a:r>
          </a:p>
          <a:p>
            <a:r>
              <a:rPr lang="en-US" dirty="0"/>
              <a:t>See CONECAST project and its tutorials:</a:t>
            </a:r>
          </a:p>
          <a:p>
            <a:r>
              <a:rPr lang="en-US" dirty="0">
                <a:hlinkClick r:id="rId2"/>
              </a:rPr>
              <a:t>https://</a:t>
            </a:r>
            <a:r>
              <a:rPr lang="en-US" dirty="0" err="1">
                <a:hlinkClick r:id="rId2"/>
              </a:rPr>
              <a:t>georgemilosh.github.io</a:t>
            </a:r>
            <a:r>
              <a:rPr lang="en-US" dirty="0">
                <a:hlinkClick r:id="rId2"/>
              </a:rPr>
              <a:t>/projects/</a:t>
            </a:r>
            <a:r>
              <a:rPr lang="en-US" dirty="0" err="1">
                <a:hlinkClick r:id="rId2"/>
              </a:rPr>
              <a:t>conecast</a:t>
            </a:r>
            <a:r>
              <a:rPr lang="en-US" dirty="0">
                <a:hlinkClick r:id="rId2"/>
              </a:rPr>
              <a:t>/</a:t>
            </a:r>
            <a:endParaRPr lang="LID4096"/>
          </a:p>
        </p:txBody>
      </p:sp>
      <p:sp>
        <p:nvSpPr>
          <p:cNvPr id="4" name="Footer Placeholder 3">
            <a:extLst>
              <a:ext uri="{FF2B5EF4-FFF2-40B4-BE49-F238E27FC236}">
                <a16:creationId xmlns:a16="http://schemas.microsoft.com/office/drawing/2014/main" id="{F69A51D5-EF23-57CD-90E7-143E95183493}"/>
              </a:ext>
            </a:extLst>
          </p:cNvPr>
          <p:cNvSpPr>
            <a:spLocks noGrp="1"/>
          </p:cNvSpPr>
          <p:nvPr>
            <p:ph type="ftr" sz="quarter" idx="11"/>
          </p:nvPr>
        </p:nvSpPr>
        <p:spPr/>
        <p:txBody>
          <a:bodyPr/>
          <a:lstStyle/>
          <a:p>
            <a:r>
              <a:rPr lang="en-GB"/>
              <a:t>CmPA Seminars Series</a:t>
            </a:r>
            <a:endParaRPr lang="nl-NL" dirty="0"/>
          </a:p>
        </p:txBody>
      </p:sp>
      <p:sp>
        <p:nvSpPr>
          <p:cNvPr id="5" name="Slide Number Placeholder 4">
            <a:extLst>
              <a:ext uri="{FF2B5EF4-FFF2-40B4-BE49-F238E27FC236}">
                <a16:creationId xmlns:a16="http://schemas.microsoft.com/office/drawing/2014/main" id="{2259220E-ECF8-46D4-7643-D713981F04D8}"/>
              </a:ext>
            </a:extLst>
          </p:cNvPr>
          <p:cNvSpPr>
            <a:spLocks noGrp="1"/>
          </p:cNvSpPr>
          <p:nvPr>
            <p:ph type="sldNum" sz="quarter" idx="12"/>
          </p:nvPr>
        </p:nvSpPr>
        <p:spPr/>
        <p:txBody>
          <a:bodyPr/>
          <a:lstStyle/>
          <a:p>
            <a:fld id="{0A297500-7527-634B-90F4-69D0994C32B4}" type="slidenum">
              <a:rPr lang="nl-NL" smtClean="0"/>
              <a:pPr/>
              <a:t>20</a:t>
            </a:fld>
            <a:endParaRPr lang="nl-NL" dirty="0"/>
          </a:p>
        </p:txBody>
      </p:sp>
      <p:pic>
        <p:nvPicPr>
          <p:cNvPr id="12" name="Picture 11">
            <a:extLst>
              <a:ext uri="{FF2B5EF4-FFF2-40B4-BE49-F238E27FC236}">
                <a16:creationId xmlns:a16="http://schemas.microsoft.com/office/drawing/2014/main" id="{3993D5D6-3898-52EC-6B38-CA1CA1D6EBCC}"/>
              </a:ext>
            </a:extLst>
          </p:cNvPr>
          <p:cNvPicPr>
            <a:picLocks noChangeAspect="1"/>
          </p:cNvPicPr>
          <p:nvPr/>
        </p:nvPicPr>
        <p:blipFill>
          <a:blip r:embed="rId3"/>
          <a:stretch>
            <a:fillRect/>
          </a:stretch>
        </p:blipFill>
        <p:spPr>
          <a:xfrm>
            <a:off x="7877396" y="0"/>
            <a:ext cx="4314605" cy="3258766"/>
          </a:xfrm>
          <a:prstGeom prst="rect">
            <a:avLst/>
          </a:prstGeom>
        </p:spPr>
      </p:pic>
      <p:pic>
        <p:nvPicPr>
          <p:cNvPr id="13" name="Picture 12">
            <a:extLst>
              <a:ext uri="{FF2B5EF4-FFF2-40B4-BE49-F238E27FC236}">
                <a16:creationId xmlns:a16="http://schemas.microsoft.com/office/drawing/2014/main" id="{3182A806-05F3-DE52-A8B4-B1CEF7DAB303}"/>
              </a:ext>
            </a:extLst>
          </p:cNvPr>
          <p:cNvPicPr>
            <a:picLocks noChangeAspect="1"/>
          </p:cNvPicPr>
          <p:nvPr/>
        </p:nvPicPr>
        <p:blipFill>
          <a:blip r:embed="rId4"/>
          <a:stretch>
            <a:fillRect/>
          </a:stretch>
        </p:blipFill>
        <p:spPr>
          <a:xfrm>
            <a:off x="7892332" y="3185778"/>
            <a:ext cx="4314605" cy="3226236"/>
          </a:xfrm>
          <a:prstGeom prst="rect">
            <a:avLst/>
          </a:prstGeom>
        </p:spPr>
      </p:pic>
      <p:pic>
        <p:nvPicPr>
          <p:cNvPr id="6" name="Picture 5">
            <a:extLst>
              <a:ext uri="{FF2B5EF4-FFF2-40B4-BE49-F238E27FC236}">
                <a16:creationId xmlns:a16="http://schemas.microsoft.com/office/drawing/2014/main" id="{797DDB85-264F-EDD8-8A5B-C875213513C4}"/>
              </a:ext>
            </a:extLst>
          </p:cNvPr>
          <p:cNvPicPr>
            <a:picLocks noChangeAspect="1"/>
          </p:cNvPicPr>
          <p:nvPr/>
        </p:nvPicPr>
        <p:blipFill>
          <a:blip r:embed="rId5"/>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3356873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CD80-B34D-54F8-890D-5686F932C24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49C54B-09B9-A2D9-26BF-F6CC03B14A9B}"/>
              </a:ext>
            </a:extLst>
          </p:cNvPr>
          <p:cNvSpPr>
            <a:spLocks noGrp="1"/>
          </p:cNvSpPr>
          <p:nvPr>
            <p:ph idx="1"/>
          </p:nvPr>
        </p:nvSpPr>
        <p:spPr>
          <a:xfrm>
            <a:off x="6370320" y="4733227"/>
            <a:ext cx="5534321" cy="1494572"/>
          </a:xfrm>
        </p:spPr>
        <p:txBody>
          <a:bodyPr>
            <a:normAutofit fontScale="92500"/>
          </a:bodyPr>
          <a:lstStyle/>
          <a:p>
            <a:r>
              <a:rPr lang="en-US" dirty="0"/>
              <a:t>six identical telescopes</a:t>
            </a:r>
          </a:p>
          <a:p>
            <a:r>
              <a:rPr lang="en-US" dirty="0"/>
              <a:t>magnetograph shows the strength, polarity, and location of the magnetic fields</a:t>
            </a:r>
          </a:p>
        </p:txBody>
      </p:sp>
      <p:sp>
        <p:nvSpPr>
          <p:cNvPr id="4" name="Slide Number Placeholder 3">
            <a:extLst>
              <a:ext uri="{FF2B5EF4-FFF2-40B4-BE49-F238E27FC236}">
                <a16:creationId xmlns:a16="http://schemas.microsoft.com/office/drawing/2014/main" id="{782ED3A9-8CFC-A83F-828F-A110C95D6C4A}"/>
              </a:ext>
            </a:extLst>
          </p:cNvPr>
          <p:cNvSpPr>
            <a:spLocks noGrp="1"/>
          </p:cNvSpPr>
          <p:nvPr>
            <p:ph type="sldNum" sz="quarter" idx="12"/>
          </p:nvPr>
        </p:nvSpPr>
        <p:spPr/>
        <p:txBody>
          <a:bodyPr/>
          <a:lstStyle/>
          <a:p>
            <a:fld id="{0A297500-7527-634B-90F4-69D0994C32B4}" type="slidenum">
              <a:rPr lang="nl-NL" smtClean="0"/>
              <a:pPr/>
              <a:t>21</a:t>
            </a:fld>
            <a:endParaRPr lang="nl-NL" dirty="0"/>
          </a:p>
        </p:txBody>
      </p:sp>
      <p:sp>
        <p:nvSpPr>
          <p:cNvPr id="5" name="Title 4">
            <a:extLst>
              <a:ext uri="{FF2B5EF4-FFF2-40B4-BE49-F238E27FC236}">
                <a16:creationId xmlns:a16="http://schemas.microsoft.com/office/drawing/2014/main" id="{48361794-029F-B680-19DC-67FBFA416AE0}"/>
              </a:ext>
            </a:extLst>
          </p:cNvPr>
          <p:cNvSpPr>
            <a:spLocks noGrp="1"/>
          </p:cNvSpPr>
          <p:nvPr>
            <p:ph type="title"/>
          </p:nvPr>
        </p:nvSpPr>
        <p:spPr/>
        <p:txBody>
          <a:bodyPr>
            <a:normAutofit fontScale="90000"/>
          </a:bodyPr>
          <a:lstStyle/>
          <a:p>
            <a:r>
              <a:rPr lang="en-US" dirty="0"/>
              <a:t>GONG magnetograms</a:t>
            </a:r>
          </a:p>
        </p:txBody>
      </p:sp>
      <p:pic>
        <p:nvPicPr>
          <p:cNvPr id="6" name="Picture 5" descr="GONG at Big Bear Solar Observatory, California">
            <a:extLst>
              <a:ext uri="{FF2B5EF4-FFF2-40B4-BE49-F238E27FC236}">
                <a16:creationId xmlns:a16="http://schemas.microsoft.com/office/drawing/2014/main" id="{2630715D-18B6-87B9-0C81-DE86D0640CFC}"/>
              </a:ext>
            </a:extLst>
          </p:cNvPr>
          <p:cNvPicPr>
            <a:picLocks noChangeAspect="1"/>
          </p:cNvPicPr>
          <p:nvPr/>
        </p:nvPicPr>
        <p:blipFill>
          <a:blip r:embed="rId2"/>
          <a:stretch>
            <a:fillRect/>
          </a:stretch>
        </p:blipFill>
        <p:spPr>
          <a:xfrm>
            <a:off x="576000" y="2832375"/>
            <a:ext cx="2480310" cy="1608443"/>
          </a:xfrm>
          <a:prstGeom prst="rect">
            <a:avLst/>
          </a:prstGeom>
        </p:spPr>
      </p:pic>
      <p:pic>
        <p:nvPicPr>
          <p:cNvPr id="7" name="Picture 6" descr="GONG shelter in Learmonth, Australia">
            <a:extLst>
              <a:ext uri="{FF2B5EF4-FFF2-40B4-BE49-F238E27FC236}">
                <a16:creationId xmlns:a16="http://schemas.microsoft.com/office/drawing/2014/main" id="{5AC8CE86-05C7-B294-31D3-275CFF0D2600}"/>
              </a:ext>
            </a:extLst>
          </p:cNvPr>
          <p:cNvPicPr>
            <a:picLocks noChangeAspect="1"/>
          </p:cNvPicPr>
          <p:nvPr/>
        </p:nvPicPr>
        <p:blipFill>
          <a:blip r:embed="rId3"/>
          <a:stretch>
            <a:fillRect/>
          </a:stretch>
        </p:blipFill>
        <p:spPr>
          <a:xfrm>
            <a:off x="576000" y="871861"/>
            <a:ext cx="2480310" cy="1894055"/>
          </a:xfrm>
          <a:prstGeom prst="rect">
            <a:avLst/>
          </a:prstGeom>
        </p:spPr>
      </p:pic>
      <p:pic>
        <p:nvPicPr>
          <p:cNvPr id="9" name="Picture 8" descr="GONG shelter at Mauna Loa, Hawai'i">
            <a:extLst>
              <a:ext uri="{FF2B5EF4-FFF2-40B4-BE49-F238E27FC236}">
                <a16:creationId xmlns:a16="http://schemas.microsoft.com/office/drawing/2014/main" id="{FFF9F83B-1BE7-1EC9-A957-30CE6FB012C0}"/>
              </a:ext>
            </a:extLst>
          </p:cNvPr>
          <p:cNvPicPr>
            <a:picLocks noChangeAspect="1"/>
          </p:cNvPicPr>
          <p:nvPr/>
        </p:nvPicPr>
        <p:blipFill>
          <a:blip r:embed="rId4"/>
          <a:stretch>
            <a:fillRect/>
          </a:stretch>
        </p:blipFill>
        <p:spPr>
          <a:xfrm>
            <a:off x="576000" y="4622194"/>
            <a:ext cx="2480310" cy="1608443"/>
          </a:xfrm>
          <a:prstGeom prst="rect">
            <a:avLst/>
          </a:prstGeom>
        </p:spPr>
      </p:pic>
      <p:pic>
        <p:nvPicPr>
          <p:cNvPr id="10" name="Picture 9" descr="Loading..">
            <a:extLst>
              <a:ext uri="{FF2B5EF4-FFF2-40B4-BE49-F238E27FC236}">
                <a16:creationId xmlns:a16="http://schemas.microsoft.com/office/drawing/2014/main" id="{200F3D18-5389-7999-B615-3A1E957E8CF7}"/>
              </a:ext>
            </a:extLst>
          </p:cNvPr>
          <p:cNvPicPr>
            <a:picLocks noChangeAspect="1"/>
          </p:cNvPicPr>
          <p:nvPr/>
        </p:nvPicPr>
        <p:blipFill>
          <a:blip r:embed="rId5"/>
          <a:stretch>
            <a:fillRect/>
          </a:stretch>
        </p:blipFill>
        <p:spPr>
          <a:xfrm>
            <a:off x="6096000" y="871862"/>
            <a:ext cx="5844540" cy="3812867"/>
          </a:xfrm>
          <a:prstGeom prst="rect">
            <a:avLst/>
          </a:prstGeom>
        </p:spPr>
      </p:pic>
      <p:pic>
        <p:nvPicPr>
          <p:cNvPr id="11" name="Picture 10">
            <a:extLst>
              <a:ext uri="{FF2B5EF4-FFF2-40B4-BE49-F238E27FC236}">
                <a16:creationId xmlns:a16="http://schemas.microsoft.com/office/drawing/2014/main" id="{4D432513-64D6-7CC2-2441-92511F1B2454}"/>
              </a:ext>
            </a:extLst>
          </p:cNvPr>
          <p:cNvPicPr>
            <a:picLocks noChangeAspect="1"/>
          </p:cNvPicPr>
          <p:nvPr/>
        </p:nvPicPr>
        <p:blipFill>
          <a:blip r:embed="rId6"/>
          <a:stretch>
            <a:fillRect/>
          </a:stretch>
        </p:blipFill>
        <p:spPr>
          <a:xfrm>
            <a:off x="818720" y="6443034"/>
            <a:ext cx="1609520" cy="415857"/>
          </a:xfrm>
          <a:prstGeom prst="rect">
            <a:avLst/>
          </a:prstGeom>
        </p:spPr>
      </p:pic>
      <p:pic>
        <p:nvPicPr>
          <p:cNvPr id="12" name="Picture 11">
            <a:extLst>
              <a:ext uri="{FF2B5EF4-FFF2-40B4-BE49-F238E27FC236}">
                <a16:creationId xmlns:a16="http://schemas.microsoft.com/office/drawing/2014/main" id="{C7094A3A-C038-02BA-B4C3-5BBBE571BECE}"/>
              </a:ext>
            </a:extLst>
          </p:cNvPr>
          <p:cNvPicPr>
            <a:picLocks noChangeAspect="1"/>
          </p:cNvPicPr>
          <p:nvPr/>
        </p:nvPicPr>
        <p:blipFill>
          <a:blip r:embed="rId7"/>
          <a:stretch>
            <a:fillRect/>
          </a:stretch>
        </p:blipFill>
        <p:spPr>
          <a:xfrm>
            <a:off x="574800" y="73175"/>
            <a:ext cx="684062" cy="630199"/>
          </a:xfrm>
          <a:prstGeom prst="rect">
            <a:avLst/>
          </a:prstGeom>
        </p:spPr>
      </p:pic>
      <p:pic>
        <p:nvPicPr>
          <p:cNvPr id="3" name="Picture 2">
            <a:extLst>
              <a:ext uri="{FF2B5EF4-FFF2-40B4-BE49-F238E27FC236}">
                <a16:creationId xmlns:a16="http://schemas.microsoft.com/office/drawing/2014/main" id="{AE05148E-7A25-AB54-9F5F-C13AC6ACEC91}"/>
              </a:ext>
            </a:extLst>
          </p:cNvPr>
          <p:cNvPicPr>
            <a:picLocks noChangeAspect="1"/>
          </p:cNvPicPr>
          <p:nvPr/>
        </p:nvPicPr>
        <p:blipFill>
          <a:blip r:embed="rId8"/>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333667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57CD0AB-DF72-AD2E-B003-7C71766A3270}"/>
              </a:ext>
            </a:extLst>
          </p:cNvPr>
          <p:cNvSpPr>
            <a:spLocks noGrp="1"/>
          </p:cNvSpPr>
          <p:nvPr>
            <p:ph type="ftr" sz="quarter" idx="11"/>
          </p:nvPr>
        </p:nvSpPr>
        <p:spPr/>
        <p:txBody>
          <a:bodyPr/>
          <a:lstStyle/>
          <a:p>
            <a:r>
              <a:rPr lang="en-GB"/>
              <a:t>CmPA Seminars Series</a:t>
            </a:r>
            <a:endParaRPr lang="nl-NL" dirty="0"/>
          </a:p>
        </p:txBody>
      </p:sp>
      <p:sp>
        <p:nvSpPr>
          <p:cNvPr id="4" name="Slide Number Placeholder 3">
            <a:extLst>
              <a:ext uri="{FF2B5EF4-FFF2-40B4-BE49-F238E27FC236}">
                <a16:creationId xmlns:a16="http://schemas.microsoft.com/office/drawing/2014/main" id="{7BE4CF6D-BB80-40C9-981D-8B2FC1D8AD7F}"/>
              </a:ext>
            </a:extLst>
          </p:cNvPr>
          <p:cNvSpPr>
            <a:spLocks noGrp="1"/>
          </p:cNvSpPr>
          <p:nvPr>
            <p:ph type="sldNum" sz="quarter" idx="12"/>
          </p:nvPr>
        </p:nvSpPr>
        <p:spPr/>
        <p:txBody>
          <a:bodyPr/>
          <a:lstStyle/>
          <a:p>
            <a:fld id="{0A297500-7527-634B-90F4-69D0994C32B4}" type="slidenum">
              <a:rPr lang="nl-NL" smtClean="0"/>
              <a:pPr/>
              <a:t>22</a:t>
            </a:fld>
            <a:endParaRPr lang="nl-NL" dirty="0"/>
          </a:p>
        </p:txBody>
      </p:sp>
      <p:sp>
        <p:nvSpPr>
          <p:cNvPr id="5" name="Title 4">
            <a:extLst>
              <a:ext uri="{FF2B5EF4-FFF2-40B4-BE49-F238E27FC236}">
                <a16:creationId xmlns:a16="http://schemas.microsoft.com/office/drawing/2014/main" id="{1E3E4B2D-44FA-4881-24CC-3282C7B4ADF3}"/>
              </a:ext>
            </a:extLst>
          </p:cNvPr>
          <p:cNvSpPr>
            <a:spLocks noGrp="1"/>
          </p:cNvSpPr>
          <p:nvPr>
            <p:ph type="title"/>
          </p:nvPr>
        </p:nvSpPr>
        <p:spPr/>
        <p:txBody>
          <a:bodyPr>
            <a:normAutofit fontScale="90000"/>
          </a:bodyPr>
          <a:lstStyle/>
          <a:p>
            <a:r>
              <a:rPr lang="en-US" dirty="0"/>
              <a:t>Prediction with noise-free observations</a:t>
            </a:r>
          </a:p>
        </p:txBody>
      </p:sp>
      <p:pic>
        <p:nvPicPr>
          <p:cNvPr id="6" name="Picture 5">
            <a:extLst>
              <a:ext uri="{FF2B5EF4-FFF2-40B4-BE49-F238E27FC236}">
                <a16:creationId xmlns:a16="http://schemas.microsoft.com/office/drawing/2014/main" id="{59DE399E-82F6-7048-49E7-B3AC34805619}"/>
              </a:ext>
            </a:extLst>
          </p:cNvPr>
          <p:cNvPicPr>
            <a:picLocks noChangeAspect="1"/>
          </p:cNvPicPr>
          <p:nvPr/>
        </p:nvPicPr>
        <p:blipFill>
          <a:blip r:embed="rId2"/>
          <a:stretch>
            <a:fillRect/>
          </a:stretch>
        </p:blipFill>
        <p:spPr>
          <a:xfrm>
            <a:off x="2090486" y="2183018"/>
            <a:ext cx="7241856" cy="1391987"/>
          </a:xfrm>
          <a:prstGeom prst="rect">
            <a:avLst/>
          </a:prstGeom>
        </p:spPr>
      </p:pic>
      <p:pic>
        <p:nvPicPr>
          <p:cNvPr id="7" name="Picture 6">
            <a:extLst>
              <a:ext uri="{FF2B5EF4-FFF2-40B4-BE49-F238E27FC236}">
                <a16:creationId xmlns:a16="http://schemas.microsoft.com/office/drawing/2014/main" id="{38E66D59-C32E-24AA-104D-D389BBDFB50A}"/>
              </a:ext>
            </a:extLst>
          </p:cNvPr>
          <p:cNvPicPr>
            <a:picLocks noChangeAspect="1"/>
          </p:cNvPicPr>
          <p:nvPr/>
        </p:nvPicPr>
        <p:blipFill>
          <a:blip r:embed="rId3"/>
          <a:stretch>
            <a:fillRect/>
          </a:stretch>
        </p:blipFill>
        <p:spPr>
          <a:xfrm>
            <a:off x="1779831" y="4280530"/>
            <a:ext cx="8993607" cy="1229895"/>
          </a:xfrm>
          <a:prstGeom prst="rect">
            <a:avLst/>
          </a:prstGeom>
        </p:spPr>
      </p:pic>
      <p:pic>
        <p:nvPicPr>
          <p:cNvPr id="8" name="Picture 7">
            <a:extLst>
              <a:ext uri="{FF2B5EF4-FFF2-40B4-BE49-F238E27FC236}">
                <a16:creationId xmlns:a16="http://schemas.microsoft.com/office/drawing/2014/main" id="{28459C87-F8C3-8CC6-751A-85D81B6ED8F8}"/>
              </a:ext>
            </a:extLst>
          </p:cNvPr>
          <p:cNvPicPr>
            <a:picLocks noChangeAspect="1"/>
          </p:cNvPicPr>
          <p:nvPr/>
        </p:nvPicPr>
        <p:blipFill>
          <a:blip r:embed="rId4"/>
          <a:srcRect t="22657"/>
          <a:stretch>
            <a:fillRect/>
          </a:stretch>
        </p:blipFill>
        <p:spPr>
          <a:xfrm>
            <a:off x="2210802" y="1162289"/>
            <a:ext cx="4181408" cy="530962"/>
          </a:xfrm>
          <a:prstGeom prst="rect">
            <a:avLst/>
          </a:prstGeom>
        </p:spPr>
      </p:pic>
      <p:sp>
        <p:nvSpPr>
          <p:cNvPr id="10" name="TextBox 9">
            <a:extLst>
              <a:ext uri="{FF2B5EF4-FFF2-40B4-BE49-F238E27FC236}">
                <a16:creationId xmlns:a16="http://schemas.microsoft.com/office/drawing/2014/main" id="{F16E5A13-6F0D-86B9-E052-E5DE8B79B3FE}"/>
              </a:ext>
            </a:extLst>
          </p:cNvPr>
          <p:cNvSpPr txBox="1"/>
          <p:nvPr/>
        </p:nvSpPr>
        <p:spPr>
          <a:xfrm>
            <a:off x="119055" y="1897921"/>
            <a:ext cx="12315160" cy="461665"/>
          </a:xfrm>
          <a:prstGeom prst="rect">
            <a:avLst/>
          </a:prstGeom>
          <a:noFill/>
        </p:spPr>
        <p:txBody>
          <a:bodyPr wrap="square">
            <a:spAutoFit/>
          </a:bodyPr>
          <a:lstStyle/>
          <a:p>
            <a:pPr>
              <a:buNone/>
            </a:pPr>
            <a:r>
              <a:rPr lang="en-US" sz="2400" dirty="0">
                <a:solidFill>
                  <a:srgbClr val="000000"/>
                </a:solidFill>
                <a:effectLst/>
                <a:latin typeface="Helvetica" pitchFamily="2" charset="0"/>
              </a:rPr>
              <a:t>The joint joint prior</a:t>
            </a:r>
            <a:r>
              <a:rPr lang="en-US" sz="2400" dirty="0">
                <a:solidFill>
                  <a:srgbClr val="000000"/>
                </a:solidFill>
                <a:latin typeface="Helvetica" pitchFamily="2" charset="0"/>
              </a:rPr>
              <a:t> </a:t>
            </a:r>
            <a:r>
              <a:rPr lang="en-US" sz="2400" dirty="0">
                <a:solidFill>
                  <a:srgbClr val="000000"/>
                </a:solidFill>
                <a:effectLst/>
                <a:latin typeface="Helvetica" pitchFamily="2" charset="0"/>
              </a:rPr>
              <a:t>distribution of the training outputs, </a:t>
            </a:r>
            <a:r>
              <a:rPr lang="en-US" sz="2400" b="1" dirty="0">
                <a:solidFill>
                  <a:srgbClr val="000000"/>
                </a:solidFill>
                <a:effectLst/>
                <a:latin typeface="Helvetica" pitchFamily="2" charset="0"/>
              </a:rPr>
              <a:t>f </a:t>
            </a:r>
            <a:r>
              <a:rPr lang="en-US" sz="2400" dirty="0">
                <a:solidFill>
                  <a:srgbClr val="000000"/>
                </a:solidFill>
                <a:effectLst/>
                <a:latin typeface="Helvetica" pitchFamily="2" charset="0"/>
              </a:rPr>
              <a:t>,and the test outputs </a:t>
            </a:r>
            <a:r>
              <a:rPr lang="en-US" sz="2400" b="1" dirty="0">
                <a:solidFill>
                  <a:srgbClr val="000000"/>
                </a:solidFill>
                <a:effectLst/>
                <a:latin typeface="Helvetica" pitchFamily="2" charset="0"/>
              </a:rPr>
              <a:t>f∗ </a:t>
            </a:r>
            <a:r>
              <a:rPr lang="en-US" sz="2400" dirty="0">
                <a:solidFill>
                  <a:srgbClr val="000000"/>
                </a:solidFill>
                <a:effectLst/>
                <a:latin typeface="Helvetica" pitchFamily="2" charset="0"/>
              </a:rPr>
              <a:t>according</a:t>
            </a:r>
          </a:p>
        </p:txBody>
      </p:sp>
      <p:sp>
        <p:nvSpPr>
          <p:cNvPr id="12" name="TextBox 11">
            <a:extLst>
              <a:ext uri="{FF2B5EF4-FFF2-40B4-BE49-F238E27FC236}">
                <a16:creationId xmlns:a16="http://schemas.microsoft.com/office/drawing/2014/main" id="{29C9DEB4-2796-5FD6-1BCA-B6695027461F}"/>
              </a:ext>
            </a:extLst>
          </p:cNvPr>
          <p:cNvSpPr txBox="1"/>
          <p:nvPr/>
        </p:nvSpPr>
        <p:spPr>
          <a:xfrm>
            <a:off x="215565" y="3519507"/>
            <a:ext cx="11760870" cy="830997"/>
          </a:xfrm>
          <a:prstGeom prst="rect">
            <a:avLst/>
          </a:prstGeom>
          <a:noFill/>
        </p:spPr>
        <p:txBody>
          <a:bodyPr wrap="square">
            <a:spAutoFit/>
          </a:bodyPr>
          <a:lstStyle/>
          <a:p>
            <a:pPr>
              <a:buNone/>
            </a:pPr>
            <a:r>
              <a:rPr lang="en-US" sz="2400" b="1" dirty="0">
                <a:solidFill>
                  <a:srgbClr val="000000"/>
                </a:solidFill>
                <a:effectLst/>
                <a:latin typeface="Helvetica" pitchFamily="2" charset="0"/>
              </a:rPr>
              <a:t>n</a:t>
            </a:r>
            <a:r>
              <a:rPr lang="en-US" sz="2400" dirty="0">
                <a:solidFill>
                  <a:srgbClr val="000000"/>
                </a:solidFill>
                <a:effectLst/>
                <a:latin typeface="Helvetica" pitchFamily="2" charset="0"/>
              </a:rPr>
              <a:t> training points and </a:t>
            </a:r>
            <a:r>
              <a:rPr lang="en-US" sz="2400" b="1" dirty="0">
                <a:solidFill>
                  <a:srgbClr val="000000"/>
                </a:solidFill>
                <a:effectLst/>
                <a:latin typeface="Helvetica" pitchFamily="2" charset="0"/>
              </a:rPr>
              <a:t>n∗</a:t>
            </a:r>
            <a:r>
              <a:rPr lang="en-US" sz="2400" dirty="0">
                <a:solidFill>
                  <a:srgbClr val="000000"/>
                </a:solidFill>
                <a:effectLst/>
                <a:latin typeface="Helvetica" pitchFamily="2" charset="0"/>
              </a:rPr>
              <a:t> test points then </a:t>
            </a:r>
            <a:r>
              <a:rPr lang="en-US" sz="2400" b="1" dirty="0">
                <a:solidFill>
                  <a:srgbClr val="000000"/>
                </a:solidFill>
                <a:effectLst/>
                <a:latin typeface="Helvetica" pitchFamily="2" charset="0"/>
              </a:rPr>
              <a:t>K(X,X∗) </a:t>
            </a:r>
            <a:r>
              <a:rPr lang="en-US" sz="2400" dirty="0">
                <a:solidFill>
                  <a:srgbClr val="000000"/>
                </a:solidFill>
                <a:effectLst/>
                <a:latin typeface="Helvetica" pitchFamily="2" charset="0"/>
              </a:rPr>
              <a:t>denotes the </a:t>
            </a:r>
            <a:r>
              <a:rPr lang="en-US" sz="2400" b="1" dirty="0" err="1">
                <a:solidFill>
                  <a:srgbClr val="000000"/>
                </a:solidFill>
                <a:effectLst/>
                <a:latin typeface="Helvetica" pitchFamily="2" charset="0"/>
              </a:rPr>
              <a:t>n×n</a:t>
            </a:r>
            <a:r>
              <a:rPr lang="en-US" sz="2400" b="1" dirty="0">
                <a:solidFill>
                  <a:srgbClr val="000000"/>
                </a:solidFill>
                <a:effectLst/>
                <a:latin typeface="Helvetica" pitchFamily="2" charset="0"/>
              </a:rPr>
              <a:t>∗</a:t>
            </a:r>
            <a:r>
              <a:rPr lang="en-US" sz="2400" dirty="0">
                <a:solidFill>
                  <a:srgbClr val="000000"/>
                </a:solidFill>
                <a:effectLst/>
                <a:latin typeface="Helvetica" pitchFamily="2" charset="0"/>
              </a:rPr>
              <a:t> matrix of the covariances evaluated at all pairs of training and test points</a:t>
            </a:r>
          </a:p>
        </p:txBody>
      </p:sp>
      <p:sp>
        <p:nvSpPr>
          <p:cNvPr id="14" name="TextBox 13">
            <a:extLst>
              <a:ext uri="{FF2B5EF4-FFF2-40B4-BE49-F238E27FC236}">
                <a16:creationId xmlns:a16="http://schemas.microsoft.com/office/drawing/2014/main" id="{9AE90421-F4DE-49AA-B557-964A10B3E3EE}"/>
              </a:ext>
            </a:extLst>
          </p:cNvPr>
          <p:cNvSpPr txBox="1"/>
          <p:nvPr/>
        </p:nvSpPr>
        <p:spPr>
          <a:xfrm>
            <a:off x="366962" y="5434676"/>
            <a:ext cx="11520237" cy="830997"/>
          </a:xfrm>
          <a:prstGeom prst="rect">
            <a:avLst/>
          </a:prstGeom>
          <a:noFill/>
        </p:spPr>
        <p:txBody>
          <a:bodyPr wrap="square">
            <a:spAutoFit/>
          </a:bodyPr>
          <a:lstStyle/>
          <a:p>
            <a:pPr>
              <a:buNone/>
            </a:pPr>
            <a:r>
              <a:rPr lang="en-US" sz="2400" dirty="0">
                <a:solidFill>
                  <a:srgbClr val="000000"/>
                </a:solidFill>
                <a:effectLst/>
                <a:latin typeface="Helvetica" pitchFamily="2" charset="0"/>
              </a:rPr>
              <a:t>Function values </a:t>
            </a:r>
            <a:r>
              <a:rPr lang="en-US" sz="2400" b="1" dirty="0">
                <a:solidFill>
                  <a:srgbClr val="000000"/>
                </a:solidFill>
                <a:effectLst/>
                <a:latin typeface="Helvetica" pitchFamily="2" charset="0"/>
              </a:rPr>
              <a:t>f∗ </a:t>
            </a:r>
            <a:r>
              <a:rPr lang="en-US" sz="2400" dirty="0">
                <a:solidFill>
                  <a:srgbClr val="000000"/>
                </a:solidFill>
                <a:effectLst/>
                <a:latin typeface="Helvetica" pitchFamily="2" charset="0"/>
              </a:rPr>
              <a:t>(corresponding to test inputs </a:t>
            </a:r>
            <a:r>
              <a:rPr lang="en-US" sz="2400" b="1" dirty="0">
                <a:solidFill>
                  <a:srgbClr val="000000"/>
                </a:solidFill>
                <a:effectLst/>
                <a:latin typeface="Helvetica" pitchFamily="2" charset="0"/>
              </a:rPr>
              <a:t>X∗</a:t>
            </a:r>
            <a:r>
              <a:rPr lang="en-US" sz="2400" dirty="0">
                <a:solidFill>
                  <a:srgbClr val="000000"/>
                </a:solidFill>
                <a:effectLst/>
                <a:latin typeface="Helvetica" pitchFamily="2" charset="0"/>
              </a:rPr>
              <a:t>) can be sampled from the</a:t>
            </a:r>
            <a:r>
              <a:rPr lang="en-US" sz="2400" dirty="0">
                <a:solidFill>
                  <a:srgbClr val="000000"/>
                </a:solidFill>
                <a:latin typeface="Helvetica" pitchFamily="2" charset="0"/>
              </a:rPr>
              <a:t> </a:t>
            </a:r>
            <a:r>
              <a:rPr lang="en-US" sz="2400" dirty="0">
                <a:solidFill>
                  <a:srgbClr val="000000"/>
                </a:solidFill>
                <a:effectLst/>
                <a:latin typeface="Helvetica" pitchFamily="2" charset="0"/>
              </a:rPr>
              <a:t>joint posterior distribution by evaluating the mean and covariance matrix</a:t>
            </a:r>
          </a:p>
        </p:txBody>
      </p:sp>
      <p:pic>
        <p:nvPicPr>
          <p:cNvPr id="2" name="Picture 1">
            <a:extLst>
              <a:ext uri="{FF2B5EF4-FFF2-40B4-BE49-F238E27FC236}">
                <a16:creationId xmlns:a16="http://schemas.microsoft.com/office/drawing/2014/main" id="{2E19A812-E54B-08A5-0962-D03D98B04F09}"/>
              </a:ext>
            </a:extLst>
          </p:cNvPr>
          <p:cNvPicPr>
            <a:picLocks noChangeAspect="1"/>
          </p:cNvPicPr>
          <p:nvPr/>
        </p:nvPicPr>
        <p:blipFill>
          <a:blip r:embed="rId5"/>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2049190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B2275-9901-078A-59D5-BE23C9E6602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434B38-A875-6D26-EF17-4BA7D4D15B0E}"/>
              </a:ext>
            </a:extLst>
          </p:cNvPr>
          <p:cNvSpPr>
            <a:spLocks noGrp="1"/>
          </p:cNvSpPr>
          <p:nvPr>
            <p:ph type="sldNum" sz="quarter" idx="12"/>
          </p:nvPr>
        </p:nvSpPr>
        <p:spPr/>
        <p:txBody>
          <a:bodyPr/>
          <a:lstStyle/>
          <a:p>
            <a:fld id="{0A297500-7527-634B-90F4-69D0994C32B4}" type="slidenum">
              <a:rPr lang="nl-NL" smtClean="0"/>
              <a:pPr/>
              <a:t>23</a:t>
            </a:fld>
            <a:endParaRPr lang="nl-NL" dirty="0"/>
          </a:p>
        </p:txBody>
      </p:sp>
      <p:sp>
        <p:nvSpPr>
          <p:cNvPr id="5" name="Title 4">
            <a:extLst>
              <a:ext uri="{FF2B5EF4-FFF2-40B4-BE49-F238E27FC236}">
                <a16:creationId xmlns:a16="http://schemas.microsoft.com/office/drawing/2014/main" id="{6F97A024-D01C-AB04-2A65-EEA0F7AFD290}"/>
              </a:ext>
            </a:extLst>
          </p:cNvPr>
          <p:cNvSpPr>
            <a:spLocks noGrp="1"/>
          </p:cNvSpPr>
          <p:nvPr>
            <p:ph type="title"/>
          </p:nvPr>
        </p:nvSpPr>
        <p:spPr/>
        <p:txBody>
          <a:bodyPr>
            <a:normAutofit fontScale="90000"/>
          </a:bodyPr>
          <a:lstStyle/>
          <a:p>
            <a:r>
              <a:rPr lang="en-US" dirty="0"/>
              <a:t>Gaussian Identities</a:t>
            </a:r>
          </a:p>
        </p:txBody>
      </p:sp>
      <p:sp>
        <p:nvSpPr>
          <p:cNvPr id="7" name="TextBox 6">
            <a:extLst>
              <a:ext uri="{FF2B5EF4-FFF2-40B4-BE49-F238E27FC236}">
                <a16:creationId xmlns:a16="http://schemas.microsoft.com/office/drawing/2014/main" id="{956CD7BA-9762-6898-8916-BBDDB5B51B9C}"/>
              </a:ext>
            </a:extLst>
          </p:cNvPr>
          <p:cNvSpPr txBox="1"/>
          <p:nvPr/>
        </p:nvSpPr>
        <p:spPr>
          <a:xfrm>
            <a:off x="738560" y="6497074"/>
            <a:ext cx="11155680" cy="307777"/>
          </a:xfrm>
          <a:prstGeom prst="rect">
            <a:avLst/>
          </a:prstGeom>
          <a:noFill/>
        </p:spPr>
        <p:txBody>
          <a:bodyPr wrap="square">
            <a:spAutoFit/>
          </a:bodyPr>
          <a:lstStyle/>
          <a:p>
            <a:pPr>
              <a:buNone/>
            </a:pPr>
            <a:r>
              <a:rPr lang="en-US" sz="1400" dirty="0" err="1">
                <a:solidFill>
                  <a:schemeClr val="bg1"/>
                </a:solidFill>
                <a:effectLst/>
                <a:latin typeface="Helvetica" pitchFamily="2" charset="0"/>
              </a:rPr>
              <a:t>C.E.Rasmussen</a:t>
            </a:r>
            <a:r>
              <a:rPr lang="en-US" sz="1400" dirty="0">
                <a:solidFill>
                  <a:schemeClr val="bg1"/>
                </a:solidFill>
                <a:effectLst/>
                <a:latin typeface="Helvetica" pitchFamily="2" charset="0"/>
              </a:rPr>
              <a:t> </a:t>
            </a:r>
            <a:r>
              <a:rPr lang="en-US" sz="1400" dirty="0" err="1">
                <a:solidFill>
                  <a:schemeClr val="bg1"/>
                </a:solidFill>
                <a:effectLst/>
                <a:latin typeface="Helvetica" pitchFamily="2" charset="0"/>
              </a:rPr>
              <a:t>C.K.I.Williams</a:t>
            </a:r>
            <a:r>
              <a:rPr lang="en-US" sz="1400" dirty="0">
                <a:solidFill>
                  <a:schemeClr val="bg1"/>
                </a:solidFill>
                <a:effectLst/>
                <a:latin typeface="Helvetica" pitchFamily="2" charset="0"/>
              </a:rPr>
              <a:t>, </a:t>
            </a:r>
            <a:r>
              <a:rPr lang="en-US" sz="1400" i="1" dirty="0">
                <a:solidFill>
                  <a:schemeClr val="bg1"/>
                </a:solidFill>
                <a:effectLst/>
                <a:latin typeface="Helvetica" pitchFamily="2" charset="0"/>
              </a:rPr>
              <a:t>Gaussian Processes for Machine Learning</a:t>
            </a:r>
            <a:r>
              <a:rPr lang="en-US" sz="1400" dirty="0">
                <a:solidFill>
                  <a:schemeClr val="bg1"/>
                </a:solidFill>
                <a:effectLst/>
                <a:latin typeface="Helvetica" pitchFamily="2" charset="0"/>
              </a:rPr>
              <a:t>, the MIT Press,2006, </a:t>
            </a:r>
            <a:r>
              <a:rPr lang="en-US" sz="1400" dirty="0" err="1">
                <a:solidFill>
                  <a:schemeClr val="bg1"/>
                </a:solidFill>
                <a:effectLst/>
                <a:latin typeface="Helvetica" pitchFamily="2" charset="0"/>
              </a:rPr>
              <a:t>www.GaussianProcess.org</a:t>
            </a:r>
            <a:r>
              <a:rPr lang="en-US" sz="1400" dirty="0">
                <a:solidFill>
                  <a:schemeClr val="bg1"/>
                </a:solidFill>
                <a:effectLst/>
                <a:latin typeface="Helvetica" pitchFamily="2" charset="0"/>
              </a:rPr>
              <a:t>/</a:t>
            </a:r>
            <a:r>
              <a:rPr lang="en-US" sz="1400" dirty="0" err="1">
                <a:solidFill>
                  <a:schemeClr val="bg1"/>
                </a:solidFill>
                <a:effectLst/>
                <a:latin typeface="Helvetica" pitchFamily="2" charset="0"/>
              </a:rPr>
              <a:t>gpml</a:t>
            </a:r>
            <a:endParaRPr lang="en-US" sz="1400" dirty="0">
              <a:solidFill>
                <a:schemeClr val="bg1"/>
              </a:solidFill>
              <a:effectLst/>
              <a:latin typeface="Helvetica" pitchFamily="2" charset="0"/>
            </a:endParaRPr>
          </a:p>
        </p:txBody>
      </p:sp>
      <p:pic>
        <p:nvPicPr>
          <p:cNvPr id="13" name="Picture 12">
            <a:extLst>
              <a:ext uri="{FF2B5EF4-FFF2-40B4-BE49-F238E27FC236}">
                <a16:creationId xmlns:a16="http://schemas.microsoft.com/office/drawing/2014/main" id="{E85859E5-1072-400B-2506-EC8FC13C62E6}"/>
              </a:ext>
            </a:extLst>
          </p:cNvPr>
          <p:cNvPicPr>
            <a:picLocks noChangeAspect="1"/>
          </p:cNvPicPr>
          <p:nvPr/>
        </p:nvPicPr>
        <p:blipFill>
          <a:blip r:embed="rId2"/>
          <a:stretch>
            <a:fillRect/>
          </a:stretch>
        </p:blipFill>
        <p:spPr>
          <a:xfrm>
            <a:off x="1500726" y="823061"/>
            <a:ext cx="8172663" cy="847586"/>
          </a:xfrm>
          <a:prstGeom prst="rect">
            <a:avLst/>
          </a:prstGeom>
        </p:spPr>
      </p:pic>
      <p:sp>
        <p:nvSpPr>
          <p:cNvPr id="15" name="TextBox 14">
            <a:extLst>
              <a:ext uri="{FF2B5EF4-FFF2-40B4-BE49-F238E27FC236}">
                <a16:creationId xmlns:a16="http://schemas.microsoft.com/office/drawing/2014/main" id="{6F6A1573-B29F-277C-F1CF-591D683D09CF}"/>
              </a:ext>
            </a:extLst>
          </p:cNvPr>
          <p:cNvSpPr txBox="1"/>
          <p:nvPr/>
        </p:nvSpPr>
        <p:spPr>
          <a:xfrm>
            <a:off x="2833437" y="1571041"/>
            <a:ext cx="3892216" cy="400110"/>
          </a:xfrm>
          <a:prstGeom prst="rect">
            <a:avLst/>
          </a:prstGeom>
          <a:noFill/>
        </p:spPr>
        <p:txBody>
          <a:bodyPr wrap="square">
            <a:spAutoFit/>
          </a:bodyPr>
          <a:lstStyle/>
          <a:p>
            <a:pPr>
              <a:buNone/>
            </a:pPr>
            <a:r>
              <a:rPr lang="en-US" sz="2000" dirty="0">
                <a:solidFill>
                  <a:srgbClr val="000000"/>
                </a:solidFill>
                <a:effectLst/>
                <a:latin typeface="Helvetica" pitchFamily="2" charset="0"/>
              </a:rPr>
              <a:t>covariance matrix (of size D×D)</a:t>
            </a:r>
          </a:p>
        </p:txBody>
      </p:sp>
      <p:sp>
        <p:nvSpPr>
          <p:cNvPr id="17" name="Arc 16">
            <a:extLst>
              <a:ext uri="{FF2B5EF4-FFF2-40B4-BE49-F238E27FC236}">
                <a16:creationId xmlns:a16="http://schemas.microsoft.com/office/drawing/2014/main" id="{2ED67D1D-BF05-1642-28E3-719EFBCF9EF1}"/>
              </a:ext>
            </a:extLst>
          </p:cNvPr>
          <p:cNvSpPr/>
          <p:nvPr/>
        </p:nvSpPr>
        <p:spPr>
          <a:xfrm rot="19340627" flipH="1" flipV="1">
            <a:off x="2263659" y="1321716"/>
            <a:ext cx="1274540" cy="400062"/>
          </a:xfrm>
          <a:prstGeom prst="arc">
            <a:avLst>
              <a:gd name="adj1" fmla="val 18593740"/>
              <a:gd name="adj2" fmla="val 2703768"/>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pic>
        <p:nvPicPr>
          <p:cNvPr id="21" name="Picture 20">
            <a:extLst>
              <a:ext uri="{FF2B5EF4-FFF2-40B4-BE49-F238E27FC236}">
                <a16:creationId xmlns:a16="http://schemas.microsoft.com/office/drawing/2014/main" id="{3934811C-1833-B709-0A5A-B90000AFE897}"/>
              </a:ext>
            </a:extLst>
          </p:cNvPr>
          <p:cNvPicPr>
            <a:picLocks noChangeAspect="1"/>
          </p:cNvPicPr>
          <p:nvPr/>
        </p:nvPicPr>
        <p:blipFill>
          <a:blip r:embed="rId3"/>
          <a:stretch>
            <a:fillRect/>
          </a:stretch>
        </p:blipFill>
        <p:spPr>
          <a:xfrm>
            <a:off x="8435474" y="1548846"/>
            <a:ext cx="711200" cy="444500"/>
          </a:xfrm>
          <a:prstGeom prst="rect">
            <a:avLst/>
          </a:prstGeom>
        </p:spPr>
      </p:pic>
      <p:pic>
        <p:nvPicPr>
          <p:cNvPr id="22" name="Picture 21">
            <a:extLst>
              <a:ext uri="{FF2B5EF4-FFF2-40B4-BE49-F238E27FC236}">
                <a16:creationId xmlns:a16="http://schemas.microsoft.com/office/drawing/2014/main" id="{CE108288-D40C-E143-EEBB-11A8A213E606}"/>
              </a:ext>
            </a:extLst>
          </p:cNvPr>
          <p:cNvPicPr>
            <a:picLocks noChangeAspect="1"/>
          </p:cNvPicPr>
          <p:nvPr/>
        </p:nvPicPr>
        <p:blipFill>
          <a:blip r:embed="rId4"/>
          <a:stretch>
            <a:fillRect/>
          </a:stretch>
        </p:blipFill>
        <p:spPr>
          <a:xfrm>
            <a:off x="9159039" y="1571041"/>
            <a:ext cx="1028700" cy="457200"/>
          </a:xfrm>
          <a:prstGeom prst="rect">
            <a:avLst/>
          </a:prstGeom>
        </p:spPr>
      </p:pic>
      <p:pic>
        <p:nvPicPr>
          <p:cNvPr id="23" name="Picture 22">
            <a:extLst>
              <a:ext uri="{FF2B5EF4-FFF2-40B4-BE49-F238E27FC236}">
                <a16:creationId xmlns:a16="http://schemas.microsoft.com/office/drawing/2014/main" id="{DE4250CF-5174-3646-5C67-9AEB0B62BBF7}"/>
              </a:ext>
            </a:extLst>
          </p:cNvPr>
          <p:cNvPicPr>
            <a:picLocks noChangeAspect="1"/>
          </p:cNvPicPr>
          <p:nvPr/>
        </p:nvPicPr>
        <p:blipFill>
          <a:blip r:embed="rId5"/>
          <a:stretch>
            <a:fillRect/>
          </a:stretch>
        </p:blipFill>
        <p:spPr>
          <a:xfrm>
            <a:off x="690254" y="2267627"/>
            <a:ext cx="7888261" cy="1610406"/>
          </a:xfrm>
          <a:prstGeom prst="rect">
            <a:avLst/>
          </a:prstGeom>
        </p:spPr>
      </p:pic>
      <p:pic>
        <p:nvPicPr>
          <p:cNvPr id="26" name="Picture 25">
            <a:extLst>
              <a:ext uri="{FF2B5EF4-FFF2-40B4-BE49-F238E27FC236}">
                <a16:creationId xmlns:a16="http://schemas.microsoft.com/office/drawing/2014/main" id="{97B8C17D-C517-CFBD-C869-F6B9987290D4}"/>
              </a:ext>
            </a:extLst>
          </p:cNvPr>
          <p:cNvPicPr>
            <a:picLocks noChangeAspect="1"/>
          </p:cNvPicPr>
          <p:nvPr/>
        </p:nvPicPr>
        <p:blipFill>
          <a:blip r:embed="rId6"/>
          <a:stretch>
            <a:fillRect/>
          </a:stretch>
        </p:blipFill>
        <p:spPr>
          <a:xfrm>
            <a:off x="612094" y="3751943"/>
            <a:ext cx="10416055" cy="1873062"/>
          </a:xfrm>
          <a:prstGeom prst="rect">
            <a:avLst/>
          </a:prstGeom>
        </p:spPr>
      </p:pic>
      <p:pic>
        <p:nvPicPr>
          <p:cNvPr id="27" name="Picture 26">
            <a:extLst>
              <a:ext uri="{FF2B5EF4-FFF2-40B4-BE49-F238E27FC236}">
                <a16:creationId xmlns:a16="http://schemas.microsoft.com/office/drawing/2014/main" id="{59CCCFF2-D598-009F-B339-8568213E5158}"/>
              </a:ext>
            </a:extLst>
          </p:cNvPr>
          <p:cNvPicPr>
            <a:picLocks noChangeAspect="1"/>
          </p:cNvPicPr>
          <p:nvPr/>
        </p:nvPicPr>
        <p:blipFill>
          <a:blip r:embed="rId7"/>
          <a:stretch>
            <a:fillRect/>
          </a:stretch>
        </p:blipFill>
        <p:spPr>
          <a:xfrm>
            <a:off x="614054" y="5601735"/>
            <a:ext cx="7683500" cy="736600"/>
          </a:xfrm>
          <a:prstGeom prst="rect">
            <a:avLst/>
          </a:prstGeom>
        </p:spPr>
      </p:pic>
      <p:pic>
        <p:nvPicPr>
          <p:cNvPr id="2" name="Picture 1">
            <a:extLst>
              <a:ext uri="{FF2B5EF4-FFF2-40B4-BE49-F238E27FC236}">
                <a16:creationId xmlns:a16="http://schemas.microsoft.com/office/drawing/2014/main" id="{81151014-1F0A-9EF0-A206-368DD16A40AE}"/>
              </a:ext>
            </a:extLst>
          </p:cNvPr>
          <p:cNvPicPr>
            <a:picLocks noChangeAspect="1"/>
          </p:cNvPicPr>
          <p:nvPr/>
        </p:nvPicPr>
        <p:blipFill>
          <a:blip r:embed="rId8"/>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286911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9E34B-F91C-2659-1ABE-B10C2A0F26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06535C-06D7-BBB5-AEB0-A2F518EE0246}"/>
              </a:ext>
            </a:extLst>
          </p:cNvPr>
          <p:cNvSpPr>
            <a:spLocks noGrp="1"/>
          </p:cNvSpPr>
          <p:nvPr>
            <p:ph type="sldNum" sz="quarter" idx="12"/>
          </p:nvPr>
        </p:nvSpPr>
        <p:spPr/>
        <p:txBody>
          <a:bodyPr/>
          <a:lstStyle/>
          <a:p>
            <a:fld id="{0A297500-7527-634B-90F4-69D0994C32B4}" type="slidenum">
              <a:rPr lang="nl-NL" smtClean="0"/>
              <a:pPr/>
              <a:t>24</a:t>
            </a:fld>
            <a:endParaRPr lang="nl-NL" dirty="0"/>
          </a:p>
        </p:txBody>
      </p:sp>
      <p:sp>
        <p:nvSpPr>
          <p:cNvPr id="5" name="Title 4">
            <a:extLst>
              <a:ext uri="{FF2B5EF4-FFF2-40B4-BE49-F238E27FC236}">
                <a16:creationId xmlns:a16="http://schemas.microsoft.com/office/drawing/2014/main" id="{ACD27E5E-A7AB-1CEE-8776-E7CF30F6043A}"/>
              </a:ext>
            </a:extLst>
          </p:cNvPr>
          <p:cNvSpPr>
            <a:spLocks noGrp="1"/>
          </p:cNvSpPr>
          <p:nvPr>
            <p:ph type="title"/>
          </p:nvPr>
        </p:nvSpPr>
        <p:spPr>
          <a:xfrm>
            <a:off x="576000" y="354226"/>
            <a:ext cx="11041200" cy="530963"/>
          </a:xfrm>
        </p:spPr>
        <p:txBody>
          <a:bodyPr>
            <a:noAutofit/>
          </a:bodyPr>
          <a:lstStyle/>
          <a:p>
            <a:r>
              <a:rPr lang="en-US" sz="2800" dirty="0"/>
              <a:t>EUHFORIA: Solving magnetohydrodynamics (MHD) equations</a:t>
            </a:r>
            <a:br>
              <a:rPr lang="en-US" sz="2800" dirty="0"/>
            </a:br>
            <a:endParaRPr lang="en-US" sz="2800" dirty="0"/>
          </a:p>
        </p:txBody>
      </p:sp>
      <p:pic>
        <p:nvPicPr>
          <p:cNvPr id="6" name="Picture 5" descr="image">
            <a:extLst>
              <a:ext uri="{FF2B5EF4-FFF2-40B4-BE49-F238E27FC236}">
                <a16:creationId xmlns:a16="http://schemas.microsoft.com/office/drawing/2014/main" id="{35A63BBC-09C9-0AC6-DB60-DFCF58D39E76}"/>
              </a:ext>
            </a:extLst>
          </p:cNvPr>
          <p:cNvPicPr>
            <a:picLocks noChangeAspect="1"/>
          </p:cNvPicPr>
          <p:nvPr/>
        </p:nvPicPr>
        <p:blipFill>
          <a:blip r:embed="rId2"/>
          <a:stretch>
            <a:fillRect/>
          </a:stretch>
        </p:blipFill>
        <p:spPr>
          <a:xfrm>
            <a:off x="576000" y="885189"/>
            <a:ext cx="6759520" cy="5421698"/>
          </a:xfrm>
          <a:prstGeom prst="rect">
            <a:avLst/>
          </a:prstGeom>
        </p:spPr>
      </p:pic>
      <p:sp>
        <p:nvSpPr>
          <p:cNvPr id="8" name="TextBox 7">
            <a:extLst>
              <a:ext uri="{FF2B5EF4-FFF2-40B4-BE49-F238E27FC236}">
                <a16:creationId xmlns:a16="http://schemas.microsoft.com/office/drawing/2014/main" id="{337B11DA-0440-887C-DDE3-03B46AAB85D7}"/>
              </a:ext>
            </a:extLst>
          </p:cNvPr>
          <p:cNvSpPr txBox="1"/>
          <p:nvPr/>
        </p:nvSpPr>
        <p:spPr>
          <a:xfrm>
            <a:off x="1180168" y="6372432"/>
            <a:ext cx="9831664" cy="523220"/>
          </a:xfrm>
          <a:prstGeom prst="rect">
            <a:avLst/>
          </a:prstGeom>
          <a:noFill/>
        </p:spPr>
        <p:txBody>
          <a:bodyPr wrap="square">
            <a:spAutoFit/>
          </a:bodyPr>
          <a:lstStyle/>
          <a:p>
            <a:pPr>
              <a:buNone/>
            </a:pPr>
            <a:r>
              <a:rPr lang="en-US" sz="1400" dirty="0" err="1">
                <a:solidFill>
                  <a:schemeClr val="bg1"/>
                </a:solidFill>
                <a:effectLst/>
              </a:rPr>
              <a:t>Pomoell</a:t>
            </a:r>
            <a:r>
              <a:rPr lang="en-US" sz="1400" dirty="0">
                <a:solidFill>
                  <a:schemeClr val="bg1"/>
                </a:solidFill>
                <a:effectLst/>
              </a:rPr>
              <a:t>, Jens, and S. Poedts. “EUHFORIA: European Heliospheric Forecasting Information Asset.” </a:t>
            </a:r>
            <a:r>
              <a:rPr lang="en-US" sz="1400" i="1" dirty="0">
                <a:solidFill>
                  <a:schemeClr val="bg1"/>
                </a:solidFill>
                <a:effectLst/>
              </a:rPr>
              <a:t>Journal of Space Weather and Space Climate</a:t>
            </a:r>
            <a:r>
              <a:rPr lang="en-US" sz="1400" dirty="0">
                <a:solidFill>
                  <a:schemeClr val="bg1"/>
                </a:solidFill>
                <a:effectLst/>
              </a:rPr>
              <a:t> 8 (2018): A35. </a:t>
            </a:r>
            <a:r>
              <a:rPr lang="en-US" sz="1400" dirty="0">
                <a:solidFill>
                  <a:schemeClr val="bg1"/>
                </a:solidFill>
                <a:effectLst/>
                <a:hlinkClick r:id="rId3">
                  <a:extLst>
                    <a:ext uri="{A12FA001-AC4F-418D-AE19-62706E023703}">
                      <ahyp:hlinkClr xmlns:ahyp="http://schemas.microsoft.com/office/drawing/2018/hyperlinkcolor" val="tx"/>
                    </a:ext>
                  </a:extLst>
                </a:hlinkClick>
              </a:rPr>
              <a:t>https://doi.org/10.1051/swsc/2018020</a:t>
            </a:r>
            <a:r>
              <a:rPr lang="en-US" sz="1400" dirty="0">
                <a:solidFill>
                  <a:schemeClr val="bg1"/>
                </a:solidFill>
                <a:effectLst/>
              </a:rPr>
              <a:t>.</a:t>
            </a:r>
          </a:p>
        </p:txBody>
      </p:sp>
      <p:pic>
        <p:nvPicPr>
          <p:cNvPr id="2" name="Picture 1">
            <a:extLst>
              <a:ext uri="{FF2B5EF4-FFF2-40B4-BE49-F238E27FC236}">
                <a16:creationId xmlns:a16="http://schemas.microsoft.com/office/drawing/2014/main" id="{0C066A95-0FD5-13FE-703E-ED718648C18C}"/>
              </a:ext>
            </a:extLst>
          </p:cNvPr>
          <p:cNvPicPr>
            <a:picLocks noChangeAspect="1"/>
          </p:cNvPicPr>
          <p:nvPr/>
        </p:nvPicPr>
        <p:blipFill>
          <a:blip r:embed="rId4"/>
          <a:stretch>
            <a:fillRect/>
          </a:stretch>
        </p:blipFill>
        <p:spPr>
          <a:xfrm>
            <a:off x="11020888" y="6412013"/>
            <a:ext cx="1190224" cy="450922"/>
          </a:xfrm>
          <a:prstGeom prst="rect">
            <a:avLst/>
          </a:prstGeom>
        </p:spPr>
      </p:pic>
      <p:pic>
        <p:nvPicPr>
          <p:cNvPr id="3" name="Picture 2">
            <a:extLst>
              <a:ext uri="{FF2B5EF4-FFF2-40B4-BE49-F238E27FC236}">
                <a16:creationId xmlns:a16="http://schemas.microsoft.com/office/drawing/2014/main" id="{818FCB3E-6673-460A-EAC9-BA96BC8A261B}"/>
              </a:ext>
            </a:extLst>
          </p:cNvPr>
          <p:cNvPicPr>
            <a:picLocks noChangeAspect="1"/>
          </p:cNvPicPr>
          <p:nvPr/>
        </p:nvPicPr>
        <p:blipFill>
          <a:blip r:embed="rId5"/>
          <a:stretch>
            <a:fillRect/>
          </a:stretch>
        </p:blipFill>
        <p:spPr>
          <a:xfrm>
            <a:off x="3575112" y="923609"/>
            <a:ext cx="7316488" cy="3651746"/>
          </a:xfrm>
          <a:prstGeom prst="rect">
            <a:avLst/>
          </a:prstGeom>
        </p:spPr>
      </p:pic>
      <p:pic>
        <p:nvPicPr>
          <p:cNvPr id="7" name="Picture 6">
            <a:extLst>
              <a:ext uri="{FF2B5EF4-FFF2-40B4-BE49-F238E27FC236}">
                <a16:creationId xmlns:a16="http://schemas.microsoft.com/office/drawing/2014/main" id="{F0ECC3A7-5361-EE48-3F0C-807743767B8A}"/>
              </a:ext>
            </a:extLst>
          </p:cNvPr>
          <p:cNvPicPr>
            <a:picLocks noChangeAspect="1"/>
          </p:cNvPicPr>
          <p:nvPr/>
        </p:nvPicPr>
        <p:blipFill>
          <a:blip r:embed="rId6"/>
          <a:stretch>
            <a:fillRect/>
          </a:stretch>
        </p:blipFill>
        <p:spPr>
          <a:xfrm>
            <a:off x="3575112" y="4519434"/>
            <a:ext cx="7533722" cy="1852998"/>
          </a:xfrm>
          <a:prstGeom prst="rect">
            <a:avLst/>
          </a:prstGeom>
        </p:spPr>
      </p:pic>
    </p:spTree>
    <p:extLst>
      <p:ext uri="{BB962C8B-B14F-4D97-AF65-F5344CB8AC3E}">
        <p14:creationId xmlns:p14="http://schemas.microsoft.com/office/powerpoint/2010/main" val="4205061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D9A3B9C-04E6-A0DE-97A2-EB89DD33361E}"/>
              </a:ext>
            </a:extLst>
          </p:cNvPr>
          <p:cNvSpPr>
            <a:spLocks noGrp="1"/>
          </p:cNvSpPr>
          <p:nvPr>
            <p:ph type="ftr" sz="quarter" idx="11"/>
          </p:nvPr>
        </p:nvSpPr>
        <p:spPr/>
        <p:txBody>
          <a:bodyPr/>
          <a:lstStyle/>
          <a:p>
            <a:r>
              <a:rPr lang="en-GB"/>
              <a:t>CmPA Seminars Series</a:t>
            </a:r>
            <a:endParaRPr lang="nl-NL" dirty="0"/>
          </a:p>
        </p:txBody>
      </p:sp>
      <p:sp>
        <p:nvSpPr>
          <p:cNvPr id="4" name="Slide Number Placeholder 3">
            <a:extLst>
              <a:ext uri="{FF2B5EF4-FFF2-40B4-BE49-F238E27FC236}">
                <a16:creationId xmlns:a16="http://schemas.microsoft.com/office/drawing/2014/main" id="{26EEDA81-D6F0-CC58-9A7D-EE9607CFFA5A}"/>
              </a:ext>
            </a:extLst>
          </p:cNvPr>
          <p:cNvSpPr>
            <a:spLocks noGrp="1"/>
          </p:cNvSpPr>
          <p:nvPr>
            <p:ph type="sldNum" sz="quarter" idx="12"/>
          </p:nvPr>
        </p:nvSpPr>
        <p:spPr/>
        <p:txBody>
          <a:bodyPr/>
          <a:lstStyle/>
          <a:p>
            <a:fld id="{0A297500-7527-634B-90F4-69D0994C32B4}" type="slidenum">
              <a:rPr lang="nl-NL" smtClean="0"/>
              <a:pPr/>
              <a:t>25</a:t>
            </a:fld>
            <a:endParaRPr lang="nl-NL" dirty="0"/>
          </a:p>
        </p:txBody>
      </p:sp>
      <p:sp>
        <p:nvSpPr>
          <p:cNvPr id="5" name="Title 4">
            <a:extLst>
              <a:ext uri="{FF2B5EF4-FFF2-40B4-BE49-F238E27FC236}">
                <a16:creationId xmlns:a16="http://schemas.microsoft.com/office/drawing/2014/main" id="{38CB8F82-A2D6-DEF2-C373-DE9BBC72AED6}"/>
              </a:ext>
            </a:extLst>
          </p:cNvPr>
          <p:cNvSpPr>
            <a:spLocks noGrp="1"/>
          </p:cNvSpPr>
          <p:nvPr>
            <p:ph type="title"/>
          </p:nvPr>
        </p:nvSpPr>
        <p:spPr/>
        <p:txBody>
          <a:bodyPr>
            <a:normAutofit fontScale="90000"/>
          </a:bodyPr>
          <a:lstStyle/>
          <a:p>
            <a:r>
              <a:rPr lang="en-US" dirty="0"/>
              <a:t>Sample 100s of runs and fitting Gaussian process</a:t>
            </a:r>
          </a:p>
        </p:txBody>
      </p:sp>
      <p:pic>
        <p:nvPicPr>
          <p:cNvPr id="6" name="Picture 5">
            <a:extLst>
              <a:ext uri="{FF2B5EF4-FFF2-40B4-BE49-F238E27FC236}">
                <a16:creationId xmlns:a16="http://schemas.microsoft.com/office/drawing/2014/main" id="{DACAB1EA-CB6C-78A9-53A7-6D34BE80419B}"/>
              </a:ext>
            </a:extLst>
          </p:cNvPr>
          <p:cNvPicPr>
            <a:picLocks noChangeAspect="1"/>
          </p:cNvPicPr>
          <p:nvPr/>
        </p:nvPicPr>
        <p:blipFill>
          <a:blip r:embed="rId2"/>
          <a:stretch>
            <a:fillRect/>
          </a:stretch>
        </p:blipFill>
        <p:spPr>
          <a:xfrm>
            <a:off x="0" y="887179"/>
            <a:ext cx="7370633" cy="1519138"/>
          </a:xfrm>
          <a:prstGeom prst="rect">
            <a:avLst/>
          </a:prstGeom>
        </p:spPr>
      </p:pic>
      <p:pic>
        <p:nvPicPr>
          <p:cNvPr id="7" name="Picture 6">
            <a:extLst>
              <a:ext uri="{FF2B5EF4-FFF2-40B4-BE49-F238E27FC236}">
                <a16:creationId xmlns:a16="http://schemas.microsoft.com/office/drawing/2014/main" id="{621CB85D-B2C0-DE90-B05F-27F820D6A428}"/>
              </a:ext>
            </a:extLst>
          </p:cNvPr>
          <p:cNvPicPr>
            <a:picLocks noChangeAspect="1"/>
          </p:cNvPicPr>
          <p:nvPr/>
        </p:nvPicPr>
        <p:blipFill>
          <a:blip r:embed="rId3"/>
          <a:stretch>
            <a:fillRect/>
          </a:stretch>
        </p:blipFill>
        <p:spPr>
          <a:xfrm>
            <a:off x="7341796" y="887178"/>
            <a:ext cx="4850204" cy="3387288"/>
          </a:xfrm>
          <a:prstGeom prst="rect">
            <a:avLst/>
          </a:prstGeom>
        </p:spPr>
      </p:pic>
      <p:pic>
        <p:nvPicPr>
          <p:cNvPr id="9" name="Picture 8">
            <a:extLst>
              <a:ext uri="{FF2B5EF4-FFF2-40B4-BE49-F238E27FC236}">
                <a16:creationId xmlns:a16="http://schemas.microsoft.com/office/drawing/2014/main" id="{C6AEFD66-CBA6-2705-FC6F-1F2463E36CE8}"/>
              </a:ext>
            </a:extLst>
          </p:cNvPr>
          <p:cNvPicPr>
            <a:picLocks noChangeAspect="1"/>
          </p:cNvPicPr>
          <p:nvPr/>
        </p:nvPicPr>
        <p:blipFill>
          <a:blip r:embed="rId4"/>
          <a:stretch>
            <a:fillRect/>
          </a:stretch>
        </p:blipFill>
        <p:spPr>
          <a:xfrm>
            <a:off x="0" y="4323456"/>
            <a:ext cx="7772400" cy="2039565"/>
          </a:xfrm>
          <a:prstGeom prst="rect">
            <a:avLst/>
          </a:prstGeom>
        </p:spPr>
      </p:pic>
      <p:pic>
        <p:nvPicPr>
          <p:cNvPr id="10" name="Picture 9">
            <a:extLst>
              <a:ext uri="{FF2B5EF4-FFF2-40B4-BE49-F238E27FC236}">
                <a16:creationId xmlns:a16="http://schemas.microsoft.com/office/drawing/2014/main" id="{12F145C0-3380-4230-1767-F7C4F5E63AE5}"/>
              </a:ext>
            </a:extLst>
          </p:cNvPr>
          <p:cNvPicPr>
            <a:picLocks noChangeAspect="1"/>
          </p:cNvPicPr>
          <p:nvPr/>
        </p:nvPicPr>
        <p:blipFill>
          <a:blip r:embed="rId5"/>
          <a:stretch>
            <a:fillRect/>
          </a:stretch>
        </p:blipFill>
        <p:spPr>
          <a:xfrm>
            <a:off x="0" y="2406317"/>
            <a:ext cx="7772400" cy="2039565"/>
          </a:xfrm>
          <a:prstGeom prst="rect">
            <a:avLst/>
          </a:prstGeom>
        </p:spPr>
      </p:pic>
      <p:pic>
        <p:nvPicPr>
          <p:cNvPr id="2" name="Picture 1">
            <a:extLst>
              <a:ext uri="{FF2B5EF4-FFF2-40B4-BE49-F238E27FC236}">
                <a16:creationId xmlns:a16="http://schemas.microsoft.com/office/drawing/2014/main" id="{0D9BACDC-19EB-9986-0882-3221AAE0DD4A}"/>
              </a:ext>
            </a:extLst>
          </p:cNvPr>
          <p:cNvPicPr>
            <a:picLocks noChangeAspect="1"/>
          </p:cNvPicPr>
          <p:nvPr/>
        </p:nvPicPr>
        <p:blipFill>
          <a:blip r:embed="rId6"/>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890270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7A6514-FDED-58C5-DFA3-57B65FF211F9}"/>
              </a:ext>
            </a:extLst>
          </p:cNvPr>
          <p:cNvSpPr>
            <a:spLocks noGrp="1"/>
          </p:cNvSpPr>
          <p:nvPr>
            <p:ph idx="1"/>
          </p:nvPr>
        </p:nvSpPr>
        <p:spPr>
          <a:xfrm>
            <a:off x="420012" y="4698109"/>
            <a:ext cx="11041200" cy="617012"/>
          </a:xfrm>
        </p:spPr>
        <p:txBody>
          <a:bodyPr>
            <a:normAutofit fontScale="92500"/>
          </a:bodyPr>
          <a:lstStyle/>
          <a:p>
            <a:r>
              <a:rPr lang="en-US" dirty="0"/>
              <a:t>If you choose optimizer, you are maximizing log marginal likelihood (empirical Bayes)</a:t>
            </a:r>
          </a:p>
        </p:txBody>
      </p:sp>
      <p:sp>
        <p:nvSpPr>
          <p:cNvPr id="3" name="Footer Placeholder 2">
            <a:extLst>
              <a:ext uri="{FF2B5EF4-FFF2-40B4-BE49-F238E27FC236}">
                <a16:creationId xmlns:a16="http://schemas.microsoft.com/office/drawing/2014/main" id="{BC0B541C-75CF-260C-9AF1-60F91BF8B759}"/>
              </a:ext>
            </a:extLst>
          </p:cNvPr>
          <p:cNvSpPr>
            <a:spLocks noGrp="1"/>
          </p:cNvSpPr>
          <p:nvPr>
            <p:ph type="ftr" sz="quarter" idx="11"/>
          </p:nvPr>
        </p:nvSpPr>
        <p:spPr/>
        <p:txBody>
          <a:bodyPr/>
          <a:lstStyle/>
          <a:p>
            <a:r>
              <a:rPr lang="en-GB"/>
              <a:t>CmPA Seminars Series</a:t>
            </a:r>
            <a:endParaRPr lang="nl-NL" dirty="0"/>
          </a:p>
        </p:txBody>
      </p:sp>
      <p:sp>
        <p:nvSpPr>
          <p:cNvPr id="4" name="Slide Number Placeholder 3">
            <a:extLst>
              <a:ext uri="{FF2B5EF4-FFF2-40B4-BE49-F238E27FC236}">
                <a16:creationId xmlns:a16="http://schemas.microsoft.com/office/drawing/2014/main" id="{4DE1FB18-09AF-AD80-479D-4969BAA4AB49}"/>
              </a:ext>
            </a:extLst>
          </p:cNvPr>
          <p:cNvSpPr>
            <a:spLocks noGrp="1"/>
          </p:cNvSpPr>
          <p:nvPr>
            <p:ph type="sldNum" sz="quarter" idx="12"/>
          </p:nvPr>
        </p:nvSpPr>
        <p:spPr/>
        <p:txBody>
          <a:bodyPr/>
          <a:lstStyle/>
          <a:p>
            <a:fld id="{0A297500-7527-634B-90F4-69D0994C32B4}" type="slidenum">
              <a:rPr lang="nl-NL" smtClean="0"/>
              <a:pPr/>
              <a:t>26</a:t>
            </a:fld>
            <a:endParaRPr lang="nl-NL" dirty="0"/>
          </a:p>
        </p:txBody>
      </p:sp>
      <p:sp>
        <p:nvSpPr>
          <p:cNvPr id="5" name="Title 4">
            <a:extLst>
              <a:ext uri="{FF2B5EF4-FFF2-40B4-BE49-F238E27FC236}">
                <a16:creationId xmlns:a16="http://schemas.microsoft.com/office/drawing/2014/main" id="{90B96B50-DD31-3BC9-3D04-92999FC2E973}"/>
              </a:ext>
            </a:extLst>
          </p:cNvPr>
          <p:cNvSpPr>
            <a:spLocks noGrp="1"/>
          </p:cNvSpPr>
          <p:nvPr>
            <p:ph type="title"/>
          </p:nvPr>
        </p:nvSpPr>
        <p:spPr/>
        <p:txBody>
          <a:bodyPr>
            <a:normAutofit fontScale="90000"/>
          </a:bodyPr>
          <a:lstStyle/>
          <a:p>
            <a:r>
              <a:rPr lang="en-US" dirty="0" err="1"/>
              <a:t>Màtern</a:t>
            </a:r>
            <a:r>
              <a:rPr lang="en-US" dirty="0"/>
              <a:t> covariance </a:t>
            </a:r>
          </a:p>
        </p:txBody>
      </p:sp>
      <p:pic>
        <p:nvPicPr>
          <p:cNvPr id="6" name="Picture 5">
            <a:extLst>
              <a:ext uri="{FF2B5EF4-FFF2-40B4-BE49-F238E27FC236}">
                <a16:creationId xmlns:a16="http://schemas.microsoft.com/office/drawing/2014/main" id="{B96C9E5A-A818-19C0-CCC7-D12EC07C2B79}"/>
              </a:ext>
            </a:extLst>
          </p:cNvPr>
          <p:cNvPicPr>
            <a:picLocks noChangeAspect="1"/>
          </p:cNvPicPr>
          <p:nvPr/>
        </p:nvPicPr>
        <p:blipFill>
          <a:blip r:embed="rId2"/>
          <a:stretch>
            <a:fillRect/>
          </a:stretch>
        </p:blipFill>
        <p:spPr>
          <a:xfrm>
            <a:off x="2933552" y="2084716"/>
            <a:ext cx="6014120" cy="958182"/>
          </a:xfrm>
          <a:prstGeom prst="rect">
            <a:avLst/>
          </a:prstGeom>
        </p:spPr>
      </p:pic>
      <p:sp>
        <p:nvSpPr>
          <p:cNvPr id="7" name="Arc 6">
            <a:extLst>
              <a:ext uri="{FF2B5EF4-FFF2-40B4-BE49-F238E27FC236}">
                <a16:creationId xmlns:a16="http://schemas.microsoft.com/office/drawing/2014/main" id="{32C9C792-A162-2B35-789D-218DC535C8E5}"/>
              </a:ext>
            </a:extLst>
          </p:cNvPr>
          <p:cNvSpPr/>
          <p:nvPr/>
        </p:nvSpPr>
        <p:spPr>
          <a:xfrm rot="5400000">
            <a:off x="2825786" y="2071623"/>
            <a:ext cx="1328279" cy="1723367"/>
          </a:xfrm>
          <a:prstGeom prst="arc">
            <a:avLst/>
          </a:prstGeom>
          <a:ln w="2857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304E2547-A00C-D6FC-7BA4-A86C2CECBC55}"/>
              </a:ext>
            </a:extLst>
          </p:cNvPr>
          <p:cNvSpPr txBox="1"/>
          <p:nvPr/>
        </p:nvSpPr>
        <p:spPr>
          <a:xfrm>
            <a:off x="1501862" y="3411510"/>
            <a:ext cx="2296185" cy="369332"/>
          </a:xfrm>
          <a:prstGeom prst="rect">
            <a:avLst/>
          </a:prstGeom>
          <a:noFill/>
        </p:spPr>
        <p:txBody>
          <a:bodyPr wrap="square" rtlCol="0">
            <a:spAutoFit/>
          </a:bodyPr>
          <a:lstStyle/>
          <a:p>
            <a:r>
              <a:rPr lang="en-US" b="1" dirty="0"/>
              <a:t>Gamma function</a:t>
            </a:r>
          </a:p>
        </p:txBody>
      </p:sp>
      <p:sp>
        <p:nvSpPr>
          <p:cNvPr id="10" name="TextBox 9">
            <a:extLst>
              <a:ext uri="{FF2B5EF4-FFF2-40B4-BE49-F238E27FC236}">
                <a16:creationId xmlns:a16="http://schemas.microsoft.com/office/drawing/2014/main" id="{7E05439B-057E-C4D6-C137-9CFEA0DC45DC}"/>
              </a:ext>
            </a:extLst>
          </p:cNvPr>
          <p:cNvSpPr txBox="1"/>
          <p:nvPr/>
        </p:nvSpPr>
        <p:spPr>
          <a:xfrm>
            <a:off x="376910" y="795976"/>
            <a:ext cx="5350122" cy="1200329"/>
          </a:xfrm>
          <a:prstGeom prst="rect">
            <a:avLst/>
          </a:prstGeom>
          <a:noFill/>
        </p:spPr>
        <p:txBody>
          <a:bodyPr wrap="square">
            <a:spAutoFit/>
          </a:bodyPr>
          <a:lstStyle/>
          <a:p>
            <a:r>
              <a:rPr lang="en-US" b="1" dirty="0">
                <a:solidFill>
                  <a:srgbClr val="000000"/>
                </a:solidFill>
                <a:latin typeface="New Grotesk"/>
              </a:rPr>
              <a:t>Amplitude: </a:t>
            </a:r>
            <a:r>
              <a:rPr lang="en-US" dirty="0">
                <a:solidFill>
                  <a:srgbClr val="000000"/>
                </a:solidFill>
                <a:latin typeface="New Grotesk"/>
              </a:rPr>
              <a:t>Controls </a:t>
            </a:r>
            <a:r>
              <a:rPr lang="en-US" b="0" i="0" dirty="0">
                <a:solidFill>
                  <a:srgbClr val="000000"/>
                </a:solidFill>
                <a:effectLst/>
                <a:latin typeface="New Grotesk"/>
              </a:rPr>
              <a:t>the </a:t>
            </a:r>
            <a:r>
              <a:rPr lang="en-US" dirty="0">
                <a:solidFill>
                  <a:srgbClr val="000000"/>
                </a:solidFill>
                <a:latin typeface="New Grotesk"/>
              </a:rPr>
              <a:t>output's scaling </a:t>
            </a:r>
            <a:r>
              <a:rPr lang="en-US" b="0" i="0" dirty="0">
                <a:solidFill>
                  <a:srgbClr val="000000"/>
                </a:solidFill>
                <a:effectLst/>
                <a:latin typeface="New Grotesk"/>
              </a:rPr>
              <a:t>along the y-axis. This parameter is just a scalar multiplier and is therefore usually left out of implementations of the </a:t>
            </a:r>
            <a:r>
              <a:rPr lang="en-US" b="0" i="0" dirty="0" err="1">
                <a:solidFill>
                  <a:srgbClr val="000000"/>
                </a:solidFill>
                <a:effectLst/>
                <a:latin typeface="New Grotesk"/>
              </a:rPr>
              <a:t>Matèrn</a:t>
            </a:r>
            <a:r>
              <a:rPr lang="en-US" b="0" i="0" dirty="0">
                <a:solidFill>
                  <a:srgbClr val="000000"/>
                </a:solidFill>
                <a:effectLst/>
                <a:latin typeface="New Grotesk"/>
              </a:rPr>
              <a:t> function </a:t>
            </a:r>
            <a:r>
              <a:rPr lang="en-US" dirty="0">
                <a:solidFill>
                  <a:srgbClr val="000000"/>
                </a:solidFill>
                <a:latin typeface="New Grotesk"/>
              </a:rPr>
              <a:t>(i.e., </a:t>
            </a:r>
            <a:r>
              <a:rPr lang="en-US" b="0" i="0" dirty="0">
                <a:solidFill>
                  <a:srgbClr val="000000"/>
                </a:solidFill>
                <a:effectLst/>
                <a:latin typeface="New Grotesk"/>
              </a:rPr>
              <a:t>set to one)</a:t>
            </a:r>
            <a:endParaRPr lang="en-US" dirty="0"/>
          </a:p>
        </p:txBody>
      </p:sp>
      <p:sp>
        <p:nvSpPr>
          <p:cNvPr id="11" name="Arc 10">
            <a:extLst>
              <a:ext uri="{FF2B5EF4-FFF2-40B4-BE49-F238E27FC236}">
                <a16:creationId xmlns:a16="http://schemas.microsoft.com/office/drawing/2014/main" id="{4A408EF0-CD18-28B6-FC79-DE8416BBA256}"/>
              </a:ext>
            </a:extLst>
          </p:cNvPr>
          <p:cNvSpPr/>
          <p:nvPr/>
        </p:nvSpPr>
        <p:spPr>
          <a:xfrm rot="10418025">
            <a:off x="3872994" y="906174"/>
            <a:ext cx="1328279" cy="1425679"/>
          </a:xfrm>
          <a:prstGeom prst="arc">
            <a:avLst/>
          </a:prstGeom>
          <a:ln w="2857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C19E3D1B-62B1-0FA7-36F0-691172425521}"/>
              </a:ext>
            </a:extLst>
          </p:cNvPr>
          <p:cNvSpPr txBox="1"/>
          <p:nvPr/>
        </p:nvSpPr>
        <p:spPr>
          <a:xfrm>
            <a:off x="7445543" y="3134511"/>
            <a:ext cx="4746457" cy="923330"/>
          </a:xfrm>
          <a:prstGeom prst="rect">
            <a:avLst/>
          </a:prstGeom>
          <a:noFill/>
        </p:spPr>
        <p:txBody>
          <a:bodyPr wrap="square">
            <a:spAutoFit/>
          </a:bodyPr>
          <a:lstStyle/>
          <a:p>
            <a:r>
              <a:rPr lang="en-US" b="1" i="0" dirty="0" err="1">
                <a:solidFill>
                  <a:srgbClr val="000000"/>
                </a:solidFill>
                <a:effectLst/>
                <a:latin typeface="New Grotesk"/>
              </a:rPr>
              <a:t>Lengthscale</a:t>
            </a:r>
            <a:r>
              <a:rPr lang="en-US" dirty="0">
                <a:solidFill>
                  <a:srgbClr val="000000"/>
                </a:solidFill>
                <a:latin typeface="New Grotesk"/>
              </a:rPr>
              <a:t>:</a:t>
            </a:r>
            <a:r>
              <a:rPr lang="en-US" b="0" i="0" dirty="0">
                <a:solidFill>
                  <a:srgbClr val="000000"/>
                </a:solidFill>
                <a:effectLst/>
                <a:latin typeface="New Grotesk"/>
              </a:rPr>
              <a:t> complements the amplitude by scaling realizations on the x-axis. Larger values push points closer together along this axis.</a:t>
            </a:r>
            <a:endParaRPr lang="en-US" dirty="0"/>
          </a:p>
        </p:txBody>
      </p:sp>
      <p:sp>
        <p:nvSpPr>
          <p:cNvPr id="14" name="Arc 13">
            <a:extLst>
              <a:ext uri="{FF2B5EF4-FFF2-40B4-BE49-F238E27FC236}">
                <a16:creationId xmlns:a16="http://schemas.microsoft.com/office/drawing/2014/main" id="{86CA8A91-837B-50DB-51A5-2989EF4AEA31}"/>
              </a:ext>
            </a:extLst>
          </p:cNvPr>
          <p:cNvSpPr/>
          <p:nvPr/>
        </p:nvSpPr>
        <p:spPr>
          <a:xfrm rot="5400000" flipV="1">
            <a:off x="6723377" y="1874242"/>
            <a:ext cx="1328279" cy="2237617"/>
          </a:xfrm>
          <a:prstGeom prst="arc">
            <a:avLst/>
          </a:prstGeom>
          <a:ln w="2857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D4095AA1-9820-EED2-0390-1755C93310AD}"/>
              </a:ext>
            </a:extLst>
          </p:cNvPr>
          <p:cNvSpPr txBox="1"/>
          <p:nvPr/>
        </p:nvSpPr>
        <p:spPr>
          <a:xfrm>
            <a:off x="6091990" y="809998"/>
            <a:ext cx="6100010" cy="962636"/>
          </a:xfrm>
          <a:prstGeom prst="rect">
            <a:avLst/>
          </a:prstGeom>
          <a:noFill/>
        </p:spPr>
        <p:txBody>
          <a:bodyPr wrap="square">
            <a:spAutoFit/>
          </a:bodyPr>
          <a:lstStyle/>
          <a:p>
            <a:pPr algn="l">
              <a:lnSpc>
                <a:spcPts val="2296"/>
              </a:lnSpc>
            </a:pPr>
            <a:r>
              <a:rPr lang="en-US" b="1" i="0" dirty="0">
                <a:solidFill>
                  <a:srgbClr val="000000"/>
                </a:solidFill>
                <a:effectLst/>
                <a:latin typeface="New Grotesk"/>
              </a:rPr>
              <a:t>Roughness</a:t>
            </a:r>
            <a:r>
              <a:rPr lang="en-US" dirty="0">
                <a:solidFill>
                  <a:srgbClr val="000000"/>
                </a:solidFill>
                <a:latin typeface="New Grotesk"/>
              </a:rPr>
              <a:t>:</a:t>
            </a:r>
            <a:r>
              <a:rPr lang="en-US" b="0" i="0" dirty="0">
                <a:solidFill>
                  <a:srgbClr val="000000"/>
                </a:solidFill>
                <a:effectLst/>
                <a:latin typeface="New Grotesk"/>
              </a:rPr>
              <a:t> controls the sharpness of ridges in the covariance function, which ultimately affects the roughness (smoothness) of realizations.</a:t>
            </a:r>
            <a:endParaRPr lang="en-US" dirty="0"/>
          </a:p>
        </p:txBody>
      </p:sp>
      <p:sp>
        <p:nvSpPr>
          <p:cNvPr id="17" name="Arc 16">
            <a:extLst>
              <a:ext uri="{FF2B5EF4-FFF2-40B4-BE49-F238E27FC236}">
                <a16:creationId xmlns:a16="http://schemas.microsoft.com/office/drawing/2014/main" id="{203FF70B-B592-EB0B-1A95-EDC224CA4037}"/>
              </a:ext>
            </a:extLst>
          </p:cNvPr>
          <p:cNvSpPr/>
          <p:nvPr/>
        </p:nvSpPr>
        <p:spPr>
          <a:xfrm rot="20965503" flipH="1" flipV="1">
            <a:off x="6022517" y="517725"/>
            <a:ext cx="2094302" cy="1556146"/>
          </a:xfrm>
          <a:prstGeom prst="arc">
            <a:avLst>
              <a:gd name="adj1" fmla="val 17697419"/>
              <a:gd name="adj2" fmla="val 1414755"/>
            </a:avLst>
          </a:prstGeom>
          <a:ln w="2857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0A43FC0B-FD91-38CF-67F6-D2EA87915F8E}"/>
              </a:ext>
            </a:extLst>
          </p:cNvPr>
          <p:cNvSpPr/>
          <p:nvPr/>
        </p:nvSpPr>
        <p:spPr>
          <a:xfrm rot="5400000" flipH="1" flipV="1">
            <a:off x="7724714" y="1318438"/>
            <a:ext cx="1121684" cy="2030075"/>
          </a:xfrm>
          <a:prstGeom prst="arc">
            <a:avLst/>
          </a:prstGeom>
          <a:ln w="2857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B56CBF37-DA9C-D8B9-55C9-F2FE7CFC8AF2}"/>
              </a:ext>
            </a:extLst>
          </p:cNvPr>
          <p:cNvSpPr txBox="1"/>
          <p:nvPr/>
        </p:nvSpPr>
        <p:spPr>
          <a:xfrm>
            <a:off x="8465492" y="1585011"/>
            <a:ext cx="4746457" cy="369332"/>
          </a:xfrm>
          <a:prstGeom prst="rect">
            <a:avLst/>
          </a:prstGeom>
          <a:noFill/>
        </p:spPr>
        <p:txBody>
          <a:bodyPr wrap="square">
            <a:spAutoFit/>
          </a:bodyPr>
          <a:lstStyle/>
          <a:p>
            <a:r>
              <a:rPr lang="en-US" b="1" i="0" dirty="0">
                <a:solidFill>
                  <a:srgbClr val="000000"/>
                </a:solidFill>
                <a:effectLst/>
                <a:latin typeface="New Grotesk"/>
              </a:rPr>
              <a:t>Bessel Function</a:t>
            </a:r>
            <a:endParaRPr lang="en-US" dirty="0"/>
          </a:p>
        </p:txBody>
      </p:sp>
      <p:pic>
        <p:nvPicPr>
          <p:cNvPr id="20" name="Picture 19">
            <a:extLst>
              <a:ext uri="{FF2B5EF4-FFF2-40B4-BE49-F238E27FC236}">
                <a16:creationId xmlns:a16="http://schemas.microsoft.com/office/drawing/2014/main" id="{884FE36B-9420-FB2A-D443-630D8A7EFA70}"/>
              </a:ext>
            </a:extLst>
          </p:cNvPr>
          <p:cNvPicPr>
            <a:picLocks noChangeAspect="1"/>
          </p:cNvPicPr>
          <p:nvPr/>
        </p:nvPicPr>
        <p:blipFill>
          <a:blip r:embed="rId3"/>
          <a:stretch>
            <a:fillRect/>
          </a:stretch>
        </p:blipFill>
        <p:spPr>
          <a:xfrm>
            <a:off x="670096" y="5767001"/>
            <a:ext cx="6399572" cy="562002"/>
          </a:xfrm>
          <a:prstGeom prst="rect">
            <a:avLst/>
          </a:prstGeom>
        </p:spPr>
      </p:pic>
      <p:pic>
        <p:nvPicPr>
          <p:cNvPr id="21" name="Picture 20">
            <a:extLst>
              <a:ext uri="{FF2B5EF4-FFF2-40B4-BE49-F238E27FC236}">
                <a16:creationId xmlns:a16="http://schemas.microsoft.com/office/drawing/2014/main" id="{46EDE6A5-0D21-685D-6FB8-2C71CCDDD3D3}"/>
              </a:ext>
            </a:extLst>
          </p:cNvPr>
          <p:cNvPicPr>
            <a:picLocks noChangeAspect="1"/>
          </p:cNvPicPr>
          <p:nvPr/>
        </p:nvPicPr>
        <p:blipFill>
          <a:blip r:embed="rId4"/>
          <a:stretch>
            <a:fillRect/>
          </a:stretch>
        </p:blipFill>
        <p:spPr>
          <a:xfrm>
            <a:off x="6272152" y="5137485"/>
            <a:ext cx="2711190" cy="349831"/>
          </a:xfrm>
          <a:prstGeom prst="rect">
            <a:avLst/>
          </a:prstGeom>
        </p:spPr>
      </p:pic>
      <p:sp>
        <p:nvSpPr>
          <p:cNvPr id="22" name="Arc 21">
            <a:extLst>
              <a:ext uri="{FF2B5EF4-FFF2-40B4-BE49-F238E27FC236}">
                <a16:creationId xmlns:a16="http://schemas.microsoft.com/office/drawing/2014/main" id="{EB3635AF-6DB7-2D14-CDE1-3203CA12CF91}"/>
              </a:ext>
            </a:extLst>
          </p:cNvPr>
          <p:cNvSpPr/>
          <p:nvPr/>
        </p:nvSpPr>
        <p:spPr>
          <a:xfrm rot="5400000" flipH="1" flipV="1">
            <a:off x="5605973" y="5121895"/>
            <a:ext cx="1121684" cy="1502693"/>
          </a:xfrm>
          <a:prstGeom prst="arc">
            <a:avLst/>
          </a:prstGeom>
          <a:ln w="2857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pic>
        <p:nvPicPr>
          <p:cNvPr id="23" name="Picture 22">
            <a:extLst>
              <a:ext uri="{FF2B5EF4-FFF2-40B4-BE49-F238E27FC236}">
                <a16:creationId xmlns:a16="http://schemas.microsoft.com/office/drawing/2014/main" id="{660EF955-6C37-A179-FABA-0B2A5A9C416A}"/>
              </a:ext>
            </a:extLst>
          </p:cNvPr>
          <p:cNvPicPr>
            <a:picLocks noChangeAspect="1"/>
          </p:cNvPicPr>
          <p:nvPr/>
        </p:nvPicPr>
        <p:blipFill>
          <a:blip r:embed="rId5"/>
          <a:stretch>
            <a:fillRect/>
          </a:stretch>
        </p:blipFill>
        <p:spPr>
          <a:xfrm>
            <a:off x="809424" y="4185241"/>
            <a:ext cx="6064056" cy="322153"/>
          </a:xfrm>
          <a:prstGeom prst="rect">
            <a:avLst/>
          </a:prstGeom>
        </p:spPr>
      </p:pic>
      <p:pic>
        <p:nvPicPr>
          <p:cNvPr id="9" name="Picture 8">
            <a:extLst>
              <a:ext uri="{FF2B5EF4-FFF2-40B4-BE49-F238E27FC236}">
                <a16:creationId xmlns:a16="http://schemas.microsoft.com/office/drawing/2014/main" id="{1527CCA4-C1A8-EF5E-6630-A3A7F68E53D2}"/>
              </a:ext>
            </a:extLst>
          </p:cNvPr>
          <p:cNvPicPr>
            <a:picLocks noChangeAspect="1"/>
          </p:cNvPicPr>
          <p:nvPr/>
        </p:nvPicPr>
        <p:blipFill>
          <a:blip r:embed="rId6"/>
          <a:stretch>
            <a:fillRect/>
          </a:stretch>
        </p:blipFill>
        <p:spPr>
          <a:xfrm>
            <a:off x="11020888" y="6412013"/>
            <a:ext cx="1190224" cy="450922"/>
          </a:xfrm>
          <a:prstGeom prst="rect">
            <a:avLst/>
          </a:prstGeom>
        </p:spPr>
      </p:pic>
    </p:spTree>
    <p:extLst>
      <p:ext uri="{BB962C8B-B14F-4D97-AF65-F5344CB8AC3E}">
        <p14:creationId xmlns:p14="http://schemas.microsoft.com/office/powerpoint/2010/main" val="714371311"/>
      </p:ext>
    </p:extLst>
  </p:cSld>
  <p:clrMapOvr>
    <a:masterClrMapping/>
  </p:clrMapOvr>
</p:sld>
</file>

<file path=ppt/theme/theme1.xml><?xml version="1.0" encoding="utf-8"?>
<a:theme xmlns:a="http://schemas.openxmlformats.org/drawingml/2006/main" name="KU Leuven">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KUL1">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U Leuven Sedes">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 Leuven" id="{BC384CAF-57B4-4083-BC3D-22218BF4A46A}" vid="{75672E21-F18C-4958-94B8-19E54344552B}"/>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301c322-c685-4e4b-a32b-7006c41c26c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41328BBC1AF14408F83717758B8127E" ma:contentTypeVersion="15" ma:contentTypeDescription="Create a new document." ma:contentTypeScope="" ma:versionID="ea382eeb651148b32ab719174b018b5f">
  <xsd:schema xmlns:xsd="http://www.w3.org/2001/XMLSchema" xmlns:xs="http://www.w3.org/2001/XMLSchema" xmlns:p="http://schemas.microsoft.com/office/2006/metadata/properties" xmlns:ns3="12bd73fe-4069-4383-aaee-3f2552b606ca" xmlns:ns4="d301c322-c685-4e4b-a32b-7006c41c26c8" targetNamespace="http://schemas.microsoft.com/office/2006/metadata/properties" ma:root="true" ma:fieldsID="c2a5e0406e4ceccfc3329887dbaf593a" ns3:_="" ns4:_="">
    <xsd:import namespace="12bd73fe-4069-4383-aaee-3f2552b606ca"/>
    <xsd:import namespace="d301c322-c685-4e4b-a32b-7006c41c26c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ObjectDetectorVersions" minOccurs="0"/>
                <xsd:element ref="ns4:MediaServiceSystemTags" minOccurs="0"/>
                <xsd:element ref="ns4:MediaServiceOCR" minOccurs="0"/>
                <xsd:element ref="ns4:MediaServiceGenerationTime" minOccurs="0"/>
                <xsd:element ref="ns4:MediaServiceEventHashCode" minOccurs="0"/>
                <xsd:element ref="ns4:_activity" minOccurs="0"/>
                <xsd:element ref="ns4:MediaServiceSearchProperties" minOccurs="0"/>
                <xsd:element ref="ns4:MediaLengthInSecond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bd73fe-4069-4383-aaee-3f2552b606c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301c322-c685-4e4b-a32b-7006c41c26c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F5354E-0B25-497A-93C0-DAAC458FB907}">
  <ds:schemaRefs>
    <ds:schemaRef ds:uri="http://www.w3.org/XML/1998/namespace"/>
    <ds:schemaRef ds:uri="d301c322-c685-4e4b-a32b-7006c41c26c8"/>
    <ds:schemaRef ds:uri="12bd73fe-4069-4383-aaee-3f2552b606ca"/>
    <ds:schemaRef ds:uri="http://purl.org/dc/terms/"/>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2DF3B612-1661-41C7-B786-3371E5B5C2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bd73fe-4069-4383-aaee-3f2552b606ca"/>
    <ds:schemaRef ds:uri="d301c322-c685-4e4b-a32b-7006c41c26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75A247-35CC-456B-B94E-8452F30AD0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KU Leuven</Template>
  <TotalTime>3179</TotalTime>
  <Words>2061</Words>
  <Application>Microsoft Macintosh PowerPoint</Application>
  <PresentationFormat>Widescreen</PresentationFormat>
  <Paragraphs>164</Paragraphs>
  <Slides>26</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26</vt:i4>
      </vt:variant>
    </vt:vector>
  </HeadingPairs>
  <TitlesOfParts>
    <vt:vector size="37" baseType="lpstr">
      <vt:lpstr>Arial</vt:lpstr>
      <vt:lpstr>Calibri</vt:lpstr>
      <vt:lpstr>Cambria</vt:lpstr>
      <vt:lpstr>Cambria Math</vt:lpstr>
      <vt:lpstr>Fengardo Neue</vt:lpstr>
      <vt:lpstr>Helvetica</vt:lpstr>
      <vt:lpstr>New Grotesk</vt:lpstr>
      <vt:lpstr>Times New Roman</vt:lpstr>
      <vt:lpstr>Trebuchet MS</vt:lpstr>
      <vt:lpstr>KU Leuven</vt:lpstr>
      <vt:lpstr>KU Leuven Sedes</vt:lpstr>
      <vt:lpstr>Machine Learning for Heliophysics</vt:lpstr>
      <vt:lpstr>Gaussian Process Regression</vt:lpstr>
      <vt:lpstr>Occam’s razor: Frequentist vs Bayesian statistics</vt:lpstr>
      <vt:lpstr>Gaussian Process regression for Machine Learning</vt:lpstr>
      <vt:lpstr>Standard Linear model with Gaussian probability</vt:lpstr>
      <vt:lpstr>maximum a posteriori (MAP) estimate</vt:lpstr>
      <vt:lpstr>Function space view</vt:lpstr>
      <vt:lpstr>PowerPoint Presentation</vt:lpstr>
      <vt:lpstr>PowerPoint Presentation</vt:lpstr>
      <vt:lpstr>PowerPoint Presentation</vt:lpstr>
      <vt:lpstr>Solar wind and Coronal Mass Ejection (CME) modelling</vt:lpstr>
      <vt:lpstr>VSWMC models (operational (17) and operational soon (5))</vt:lpstr>
      <vt:lpstr>EUHFORIA: European heliospheric forecasting information asset </vt:lpstr>
      <vt:lpstr>WSA and WSA+ models for 0.1 AU solar wind</vt:lpstr>
      <vt:lpstr>Heliospheric Upwind eXtrapolation (HUX) + time</vt:lpstr>
      <vt:lpstr>The cone Coronal Mass Ejection (CME) model</vt:lpstr>
      <vt:lpstr>The NEED for SPEED</vt:lpstr>
      <vt:lpstr>Gaussian Process Regression for CME forecasting</vt:lpstr>
      <vt:lpstr>HUXt pipeline in the exercises</vt:lpstr>
      <vt:lpstr>Hands‑on: Using Gaussian Process Regression in HUXt</vt:lpstr>
      <vt:lpstr>GONG magnetograms</vt:lpstr>
      <vt:lpstr>Prediction with noise-free observations</vt:lpstr>
      <vt:lpstr>Gaussian Identities</vt:lpstr>
      <vt:lpstr>EUHFORIA: Solving magnetohydrodynamics (MHD) equations </vt:lpstr>
      <vt:lpstr>Sample 100s of runs and fitting Gaussian process</vt:lpstr>
      <vt:lpstr>Màtern covariance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Francesco Carella</dc:creator>
  <cp:lastModifiedBy>George Miloshevich</cp:lastModifiedBy>
  <cp:revision>29</cp:revision>
  <dcterms:created xsi:type="dcterms:W3CDTF">2022-11-30T14:47:09Z</dcterms:created>
  <dcterms:modified xsi:type="dcterms:W3CDTF">2026-06-11T13:56:06Z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0x010100041328BBC1AF14408F83717758B8127E</vt:lpwstr>
  </property>
</Properties>
</file>